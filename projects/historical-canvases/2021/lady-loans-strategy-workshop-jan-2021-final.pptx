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11"/>
  </p:notesMasterIdLst>
  <p:sldIdLst>
    <p:sldId id="256" r:id="rId2"/>
    <p:sldId id="261" r:id="rId3"/>
    <p:sldId id="257" r:id="rId4"/>
    <p:sldId id="264" r:id="rId5"/>
    <p:sldId id="260" r:id="rId6"/>
    <p:sldId id="265" r:id="rId7"/>
    <p:sldId id="270" r:id="rId8"/>
    <p:sldId id="263" r:id="rId9"/>
    <p:sldId id="272" r:id="rId10"/>
  </p:sldIdLst>
  <p:sldSz cx="9144000" cy="6858000" type="letter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06CA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486A5EA-5C8C-F244-9F1D-40212B52CF25}" v="30" dt="2021-01-11T22:55:58.67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1984" autoAdjust="0"/>
    <p:restoredTop sz="96278"/>
  </p:normalViewPr>
  <p:slideViewPr>
    <p:cSldViewPr snapToGrid="0">
      <p:cViewPr>
        <p:scale>
          <a:sx n="90" d="100"/>
          <a:sy n="90" d="100"/>
        </p:scale>
        <p:origin x="200" y="1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17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tt Knight" userId="873f54e5-19e6-436b-ba12-20fd1b1ad36f" providerId="ADAL" clId="{5486A5EA-5C8C-F244-9F1D-40212B52CF25}"/>
    <pc:docChg chg="undo redo custSel addSld delSld modSld sldOrd">
      <pc:chgData name="Matt Knight" userId="873f54e5-19e6-436b-ba12-20fd1b1ad36f" providerId="ADAL" clId="{5486A5EA-5C8C-F244-9F1D-40212B52CF25}" dt="2021-01-11T22:56:35.649" v="1449" actId="20577"/>
      <pc:docMkLst>
        <pc:docMk/>
      </pc:docMkLst>
      <pc:sldChg chg="modSp mod">
        <pc:chgData name="Matt Knight" userId="873f54e5-19e6-436b-ba12-20fd1b1ad36f" providerId="ADAL" clId="{5486A5EA-5C8C-F244-9F1D-40212B52CF25}" dt="2021-01-11T22:56:35.649" v="1449" actId="20577"/>
        <pc:sldMkLst>
          <pc:docMk/>
          <pc:sldMk cId="289745451" sldId="261"/>
        </pc:sldMkLst>
        <pc:spChg chg="mod">
          <ac:chgData name="Matt Knight" userId="873f54e5-19e6-436b-ba12-20fd1b1ad36f" providerId="ADAL" clId="{5486A5EA-5C8C-F244-9F1D-40212B52CF25}" dt="2021-01-11T22:56:35.649" v="1449" actId="20577"/>
          <ac:spMkLst>
            <pc:docMk/>
            <pc:sldMk cId="289745451" sldId="261"/>
            <ac:spMk id="3" creationId="{236B509A-3727-1C48-9705-35D9A9900BF6}"/>
          </ac:spMkLst>
        </pc:spChg>
      </pc:sldChg>
      <pc:sldChg chg="ord">
        <pc:chgData name="Matt Knight" userId="873f54e5-19e6-436b-ba12-20fd1b1ad36f" providerId="ADAL" clId="{5486A5EA-5C8C-F244-9F1D-40212B52CF25}" dt="2021-01-11T22:52:44.581" v="1337" actId="20578"/>
        <pc:sldMkLst>
          <pc:docMk/>
          <pc:sldMk cId="3951064580" sldId="263"/>
        </pc:sldMkLst>
      </pc:sldChg>
      <pc:sldChg chg="modSp mod ord">
        <pc:chgData name="Matt Knight" userId="873f54e5-19e6-436b-ba12-20fd1b1ad36f" providerId="ADAL" clId="{5486A5EA-5C8C-F244-9F1D-40212B52CF25}" dt="2021-01-11T22:50:02.420" v="1333" actId="20577"/>
        <pc:sldMkLst>
          <pc:docMk/>
          <pc:sldMk cId="2361315879" sldId="265"/>
        </pc:sldMkLst>
        <pc:spChg chg="mod">
          <ac:chgData name="Matt Knight" userId="873f54e5-19e6-436b-ba12-20fd1b1ad36f" providerId="ADAL" clId="{5486A5EA-5C8C-F244-9F1D-40212B52CF25}" dt="2021-01-11T22:50:02.420" v="1333" actId="20577"/>
          <ac:spMkLst>
            <pc:docMk/>
            <pc:sldMk cId="2361315879" sldId="265"/>
            <ac:spMk id="3" creationId="{8947C219-E126-104C-A958-18E290E46FFA}"/>
          </ac:spMkLst>
        </pc:spChg>
      </pc:sldChg>
      <pc:sldChg chg="modSp add del mod ord">
        <pc:chgData name="Matt Knight" userId="873f54e5-19e6-436b-ba12-20fd1b1ad36f" providerId="ADAL" clId="{5486A5EA-5C8C-F244-9F1D-40212B52CF25}" dt="2021-01-11T22:46:30.783" v="1050" actId="2696"/>
        <pc:sldMkLst>
          <pc:docMk/>
          <pc:sldMk cId="3130011326" sldId="266"/>
        </pc:sldMkLst>
        <pc:spChg chg="mod">
          <ac:chgData name="Matt Knight" userId="873f54e5-19e6-436b-ba12-20fd1b1ad36f" providerId="ADAL" clId="{5486A5EA-5C8C-F244-9F1D-40212B52CF25}" dt="2021-01-11T21:13:27.963" v="121" actId="1076"/>
          <ac:spMkLst>
            <pc:docMk/>
            <pc:sldMk cId="3130011326" sldId="266"/>
            <ac:spMk id="2" creationId="{1FACE535-B5DC-45CE-B560-2DD17FD5C315}"/>
          </ac:spMkLst>
        </pc:spChg>
      </pc:sldChg>
      <pc:sldChg chg="del">
        <pc:chgData name="Matt Knight" userId="873f54e5-19e6-436b-ba12-20fd1b1ad36f" providerId="ADAL" clId="{5486A5EA-5C8C-F244-9F1D-40212B52CF25}" dt="2021-01-11T22:46:55.368" v="1051" actId="2696"/>
        <pc:sldMkLst>
          <pc:docMk/>
          <pc:sldMk cId="2380211952" sldId="267"/>
        </pc:sldMkLst>
      </pc:sldChg>
      <pc:sldChg chg="addSp delSp modSp del mod ord">
        <pc:chgData name="Matt Knight" userId="873f54e5-19e6-436b-ba12-20fd1b1ad36f" providerId="ADAL" clId="{5486A5EA-5C8C-F244-9F1D-40212B52CF25}" dt="2021-01-11T22:43:23.243" v="1008" actId="2696"/>
        <pc:sldMkLst>
          <pc:docMk/>
          <pc:sldMk cId="1596110074" sldId="269"/>
        </pc:sldMkLst>
        <pc:spChg chg="mod">
          <ac:chgData name="Matt Knight" userId="873f54e5-19e6-436b-ba12-20fd1b1ad36f" providerId="ADAL" clId="{5486A5EA-5C8C-F244-9F1D-40212B52CF25}" dt="2021-01-11T21:15:37.244" v="525" actId="20577"/>
          <ac:spMkLst>
            <pc:docMk/>
            <pc:sldMk cId="1596110074" sldId="269"/>
            <ac:spMk id="2" creationId="{1B0D99D1-AAC1-CD48-8D92-5A4687AEE37D}"/>
          </ac:spMkLst>
        </pc:spChg>
        <pc:spChg chg="mod">
          <ac:chgData name="Matt Knight" userId="873f54e5-19e6-436b-ba12-20fd1b1ad36f" providerId="ADAL" clId="{5486A5EA-5C8C-F244-9F1D-40212B52CF25}" dt="2021-01-11T21:39:15.505" v="730" actId="1076"/>
          <ac:spMkLst>
            <pc:docMk/>
            <pc:sldMk cId="1596110074" sldId="269"/>
            <ac:spMk id="5" creationId="{2FF9F6BC-0C04-C844-80A8-F7009D645294}"/>
          </ac:spMkLst>
        </pc:spChg>
        <pc:spChg chg="mod">
          <ac:chgData name="Matt Knight" userId="873f54e5-19e6-436b-ba12-20fd1b1ad36f" providerId="ADAL" clId="{5486A5EA-5C8C-F244-9F1D-40212B52CF25}" dt="2021-01-11T21:39:15.505" v="730" actId="1076"/>
          <ac:spMkLst>
            <pc:docMk/>
            <pc:sldMk cId="1596110074" sldId="269"/>
            <ac:spMk id="30" creationId="{D161B524-37BB-2040-8D57-BBA4517CBD51}"/>
          </ac:spMkLst>
        </pc:spChg>
        <pc:spChg chg="mod">
          <ac:chgData name="Matt Knight" userId="873f54e5-19e6-436b-ba12-20fd1b1ad36f" providerId="ADAL" clId="{5486A5EA-5C8C-F244-9F1D-40212B52CF25}" dt="2021-01-11T21:39:15.505" v="730" actId="1076"/>
          <ac:spMkLst>
            <pc:docMk/>
            <pc:sldMk cId="1596110074" sldId="269"/>
            <ac:spMk id="38" creationId="{24060EAC-DE9E-3447-A5F7-C7D5670050B1}"/>
          </ac:spMkLst>
        </pc:spChg>
        <pc:spChg chg="del">
          <ac:chgData name="Matt Knight" userId="873f54e5-19e6-436b-ba12-20fd1b1ad36f" providerId="ADAL" clId="{5486A5EA-5C8C-F244-9F1D-40212B52CF25}" dt="2021-01-11T21:16:07.261" v="530" actId="478"/>
          <ac:spMkLst>
            <pc:docMk/>
            <pc:sldMk cId="1596110074" sldId="269"/>
            <ac:spMk id="39" creationId="{19F5D9BA-C7E9-9947-9811-429DECD4E2BD}"/>
          </ac:spMkLst>
        </pc:spChg>
        <pc:spChg chg="del">
          <ac:chgData name="Matt Knight" userId="873f54e5-19e6-436b-ba12-20fd1b1ad36f" providerId="ADAL" clId="{5486A5EA-5C8C-F244-9F1D-40212B52CF25}" dt="2021-01-11T21:16:07.261" v="530" actId="478"/>
          <ac:spMkLst>
            <pc:docMk/>
            <pc:sldMk cId="1596110074" sldId="269"/>
            <ac:spMk id="40" creationId="{85B5A2F6-3C44-3848-8441-92D8471313AF}"/>
          </ac:spMkLst>
        </pc:spChg>
        <pc:spChg chg="del">
          <ac:chgData name="Matt Knight" userId="873f54e5-19e6-436b-ba12-20fd1b1ad36f" providerId="ADAL" clId="{5486A5EA-5C8C-F244-9F1D-40212B52CF25}" dt="2021-01-11T21:16:01.738" v="527" actId="478"/>
          <ac:spMkLst>
            <pc:docMk/>
            <pc:sldMk cId="1596110074" sldId="269"/>
            <ac:spMk id="41" creationId="{2D2AD802-546F-D34C-A476-C9D3EB19783D}"/>
          </ac:spMkLst>
        </pc:spChg>
        <pc:spChg chg="mod">
          <ac:chgData name="Matt Knight" userId="873f54e5-19e6-436b-ba12-20fd1b1ad36f" providerId="ADAL" clId="{5486A5EA-5C8C-F244-9F1D-40212B52CF25}" dt="2021-01-11T21:39:15.505" v="730" actId="1076"/>
          <ac:spMkLst>
            <pc:docMk/>
            <pc:sldMk cId="1596110074" sldId="269"/>
            <ac:spMk id="42" creationId="{90ED7D63-7650-5944-9C34-B9E1928C73EA}"/>
          </ac:spMkLst>
        </pc:spChg>
        <pc:spChg chg="del">
          <ac:chgData name="Matt Knight" userId="873f54e5-19e6-436b-ba12-20fd1b1ad36f" providerId="ADAL" clId="{5486A5EA-5C8C-F244-9F1D-40212B52CF25}" dt="2021-01-11T21:16:07.261" v="530" actId="478"/>
          <ac:spMkLst>
            <pc:docMk/>
            <pc:sldMk cId="1596110074" sldId="269"/>
            <ac:spMk id="43" creationId="{2C8C7AD0-7860-B442-8803-C093C23F0A8F}"/>
          </ac:spMkLst>
        </pc:spChg>
        <pc:spChg chg="del">
          <ac:chgData name="Matt Knight" userId="873f54e5-19e6-436b-ba12-20fd1b1ad36f" providerId="ADAL" clId="{5486A5EA-5C8C-F244-9F1D-40212B52CF25}" dt="2021-01-11T21:16:07.261" v="530" actId="478"/>
          <ac:spMkLst>
            <pc:docMk/>
            <pc:sldMk cId="1596110074" sldId="269"/>
            <ac:spMk id="44" creationId="{D2A01FCC-E75A-A14E-BFE8-ED927C9FF424}"/>
          </ac:spMkLst>
        </pc:spChg>
        <pc:spChg chg="add mod">
          <ac:chgData name="Matt Knight" userId="873f54e5-19e6-436b-ba12-20fd1b1ad36f" providerId="ADAL" clId="{5486A5EA-5C8C-F244-9F1D-40212B52CF25}" dt="2021-01-11T21:39:15.505" v="730" actId="1076"/>
          <ac:spMkLst>
            <pc:docMk/>
            <pc:sldMk cId="1596110074" sldId="269"/>
            <ac:spMk id="45" creationId="{5CD72B26-9BD3-6E4D-AB0F-F43EF7971376}"/>
          </ac:spMkLst>
        </pc:spChg>
        <pc:spChg chg="del">
          <ac:chgData name="Matt Knight" userId="873f54e5-19e6-436b-ba12-20fd1b1ad36f" providerId="ADAL" clId="{5486A5EA-5C8C-F244-9F1D-40212B52CF25}" dt="2021-01-11T21:16:07.261" v="530" actId="478"/>
          <ac:spMkLst>
            <pc:docMk/>
            <pc:sldMk cId="1596110074" sldId="269"/>
            <ac:spMk id="46" creationId="{7225B595-830E-7B4E-8B74-F42A6C7A8F3B}"/>
          </ac:spMkLst>
        </pc:spChg>
        <pc:spChg chg="del">
          <ac:chgData name="Matt Knight" userId="873f54e5-19e6-436b-ba12-20fd1b1ad36f" providerId="ADAL" clId="{5486A5EA-5C8C-F244-9F1D-40212B52CF25}" dt="2021-01-11T21:16:07.261" v="530" actId="478"/>
          <ac:spMkLst>
            <pc:docMk/>
            <pc:sldMk cId="1596110074" sldId="269"/>
            <ac:spMk id="47" creationId="{D1E2B405-4343-7445-890A-804C3F238AC1}"/>
          </ac:spMkLst>
        </pc:spChg>
        <pc:spChg chg="del">
          <ac:chgData name="Matt Knight" userId="873f54e5-19e6-436b-ba12-20fd1b1ad36f" providerId="ADAL" clId="{5486A5EA-5C8C-F244-9F1D-40212B52CF25}" dt="2021-01-11T21:16:07.261" v="530" actId="478"/>
          <ac:spMkLst>
            <pc:docMk/>
            <pc:sldMk cId="1596110074" sldId="269"/>
            <ac:spMk id="48" creationId="{8C0D2D94-D4AA-594C-B736-033172EB85C8}"/>
          </ac:spMkLst>
        </pc:spChg>
        <pc:spChg chg="del">
          <ac:chgData name="Matt Knight" userId="873f54e5-19e6-436b-ba12-20fd1b1ad36f" providerId="ADAL" clId="{5486A5EA-5C8C-F244-9F1D-40212B52CF25}" dt="2021-01-11T21:16:02.681" v="528" actId="478"/>
          <ac:spMkLst>
            <pc:docMk/>
            <pc:sldMk cId="1596110074" sldId="269"/>
            <ac:spMk id="49" creationId="{0CD2B893-A5B0-A346-BE11-89FD83AE807E}"/>
          </ac:spMkLst>
        </pc:spChg>
        <pc:spChg chg="del">
          <ac:chgData name="Matt Knight" userId="873f54e5-19e6-436b-ba12-20fd1b1ad36f" providerId="ADAL" clId="{5486A5EA-5C8C-F244-9F1D-40212B52CF25}" dt="2021-01-11T21:16:07.261" v="530" actId="478"/>
          <ac:spMkLst>
            <pc:docMk/>
            <pc:sldMk cId="1596110074" sldId="269"/>
            <ac:spMk id="50" creationId="{5AC26C45-8623-0A4F-A93E-6B7CC85B377F}"/>
          </ac:spMkLst>
        </pc:spChg>
        <pc:spChg chg="del">
          <ac:chgData name="Matt Knight" userId="873f54e5-19e6-436b-ba12-20fd1b1ad36f" providerId="ADAL" clId="{5486A5EA-5C8C-F244-9F1D-40212B52CF25}" dt="2021-01-11T21:16:07.261" v="530" actId="478"/>
          <ac:spMkLst>
            <pc:docMk/>
            <pc:sldMk cId="1596110074" sldId="269"/>
            <ac:spMk id="51" creationId="{F0A9BB66-7DEA-8444-B5C1-204B55F9C9AB}"/>
          </ac:spMkLst>
        </pc:spChg>
        <pc:spChg chg="add mod">
          <ac:chgData name="Matt Knight" userId="873f54e5-19e6-436b-ba12-20fd1b1ad36f" providerId="ADAL" clId="{5486A5EA-5C8C-F244-9F1D-40212B52CF25}" dt="2021-01-11T21:39:15.505" v="730" actId="1076"/>
          <ac:spMkLst>
            <pc:docMk/>
            <pc:sldMk cId="1596110074" sldId="269"/>
            <ac:spMk id="55" creationId="{BE9B588D-B3BA-D24E-BB70-A07E73D2984A}"/>
          </ac:spMkLst>
        </pc:spChg>
        <pc:spChg chg="add mod">
          <ac:chgData name="Matt Knight" userId="873f54e5-19e6-436b-ba12-20fd1b1ad36f" providerId="ADAL" clId="{5486A5EA-5C8C-F244-9F1D-40212B52CF25}" dt="2021-01-11T21:39:15.505" v="730" actId="1076"/>
          <ac:spMkLst>
            <pc:docMk/>
            <pc:sldMk cId="1596110074" sldId="269"/>
            <ac:spMk id="56" creationId="{ED352C49-4800-F941-8B1A-EC9F3146B61D}"/>
          </ac:spMkLst>
        </pc:spChg>
        <pc:spChg chg="del">
          <ac:chgData name="Matt Knight" userId="873f54e5-19e6-436b-ba12-20fd1b1ad36f" providerId="ADAL" clId="{5486A5EA-5C8C-F244-9F1D-40212B52CF25}" dt="2021-01-11T21:14:00.350" v="125" actId="478"/>
          <ac:spMkLst>
            <pc:docMk/>
            <pc:sldMk cId="1596110074" sldId="269"/>
            <ac:spMk id="57" creationId="{AD5061A9-08A1-654B-8087-794583B8B9B8}"/>
          </ac:spMkLst>
        </pc:spChg>
        <pc:spChg chg="mod">
          <ac:chgData name="Matt Knight" userId="873f54e5-19e6-436b-ba12-20fd1b1ad36f" providerId="ADAL" clId="{5486A5EA-5C8C-F244-9F1D-40212B52CF25}" dt="2021-01-11T21:39:16.832" v="731" actId="1076"/>
          <ac:spMkLst>
            <pc:docMk/>
            <pc:sldMk cId="1596110074" sldId="269"/>
            <ac:spMk id="58" creationId="{3CA37382-5519-1843-8AD1-A9CD88B65A2F}"/>
          </ac:spMkLst>
        </pc:spChg>
        <pc:spChg chg="del">
          <ac:chgData name="Matt Knight" userId="873f54e5-19e6-436b-ba12-20fd1b1ad36f" providerId="ADAL" clId="{5486A5EA-5C8C-F244-9F1D-40212B52CF25}" dt="2021-01-11T21:14:00.350" v="125" actId="478"/>
          <ac:spMkLst>
            <pc:docMk/>
            <pc:sldMk cId="1596110074" sldId="269"/>
            <ac:spMk id="59" creationId="{1851DC16-D9C2-2F49-83D0-BDEC5DB9E052}"/>
          </ac:spMkLst>
        </pc:spChg>
        <pc:spChg chg="del">
          <ac:chgData name="Matt Knight" userId="873f54e5-19e6-436b-ba12-20fd1b1ad36f" providerId="ADAL" clId="{5486A5EA-5C8C-F244-9F1D-40212B52CF25}" dt="2021-01-11T21:14:00.350" v="125" actId="478"/>
          <ac:spMkLst>
            <pc:docMk/>
            <pc:sldMk cId="1596110074" sldId="269"/>
            <ac:spMk id="60" creationId="{831E54B5-2479-7B47-A3A4-759A759AE64A}"/>
          </ac:spMkLst>
        </pc:spChg>
        <pc:spChg chg="del">
          <ac:chgData name="Matt Knight" userId="873f54e5-19e6-436b-ba12-20fd1b1ad36f" providerId="ADAL" clId="{5486A5EA-5C8C-F244-9F1D-40212B52CF25}" dt="2021-01-11T21:14:00.350" v="125" actId="478"/>
          <ac:spMkLst>
            <pc:docMk/>
            <pc:sldMk cId="1596110074" sldId="269"/>
            <ac:spMk id="61" creationId="{9E3CE353-467E-FE49-9A3D-6E7941D9A081}"/>
          </ac:spMkLst>
        </pc:spChg>
        <pc:spChg chg="del">
          <ac:chgData name="Matt Knight" userId="873f54e5-19e6-436b-ba12-20fd1b1ad36f" providerId="ADAL" clId="{5486A5EA-5C8C-F244-9F1D-40212B52CF25}" dt="2021-01-11T21:14:00.350" v="125" actId="478"/>
          <ac:spMkLst>
            <pc:docMk/>
            <pc:sldMk cId="1596110074" sldId="269"/>
            <ac:spMk id="62" creationId="{AB1DE356-558D-A14C-8D65-DBA9A4AEEA35}"/>
          </ac:spMkLst>
        </pc:spChg>
        <pc:spChg chg="del">
          <ac:chgData name="Matt Knight" userId="873f54e5-19e6-436b-ba12-20fd1b1ad36f" providerId="ADAL" clId="{5486A5EA-5C8C-F244-9F1D-40212B52CF25}" dt="2021-01-11T21:14:00.350" v="125" actId="478"/>
          <ac:spMkLst>
            <pc:docMk/>
            <pc:sldMk cId="1596110074" sldId="269"/>
            <ac:spMk id="63" creationId="{EAC287C0-B65C-0549-A494-5009CAECCC02}"/>
          </ac:spMkLst>
        </pc:spChg>
        <pc:spChg chg="del">
          <ac:chgData name="Matt Knight" userId="873f54e5-19e6-436b-ba12-20fd1b1ad36f" providerId="ADAL" clId="{5486A5EA-5C8C-F244-9F1D-40212B52CF25}" dt="2021-01-11T21:14:00.350" v="125" actId="478"/>
          <ac:spMkLst>
            <pc:docMk/>
            <pc:sldMk cId="1596110074" sldId="269"/>
            <ac:spMk id="64" creationId="{4FE03D49-EE57-114C-A998-855C0ADFA25B}"/>
          </ac:spMkLst>
        </pc:spChg>
        <pc:spChg chg="del">
          <ac:chgData name="Matt Knight" userId="873f54e5-19e6-436b-ba12-20fd1b1ad36f" providerId="ADAL" clId="{5486A5EA-5C8C-F244-9F1D-40212B52CF25}" dt="2021-01-11T21:14:00.350" v="125" actId="478"/>
          <ac:spMkLst>
            <pc:docMk/>
            <pc:sldMk cId="1596110074" sldId="269"/>
            <ac:spMk id="65" creationId="{D3975F5C-7426-0242-986D-CD396477A13F}"/>
          </ac:spMkLst>
        </pc:spChg>
        <pc:spChg chg="add mod">
          <ac:chgData name="Matt Knight" userId="873f54e5-19e6-436b-ba12-20fd1b1ad36f" providerId="ADAL" clId="{5486A5EA-5C8C-F244-9F1D-40212B52CF25}" dt="2021-01-11T21:39:15.505" v="730" actId="1076"/>
          <ac:spMkLst>
            <pc:docMk/>
            <pc:sldMk cId="1596110074" sldId="269"/>
            <ac:spMk id="66" creationId="{83A4CDF8-F4D5-4A49-A72D-F5BDC16FF952}"/>
          </ac:spMkLst>
        </pc:spChg>
        <pc:spChg chg="del">
          <ac:chgData name="Matt Knight" userId="873f54e5-19e6-436b-ba12-20fd1b1ad36f" providerId="ADAL" clId="{5486A5EA-5C8C-F244-9F1D-40212B52CF25}" dt="2021-01-11T21:14:00.350" v="125" actId="478"/>
          <ac:spMkLst>
            <pc:docMk/>
            <pc:sldMk cId="1596110074" sldId="269"/>
            <ac:spMk id="67" creationId="{C563AB2B-4CB7-F344-9817-8DBF73A04668}"/>
          </ac:spMkLst>
        </pc:spChg>
        <pc:spChg chg="del">
          <ac:chgData name="Matt Knight" userId="873f54e5-19e6-436b-ba12-20fd1b1ad36f" providerId="ADAL" clId="{5486A5EA-5C8C-F244-9F1D-40212B52CF25}" dt="2021-01-11T21:14:00.350" v="125" actId="478"/>
          <ac:spMkLst>
            <pc:docMk/>
            <pc:sldMk cId="1596110074" sldId="269"/>
            <ac:spMk id="68" creationId="{53788D7B-05EA-5642-BCA6-48A4BABB9F05}"/>
          </ac:spMkLst>
        </pc:spChg>
        <pc:spChg chg="del">
          <ac:chgData name="Matt Knight" userId="873f54e5-19e6-436b-ba12-20fd1b1ad36f" providerId="ADAL" clId="{5486A5EA-5C8C-F244-9F1D-40212B52CF25}" dt="2021-01-11T21:14:00.350" v="125" actId="478"/>
          <ac:spMkLst>
            <pc:docMk/>
            <pc:sldMk cId="1596110074" sldId="269"/>
            <ac:spMk id="69" creationId="{0BCFB770-32CE-2644-B795-40A1F9CA0F1F}"/>
          </ac:spMkLst>
        </pc:spChg>
        <pc:spChg chg="del">
          <ac:chgData name="Matt Knight" userId="873f54e5-19e6-436b-ba12-20fd1b1ad36f" providerId="ADAL" clId="{5486A5EA-5C8C-F244-9F1D-40212B52CF25}" dt="2021-01-11T21:14:00.350" v="125" actId="478"/>
          <ac:spMkLst>
            <pc:docMk/>
            <pc:sldMk cId="1596110074" sldId="269"/>
            <ac:spMk id="70" creationId="{C7079CF7-4516-E846-883D-6CA8494B8374}"/>
          </ac:spMkLst>
        </pc:spChg>
        <pc:spChg chg="del">
          <ac:chgData name="Matt Knight" userId="873f54e5-19e6-436b-ba12-20fd1b1ad36f" providerId="ADAL" clId="{5486A5EA-5C8C-F244-9F1D-40212B52CF25}" dt="2021-01-11T21:16:04.168" v="529" actId="478"/>
          <ac:spMkLst>
            <pc:docMk/>
            <pc:sldMk cId="1596110074" sldId="269"/>
            <ac:spMk id="73" creationId="{0749DB40-2317-3C4F-A43D-FD2F01990AA6}"/>
          </ac:spMkLst>
        </pc:spChg>
        <pc:spChg chg="add mod">
          <ac:chgData name="Matt Knight" userId="873f54e5-19e6-436b-ba12-20fd1b1ad36f" providerId="ADAL" clId="{5486A5EA-5C8C-F244-9F1D-40212B52CF25}" dt="2021-01-11T21:39:15.505" v="730" actId="1076"/>
          <ac:spMkLst>
            <pc:docMk/>
            <pc:sldMk cId="1596110074" sldId="269"/>
            <ac:spMk id="76" creationId="{FD286FC7-5BD1-634A-850A-63DB070DAAF6}"/>
          </ac:spMkLst>
        </pc:spChg>
        <pc:spChg chg="add mod">
          <ac:chgData name="Matt Knight" userId="873f54e5-19e6-436b-ba12-20fd1b1ad36f" providerId="ADAL" clId="{5486A5EA-5C8C-F244-9F1D-40212B52CF25}" dt="2021-01-11T22:42:56.738" v="1002" actId="20577"/>
          <ac:spMkLst>
            <pc:docMk/>
            <pc:sldMk cId="1596110074" sldId="269"/>
            <ac:spMk id="77" creationId="{9DC88C1E-6A4A-1545-A573-545AEC67DC8D}"/>
          </ac:spMkLst>
        </pc:spChg>
        <pc:cxnChg chg="mod">
          <ac:chgData name="Matt Knight" userId="873f54e5-19e6-436b-ba12-20fd1b1ad36f" providerId="ADAL" clId="{5486A5EA-5C8C-F244-9F1D-40212B52CF25}" dt="2021-01-11T21:39:15.505" v="730" actId="1076"/>
          <ac:cxnSpMkLst>
            <pc:docMk/>
            <pc:sldMk cId="1596110074" sldId="269"/>
            <ac:cxnSpMk id="31" creationId="{A9152D81-245C-CB4F-A210-BA0375F22C66}"/>
          </ac:cxnSpMkLst>
        </pc:cxnChg>
        <pc:cxnChg chg="mod">
          <ac:chgData name="Matt Knight" userId="873f54e5-19e6-436b-ba12-20fd1b1ad36f" providerId="ADAL" clId="{5486A5EA-5C8C-F244-9F1D-40212B52CF25}" dt="2021-01-11T21:39:15.505" v="730" actId="1076"/>
          <ac:cxnSpMkLst>
            <pc:docMk/>
            <pc:sldMk cId="1596110074" sldId="269"/>
            <ac:cxnSpMk id="32" creationId="{1B601E9D-5900-034A-AAFC-7DB0B04125CA}"/>
          </ac:cxnSpMkLst>
        </pc:cxnChg>
        <pc:cxnChg chg="mod">
          <ac:chgData name="Matt Knight" userId="873f54e5-19e6-436b-ba12-20fd1b1ad36f" providerId="ADAL" clId="{5486A5EA-5C8C-F244-9F1D-40212B52CF25}" dt="2021-01-11T21:39:15.505" v="730" actId="1076"/>
          <ac:cxnSpMkLst>
            <pc:docMk/>
            <pc:sldMk cId="1596110074" sldId="269"/>
            <ac:cxnSpMk id="35" creationId="{8F0B0C14-D551-8D4D-8990-B9AB9419E8B8}"/>
          </ac:cxnSpMkLst>
        </pc:cxnChg>
        <pc:cxnChg chg="mod">
          <ac:chgData name="Matt Knight" userId="873f54e5-19e6-436b-ba12-20fd1b1ad36f" providerId="ADAL" clId="{5486A5EA-5C8C-F244-9F1D-40212B52CF25}" dt="2021-01-11T21:39:15.505" v="730" actId="1076"/>
          <ac:cxnSpMkLst>
            <pc:docMk/>
            <pc:sldMk cId="1596110074" sldId="269"/>
            <ac:cxnSpMk id="52" creationId="{2B0D961B-E0F0-BF42-BAA4-3237DF981079}"/>
          </ac:cxnSpMkLst>
        </pc:cxnChg>
        <pc:cxnChg chg="del">
          <ac:chgData name="Matt Knight" userId="873f54e5-19e6-436b-ba12-20fd1b1ad36f" providerId="ADAL" clId="{5486A5EA-5C8C-F244-9F1D-40212B52CF25}" dt="2021-01-11T21:16:07.261" v="530" actId="478"/>
          <ac:cxnSpMkLst>
            <pc:docMk/>
            <pc:sldMk cId="1596110074" sldId="269"/>
            <ac:cxnSpMk id="53" creationId="{6734BAC8-46B3-1D49-BD27-CE0BCEC04B7F}"/>
          </ac:cxnSpMkLst>
        </pc:cxnChg>
        <pc:cxnChg chg="del">
          <ac:chgData name="Matt Knight" userId="873f54e5-19e6-436b-ba12-20fd1b1ad36f" providerId="ADAL" clId="{5486A5EA-5C8C-F244-9F1D-40212B52CF25}" dt="2021-01-11T21:16:07.261" v="530" actId="478"/>
          <ac:cxnSpMkLst>
            <pc:docMk/>
            <pc:sldMk cId="1596110074" sldId="269"/>
            <ac:cxnSpMk id="54" creationId="{21231F4D-8B3C-274C-8398-FEA3AED6F846}"/>
          </ac:cxnSpMkLst>
        </pc:cxnChg>
        <pc:cxnChg chg="del">
          <ac:chgData name="Matt Knight" userId="873f54e5-19e6-436b-ba12-20fd1b1ad36f" providerId="ADAL" clId="{5486A5EA-5C8C-F244-9F1D-40212B52CF25}" dt="2021-01-11T21:16:07.261" v="530" actId="478"/>
          <ac:cxnSpMkLst>
            <pc:docMk/>
            <pc:sldMk cId="1596110074" sldId="269"/>
            <ac:cxnSpMk id="71" creationId="{4CCCF100-FBAE-154B-87D2-A659032B705F}"/>
          </ac:cxnSpMkLst>
        </pc:cxnChg>
        <pc:cxnChg chg="del">
          <ac:chgData name="Matt Knight" userId="873f54e5-19e6-436b-ba12-20fd1b1ad36f" providerId="ADAL" clId="{5486A5EA-5C8C-F244-9F1D-40212B52CF25}" dt="2021-01-11T21:16:07.261" v="530" actId="478"/>
          <ac:cxnSpMkLst>
            <pc:docMk/>
            <pc:sldMk cId="1596110074" sldId="269"/>
            <ac:cxnSpMk id="72" creationId="{0CF90796-2DDF-754C-B798-FF608E00AD76}"/>
          </ac:cxnSpMkLst>
        </pc:cxnChg>
        <pc:cxnChg chg="del mod">
          <ac:chgData name="Matt Knight" userId="873f54e5-19e6-436b-ba12-20fd1b1ad36f" providerId="ADAL" clId="{5486A5EA-5C8C-F244-9F1D-40212B52CF25}" dt="2021-01-11T21:16:07.261" v="530" actId="478"/>
          <ac:cxnSpMkLst>
            <pc:docMk/>
            <pc:sldMk cId="1596110074" sldId="269"/>
            <ac:cxnSpMk id="74" creationId="{47D84A05-489A-864B-830D-74FF90059DA5}"/>
          </ac:cxnSpMkLst>
        </pc:cxnChg>
        <pc:cxnChg chg="del mod">
          <ac:chgData name="Matt Knight" userId="873f54e5-19e6-436b-ba12-20fd1b1ad36f" providerId="ADAL" clId="{5486A5EA-5C8C-F244-9F1D-40212B52CF25}" dt="2021-01-11T21:15:54.875" v="526" actId="478"/>
          <ac:cxnSpMkLst>
            <pc:docMk/>
            <pc:sldMk cId="1596110074" sldId="269"/>
            <ac:cxnSpMk id="75" creationId="{3B6678E0-A66B-2F43-89F3-BD089B8C5F26}"/>
          </ac:cxnSpMkLst>
        </pc:cxnChg>
      </pc:sldChg>
      <pc:sldChg chg="modSp mod ord">
        <pc:chgData name="Matt Knight" userId="873f54e5-19e6-436b-ba12-20fd1b1ad36f" providerId="ADAL" clId="{5486A5EA-5C8C-F244-9F1D-40212B52CF25}" dt="2021-01-11T22:52:42.995" v="1336" actId="20578"/>
        <pc:sldMkLst>
          <pc:docMk/>
          <pc:sldMk cId="2634105008" sldId="270"/>
        </pc:sldMkLst>
        <pc:spChg chg="mod">
          <ac:chgData name="Matt Knight" userId="873f54e5-19e6-436b-ba12-20fd1b1ad36f" providerId="ADAL" clId="{5486A5EA-5C8C-F244-9F1D-40212B52CF25}" dt="2021-01-11T22:52:37.796" v="1335"/>
          <ac:spMkLst>
            <pc:docMk/>
            <pc:sldMk cId="2634105008" sldId="270"/>
            <ac:spMk id="4" creationId="{61019563-92AC-6549-A7BF-FFFAFB8FEB2B}"/>
          </ac:spMkLst>
        </pc:spChg>
      </pc:sldChg>
      <pc:sldChg chg="addSp delSp modSp add del mod">
        <pc:chgData name="Matt Knight" userId="873f54e5-19e6-436b-ba12-20fd1b1ad36f" providerId="ADAL" clId="{5486A5EA-5C8C-F244-9F1D-40212B52CF25}" dt="2021-01-11T22:46:20.566" v="1047" actId="2696"/>
        <pc:sldMkLst>
          <pc:docMk/>
          <pc:sldMk cId="3976391226" sldId="271"/>
        </pc:sldMkLst>
        <pc:spChg chg="mod">
          <ac:chgData name="Matt Knight" userId="873f54e5-19e6-436b-ba12-20fd1b1ad36f" providerId="ADAL" clId="{5486A5EA-5C8C-F244-9F1D-40212B52CF25}" dt="2021-01-11T22:45:14.554" v="1031"/>
          <ac:spMkLst>
            <pc:docMk/>
            <pc:sldMk cId="3976391226" sldId="271"/>
            <ac:spMk id="2" creationId="{1B0D99D1-AAC1-CD48-8D92-5A4687AEE37D}"/>
          </ac:spMkLst>
        </pc:spChg>
        <pc:spChg chg="add del mod">
          <ac:chgData name="Matt Knight" userId="873f54e5-19e6-436b-ba12-20fd1b1ad36f" providerId="ADAL" clId="{5486A5EA-5C8C-F244-9F1D-40212B52CF25}" dt="2021-01-11T22:45:31.090" v="1038" actId="478"/>
          <ac:spMkLst>
            <pc:docMk/>
            <pc:sldMk cId="3976391226" sldId="271"/>
            <ac:spMk id="3" creationId="{3082901A-9E17-934E-A67F-F8F2116D0C8D}"/>
          </ac:spMkLst>
        </pc:spChg>
        <pc:spChg chg="add del mod">
          <ac:chgData name="Matt Knight" userId="873f54e5-19e6-436b-ba12-20fd1b1ad36f" providerId="ADAL" clId="{5486A5EA-5C8C-F244-9F1D-40212B52CF25}" dt="2021-01-11T22:45:31.090" v="1038" actId="478"/>
          <ac:spMkLst>
            <pc:docMk/>
            <pc:sldMk cId="3976391226" sldId="271"/>
            <ac:spMk id="4" creationId="{6D462EBD-8971-A648-88BD-B76EB06EEEB6}"/>
          </ac:spMkLst>
        </pc:spChg>
        <pc:spChg chg="del">
          <ac:chgData name="Matt Knight" userId="873f54e5-19e6-436b-ba12-20fd1b1ad36f" providerId="ADAL" clId="{5486A5EA-5C8C-F244-9F1D-40212B52CF25}" dt="2021-01-11T22:43:33.841" v="1010" actId="478"/>
          <ac:spMkLst>
            <pc:docMk/>
            <pc:sldMk cId="3976391226" sldId="271"/>
            <ac:spMk id="5" creationId="{2FF9F6BC-0C04-C844-80A8-F7009D645294}"/>
          </ac:spMkLst>
        </pc:spChg>
        <pc:spChg chg="add del mod">
          <ac:chgData name="Matt Knight" userId="873f54e5-19e6-436b-ba12-20fd1b1ad36f" providerId="ADAL" clId="{5486A5EA-5C8C-F244-9F1D-40212B52CF25}" dt="2021-01-11T22:45:28.222" v="1037"/>
          <ac:spMkLst>
            <pc:docMk/>
            <pc:sldMk cId="3976391226" sldId="271"/>
            <ac:spMk id="6" creationId="{2405145F-1123-0341-A751-FB3C4F9C7036}"/>
          </ac:spMkLst>
        </pc:spChg>
        <pc:spChg chg="del">
          <ac:chgData name="Matt Knight" userId="873f54e5-19e6-436b-ba12-20fd1b1ad36f" providerId="ADAL" clId="{5486A5EA-5C8C-F244-9F1D-40212B52CF25}" dt="2021-01-11T22:43:33.841" v="1010" actId="478"/>
          <ac:spMkLst>
            <pc:docMk/>
            <pc:sldMk cId="3976391226" sldId="271"/>
            <ac:spMk id="30" creationId="{D161B524-37BB-2040-8D57-BBA4517CBD51}"/>
          </ac:spMkLst>
        </pc:spChg>
        <pc:spChg chg="add mod">
          <ac:chgData name="Matt Knight" userId="873f54e5-19e6-436b-ba12-20fd1b1ad36f" providerId="ADAL" clId="{5486A5EA-5C8C-F244-9F1D-40212B52CF25}" dt="2021-01-11T22:46:08.006" v="1046" actId="5793"/>
          <ac:spMkLst>
            <pc:docMk/>
            <pc:sldMk cId="3976391226" sldId="271"/>
            <ac:spMk id="36" creationId="{D1804F82-8816-CD40-9DEE-9B244017984B}"/>
          </ac:spMkLst>
        </pc:spChg>
        <pc:spChg chg="del">
          <ac:chgData name="Matt Knight" userId="873f54e5-19e6-436b-ba12-20fd1b1ad36f" providerId="ADAL" clId="{5486A5EA-5C8C-F244-9F1D-40212B52CF25}" dt="2021-01-11T22:43:33.841" v="1010" actId="478"/>
          <ac:spMkLst>
            <pc:docMk/>
            <pc:sldMk cId="3976391226" sldId="271"/>
            <ac:spMk id="38" creationId="{24060EAC-DE9E-3447-A5F7-C7D5670050B1}"/>
          </ac:spMkLst>
        </pc:spChg>
        <pc:spChg chg="del">
          <ac:chgData name="Matt Knight" userId="873f54e5-19e6-436b-ba12-20fd1b1ad36f" providerId="ADAL" clId="{5486A5EA-5C8C-F244-9F1D-40212B52CF25}" dt="2021-01-11T22:43:33.841" v="1010" actId="478"/>
          <ac:spMkLst>
            <pc:docMk/>
            <pc:sldMk cId="3976391226" sldId="271"/>
            <ac:spMk id="39" creationId="{19F5D9BA-C7E9-9947-9811-429DECD4E2BD}"/>
          </ac:spMkLst>
        </pc:spChg>
        <pc:spChg chg="del">
          <ac:chgData name="Matt Knight" userId="873f54e5-19e6-436b-ba12-20fd1b1ad36f" providerId="ADAL" clId="{5486A5EA-5C8C-F244-9F1D-40212B52CF25}" dt="2021-01-11T22:43:33.841" v="1010" actId="478"/>
          <ac:spMkLst>
            <pc:docMk/>
            <pc:sldMk cId="3976391226" sldId="271"/>
            <ac:spMk id="40" creationId="{85B5A2F6-3C44-3848-8441-92D8471313AF}"/>
          </ac:spMkLst>
        </pc:spChg>
        <pc:spChg chg="del">
          <ac:chgData name="Matt Knight" userId="873f54e5-19e6-436b-ba12-20fd1b1ad36f" providerId="ADAL" clId="{5486A5EA-5C8C-F244-9F1D-40212B52CF25}" dt="2021-01-11T22:43:33.841" v="1010" actId="478"/>
          <ac:spMkLst>
            <pc:docMk/>
            <pc:sldMk cId="3976391226" sldId="271"/>
            <ac:spMk id="41" creationId="{2D2AD802-546F-D34C-A476-C9D3EB19783D}"/>
          </ac:spMkLst>
        </pc:spChg>
        <pc:spChg chg="del">
          <ac:chgData name="Matt Knight" userId="873f54e5-19e6-436b-ba12-20fd1b1ad36f" providerId="ADAL" clId="{5486A5EA-5C8C-F244-9F1D-40212B52CF25}" dt="2021-01-11T22:43:33.841" v="1010" actId="478"/>
          <ac:spMkLst>
            <pc:docMk/>
            <pc:sldMk cId="3976391226" sldId="271"/>
            <ac:spMk id="42" creationId="{90ED7D63-7650-5944-9C34-B9E1928C73EA}"/>
          </ac:spMkLst>
        </pc:spChg>
        <pc:spChg chg="del">
          <ac:chgData name="Matt Knight" userId="873f54e5-19e6-436b-ba12-20fd1b1ad36f" providerId="ADAL" clId="{5486A5EA-5C8C-F244-9F1D-40212B52CF25}" dt="2021-01-11T22:43:33.841" v="1010" actId="478"/>
          <ac:spMkLst>
            <pc:docMk/>
            <pc:sldMk cId="3976391226" sldId="271"/>
            <ac:spMk id="43" creationId="{2C8C7AD0-7860-B442-8803-C093C23F0A8F}"/>
          </ac:spMkLst>
        </pc:spChg>
        <pc:spChg chg="del">
          <ac:chgData name="Matt Knight" userId="873f54e5-19e6-436b-ba12-20fd1b1ad36f" providerId="ADAL" clId="{5486A5EA-5C8C-F244-9F1D-40212B52CF25}" dt="2021-01-11T22:43:33.841" v="1010" actId="478"/>
          <ac:spMkLst>
            <pc:docMk/>
            <pc:sldMk cId="3976391226" sldId="271"/>
            <ac:spMk id="44" creationId="{D2A01FCC-E75A-A14E-BFE8-ED927C9FF424}"/>
          </ac:spMkLst>
        </pc:spChg>
        <pc:spChg chg="del">
          <ac:chgData name="Matt Knight" userId="873f54e5-19e6-436b-ba12-20fd1b1ad36f" providerId="ADAL" clId="{5486A5EA-5C8C-F244-9F1D-40212B52CF25}" dt="2021-01-11T22:43:33.841" v="1010" actId="478"/>
          <ac:spMkLst>
            <pc:docMk/>
            <pc:sldMk cId="3976391226" sldId="271"/>
            <ac:spMk id="46" creationId="{7225B595-830E-7B4E-8B74-F42A6C7A8F3B}"/>
          </ac:spMkLst>
        </pc:spChg>
        <pc:spChg chg="del">
          <ac:chgData name="Matt Knight" userId="873f54e5-19e6-436b-ba12-20fd1b1ad36f" providerId="ADAL" clId="{5486A5EA-5C8C-F244-9F1D-40212B52CF25}" dt="2021-01-11T22:43:33.841" v="1010" actId="478"/>
          <ac:spMkLst>
            <pc:docMk/>
            <pc:sldMk cId="3976391226" sldId="271"/>
            <ac:spMk id="47" creationId="{D1E2B405-4343-7445-890A-804C3F238AC1}"/>
          </ac:spMkLst>
        </pc:spChg>
        <pc:spChg chg="del">
          <ac:chgData name="Matt Knight" userId="873f54e5-19e6-436b-ba12-20fd1b1ad36f" providerId="ADAL" clId="{5486A5EA-5C8C-F244-9F1D-40212B52CF25}" dt="2021-01-11T22:43:33.841" v="1010" actId="478"/>
          <ac:spMkLst>
            <pc:docMk/>
            <pc:sldMk cId="3976391226" sldId="271"/>
            <ac:spMk id="48" creationId="{8C0D2D94-D4AA-594C-B736-033172EB85C8}"/>
          </ac:spMkLst>
        </pc:spChg>
        <pc:spChg chg="del">
          <ac:chgData name="Matt Knight" userId="873f54e5-19e6-436b-ba12-20fd1b1ad36f" providerId="ADAL" clId="{5486A5EA-5C8C-F244-9F1D-40212B52CF25}" dt="2021-01-11T22:43:33.841" v="1010" actId="478"/>
          <ac:spMkLst>
            <pc:docMk/>
            <pc:sldMk cId="3976391226" sldId="271"/>
            <ac:spMk id="49" creationId="{0CD2B893-A5B0-A346-BE11-89FD83AE807E}"/>
          </ac:spMkLst>
        </pc:spChg>
        <pc:spChg chg="del">
          <ac:chgData name="Matt Knight" userId="873f54e5-19e6-436b-ba12-20fd1b1ad36f" providerId="ADAL" clId="{5486A5EA-5C8C-F244-9F1D-40212B52CF25}" dt="2021-01-11T22:43:33.841" v="1010" actId="478"/>
          <ac:spMkLst>
            <pc:docMk/>
            <pc:sldMk cId="3976391226" sldId="271"/>
            <ac:spMk id="50" creationId="{5AC26C45-8623-0A4F-A93E-6B7CC85B377F}"/>
          </ac:spMkLst>
        </pc:spChg>
        <pc:spChg chg="del">
          <ac:chgData name="Matt Knight" userId="873f54e5-19e6-436b-ba12-20fd1b1ad36f" providerId="ADAL" clId="{5486A5EA-5C8C-F244-9F1D-40212B52CF25}" dt="2021-01-11T22:43:33.841" v="1010" actId="478"/>
          <ac:spMkLst>
            <pc:docMk/>
            <pc:sldMk cId="3976391226" sldId="271"/>
            <ac:spMk id="51" creationId="{F0A9BB66-7DEA-8444-B5C1-204B55F9C9AB}"/>
          </ac:spMkLst>
        </pc:spChg>
        <pc:spChg chg="del">
          <ac:chgData name="Matt Knight" userId="873f54e5-19e6-436b-ba12-20fd1b1ad36f" providerId="ADAL" clId="{5486A5EA-5C8C-F244-9F1D-40212B52CF25}" dt="2021-01-11T22:43:33.841" v="1010" actId="478"/>
          <ac:spMkLst>
            <pc:docMk/>
            <pc:sldMk cId="3976391226" sldId="271"/>
            <ac:spMk id="58" creationId="{3CA37382-5519-1843-8AD1-A9CD88B65A2F}"/>
          </ac:spMkLst>
        </pc:spChg>
        <pc:spChg chg="del">
          <ac:chgData name="Matt Knight" userId="873f54e5-19e6-436b-ba12-20fd1b1ad36f" providerId="ADAL" clId="{5486A5EA-5C8C-F244-9F1D-40212B52CF25}" dt="2021-01-11T22:43:33.841" v="1010" actId="478"/>
          <ac:spMkLst>
            <pc:docMk/>
            <pc:sldMk cId="3976391226" sldId="271"/>
            <ac:spMk id="73" creationId="{0749DB40-2317-3C4F-A43D-FD2F01990AA6}"/>
          </ac:spMkLst>
        </pc:spChg>
        <pc:spChg chg="del">
          <ac:chgData name="Matt Knight" userId="873f54e5-19e6-436b-ba12-20fd1b1ad36f" providerId="ADAL" clId="{5486A5EA-5C8C-F244-9F1D-40212B52CF25}" dt="2021-01-11T22:43:33.841" v="1010" actId="478"/>
          <ac:spMkLst>
            <pc:docMk/>
            <pc:sldMk cId="3976391226" sldId="271"/>
            <ac:spMk id="110" creationId="{6D43C944-FD22-C540-803A-DD7146E8C4B0}"/>
          </ac:spMkLst>
        </pc:spChg>
        <pc:spChg chg="del">
          <ac:chgData name="Matt Knight" userId="873f54e5-19e6-436b-ba12-20fd1b1ad36f" providerId="ADAL" clId="{5486A5EA-5C8C-F244-9F1D-40212B52CF25}" dt="2021-01-11T22:43:33.841" v="1010" actId="478"/>
          <ac:spMkLst>
            <pc:docMk/>
            <pc:sldMk cId="3976391226" sldId="271"/>
            <ac:spMk id="111" creationId="{43C29E87-972F-824C-B7F5-B6A4FE82D2C6}"/>
          </ac:spMkLst>
        </pc:spChg>
        <pc:cxnChg chg="del mod">
          <ac:chgData name="Matt Knight" userId="873f54e5-19e6-436b-ba12-20fd1b1ad36f" providerId="ADAL" clId="{5486A5EA-5C8C-F244-9F1D-40212B52CF25}" dt="2021-01-11T22:43:33.841" v="1010" actId="478"/>
          <ac:cxnSpMkLst>
            <pc:docMk/>
            <pc:sldMk cId="3976391226" sldId="271"/>
            <ac:cxnSpMk id="31" creationId="{A9152D81-245C-CB4F-A210-BA0375F22C66}"/>
          </ac:cxnSpMkLst>
        </pc:cxnChg>
        <pc:cxnChg chg="del mod">
          <ac:chgData name="Matt Knight" userId="873f54e5-19e6-436b-ba12-20fd1b1ad36f" providerId="ADAL" clId="{5486A5EA-5C8C-F244-9F1D-40212B52CF25}" dt="2021-01-11T22:43:33.841" v="1010" actId="478"/>
          <ac:cxnSpMkLst>
            <pc:docMk/>
            <pc:sldMk cId="3976391226" sldId="271"/>
            <ac:cxnSpMk id="32" creationId="{1B601E9D-5900-034A-AAFC-7DB0B04125CA}"/>
          </ac:cxnSpMkLst>
        </pc:cxnChg>
        <pc:cxnChg chg="del mod">
          <ac:chgData name="Matt Knight" userId="873f54e5-19e6-436b-ba12-20fd1b1ad36f" providerId="ADAL" clId="{5486A5EA-5C8C-F244-9F1D-40212B52CF25}" dt="2021-01-11T22:43:33.841" v="1010" actId="478"/>
          <ac:cxnSpMkLst>
            <pc:docMk/>
            <pc:sldMk cId="3976391226" sldId="271"/>
            <ac:cxnSpMk id="35" creationId="{8F0B0C14-D551-8D4D-8990-B9AB9419E8B8}"/>
          </ac:cxnSpMkLst>
        </pc:cxnChg>
        <pc:cxnChg chg="del">
          <ac:chgData name="Matt Knight" userId="873f54e5-19e6-436b-ba12-20fd1b1ad36f" providerId="ADAL" clId="{5486A5EA-5C8C-F244-9F1D-40212B52CF25}" dt="2021-01-11T22:43:33.841" v="1010" actId="478"/>
          <ac:cxnSpMkLst>
            <pc:docMk/>
            <pc:sldMk cId="3976391226" sldId="271"/>
            <ac:cxnSpMk id="52" creationId="{2B0D961B-E0F0-BF42-BAA4-3237DF981079}"/>
          </ac:cxnSpMkLst>
        </pc:cxnChg>
        <pc:cxnChg chg="del">
          <ac:chgData name="Matt Knight" userId="873f54e5-19e6-436b-ba12-20fd1b1ad36f" providerId="ADAL" clId="{5486A5EA-5C8C-F244-9F1D-40212B52CF25}" dt="2021-01-11T22:43:33.841" v="1010" actId="478"/>
          <ac:cxnSpMkLst>
            <pc:docMk/>
            <pc:sldMk cId="3976391226" sldId="271"/>
            <ac:cxnSpMk id="53" creationId="{6734BAC8-46B3-1D49-BD27-CE0BCEC04B7F}"/>
          </ac:cxnSpMkLst>
        </pc:cxnChg>
        <pc:cxnChg chg="del">
          <ac:chgData name="Matt Knight" userId="873f54e5-19e6-436b-ba12-20fd1b1ad36f" providerId="ADAL" clId="{5486A5EA-5C8C-F244-9F1D-40212B52CF25}" dt="2021-01-11T22:43:33.841" v="1010" actId="478"/>
          <ac:cxnSpMkLst>
            <pc:docMk/>
            <pc:sldMk cId="3976391226" sldId="271"/>
            <ac:cxnSpMk id="54" creationId="{21231F4D-8B3C-274C-8398-FEA3AED6F846}"/>
          </ac:cxnSpMkLst>
        </pc:cxnChg>
        <pc:cxnChg chg="del">
          <ac:chgData name="Matt Knight" userId="873f54e5-19e6-436b-ba12-20fd1b1ad36f" providerId="ADAL" clId="{5486A5EA-5C8C-F244-9F1D-40212B52CF25}" dt="2021-01-11T22:43:33.841" v="1010" actId="478"/>
          <ac:cxnSpMkLst>
            <pc:docMk/>
            <pc:sldMk cId="3976391226" sldId="271"/>
            <ac:cxnSpMk id="71" creationId="{4CCCF100-FBAE-154B-87D2-A659032B705F}"/>
          </ac:cxnSpMkLst>
        </pc:cxnChg>
        <pc:cxnChg chg="del">
          <ac:chgData name="Matt Knight" userId="873f54e5-19e6-436b-ba12-20fd1b1ad36f" providerId="ADAL" clId="{5486A5EA-5C8C-F244-9F1D-40212B52CF25}" dt="2021-01-11T22:43:33.841" v="1010" actId="478"/>
          <ac:cxnSpMkLst>
            <pc:docMk/>
            <pc:sldMk cId="3976391226" sldId="271"/>
            <ac:cxnSpMk id="72" creationId="{0CF90796-2DDF-754C-B798-FF608E00AD76}"/>
          </ac:cxnSpMkLst>
        </pc:cxnChg>
        <pc:cxnChg chg="del mod">
          <ac:chgData name="Matt Knight" userId="873f54e5-19e6-436b-ba12-20fd1b1ad36f" providerId="ADAL" clId="{5486A5EA-5C8C-F244-9F1D-40212B52CF25}" dt="2021-01-11T22:43:33.841" v="1010" actId="478"/>
          <ac:cxnSpMkLst>
            <pc:docMk/>
            <pc:sldMk cId="3976391226" sldId="271"/>
            <ac:cxnSpMk id="74" creationId="{47D84A05-489A-864B-830D-74FF90059DA5}"/>
          </ac:cxnSpMkLst>
        </pc:cxnChg>
        <pc:cxnChg chg="del mod">
          <ac:chgData name="Matt Knight" userId="873f54e5-19e6-436b-ba12-20fd1b1ad36f" providerId="ADAL" clId="{5486A5EA-5C8C-F244-9F1D-40212B52CF25}" dt="2021-01-11T22:43:33.841" v="1010" actId="478"/>
          <ac:cxnSpMkLst>
            <pc:docMk/>
            <pc:sldMk cId="3976391226" sldId="271"/>
            <ac:cxnSpMk id="75" creationId="{3B6678E0-A66B-2F43-89F3-BD089B8C5F26}"/>
          </ac:cxnSpMkLst>
        </pc:cxnChg>
      </pc:sldChg>
      <pc:sldChg chg="addSp delSp modSp add del mod">
        <pc:chgData name="Matt Knight" userId="873f54e5-19e6-436b-ba12-20fd1b1ad36f" providerId="ADAL" clId="{5486A5EA-5C8C-F244-9F1D-40212B52CF25}" dt="2021-01-11T22:53:27.150" v="1437" actId="20577"/>
        <pc:sldMkLst>
          <pc:docMk/>
          <pc:sldMk cId="4074785339" sldId="272"/>
        </pc:sldMkLst>
        <pc:spChg chg="del">
          <ac:chgData name="Matt Knight" userId="873f54e5-19e6-436b-ba12-20fd1b1ad36f" providerId="ADAL" clId="{5486A5EA-5C8C-F244-9F1D-40212B52CF25}" dt="2021-01-11T22:47:32.132" v="1056" actId="478"/>
          <ac:spMkLst>
            <pc:docMk/>
            <pc:sldMk cId="4074785339" sldId="272"/>
            <ac:spMk id="2" creationId="{1B0D99D1-AAC1-CD48-8D92-5A4687AEE37D}"/>
          </ac:spMkLst>
        </pc:spChg>
        <pc:spChg chg="add del mod">
          <ac:chgData name="Matt Knight" userId="873f54e5-19e6-436b-ba12-20fd1b1ad36f" providerId="ADAL" clId="{5486A5EA-5C8C-F244-9F1D-40212B52CF25}" dt="2021-01-11T22:47:34.954" v="1058" actId="478"/>
          <ac:spMkLst>
            <pc:docMk/>
            <pc:sldMk cId="4074785339" sldId="272"/>
            <ac:spMk id="4" creationId="{B598E4D8-7BCA-D044-9118-E8CE37C63F00}"/>
          </ac:spMkLst>
        </pc:spChg>
        <pc:spChg chg="add mod">
          <ac:chgData name="Matt Knight" userId="873f54e5-19e6-436b-ba12-20fd1b1ad36f" providerId="ADAL" clId="{5486A5EA-5C8C-F244-9F1D-40212B52CF25}" dt="2021-01-11T22:53:27.150" v="1437" actId="20577"/>
          <ac:spMkLst>
            <pc:docMk/>
            <pc:sldMk cId="4074785339" sldId="272"/>
            <ac:spMk id="34" creationId="{7C29CB92-CCD1-6D4D-B588-CC63998A1291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3AC46F-655C-194A-B8E1-89DE38D3510B}" type="datetimeFigureOut">
              <a:rPr lang="en-US" smtClean="0"/>
              <a:t>1/11/21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7503464-1874-2748-8126-C521FA5716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72176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</a:t>
            </a:r>
          </a:p>
          <a:p>
            <a:endParaRPr lang="en-US" dirty="0"/>
          </a:p>
          <a:p>
            <a:pPr marL="171450" indent="-171450">
              <a:buFontTx/>
              <a:buChar char="-"/>
            </a:pPr>
            <a:r>
              <a:rPr lang="en-US" dirty="0"/>
              <a:t>Rise-up program is the same as the Village but rebranded for Lady Loans</a:t>
            </a:r>
          </a:p>
          <a:p>
            <a:pPr marL="171450" indent="-171450">
              <a:buFontTx/>
              <a:buChar char="-"/>
            </a:pPr>
            <a:r>
              <a:rPr lang="en-US" dirty="0"/>
              <a:t>Average Leading Lady is making $80 per Sisterhood – some have multiple</a:t>
            </a:r>
          </a:p>
          <a:p>
            <a:pPr marL="171450" indent="-171450">
              <a:buFontTx/>
              <a:buChar char="-"/>
            </a:pPr>
            <a:r>
              <a:rPr lang="en-US" dirty="0"/>
              <a:t>Mayor/Deputy/Assistant paid salary and commission. Starting from $55K</a:t>
            </a:r>
          </a:p>
          <a:p>
            <a:pPr marL="171450" indent="-171450">
              <a:buFontTx/>
              <a:buChar char="-"/>
            </a:pPr>
            <a:r>
              <a:rPr lang="en-US" dirty="0"/>
              <a:t>When loan paid out participation in the Sisterhood remains (and is encouraged) – none have left to date  </a:t>
            </a:r>
          </a:p>
          <a:p>
            <a:pPr marL="171450" indent="-171450">
              <a:buFontTx/>
              <a:buChar char="-"/>
            </a:pPr>
            <a:r>
              <a:rPr lang="en-US" dirty="0"/>
              <a:t>Defaults are first addressed at the Sisterhood level to see if they can resolve/provide support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503464-1874-2748-8126-C521FA571679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325657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503464-1874-2748-8126-C521FA571679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436450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503464-1874-2748-8126-C521FA571679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296381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C764DE79-268F-4C1A-8933-263129D2AF90}" type="datetimeFigureOut">
              <a:rPr lang="en-US" dirty="0"/>
              <a:t>1/11/21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792321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C764DE79-268F-4C1A-8933-263129D2AF90}" type="datetimeFigureOut">
              <a:rPr lang="en-US" dirty="0"/>
              <a:t>1/11/21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419450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C764DE79-268F-4C1A-8933-263129D2AF90}" type="datetimeFigureOut">
              <a:rPr lang="en-US" dirty="0"/>
              <a:t>1/11/21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806430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C764DE79-268F-4C1A-8933-263129D2AF90}" type="datetimeFigureOut">
              <a:rPr lang="en-US" dirty="0"/>
              <a:t>1/11/21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092285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C764DE79-268F-4C1A-8933-263129D2AF90}" type="datetimeFigureOut">
              <a:rPr lang="en-US" dirty="0"/>
              <a:t>1/11/21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474061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C764DE79-268F-4C1A-8933-263129D2AF90}" type="datetimeFigureOut">
              <a:rPr lang="en-US" dirty="0"/>
              <a:t>1/11/21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629979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C764DE79-268F-4C1A-8933-263129D2AF90}" type="datetimeFigureOut">
              <a:rPr lang="en-US" dirty="0"/>
              <a:t>1/11/21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857302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C764DE79-268F-4C1A-8933-263129D2AF90}" type="datetimeFigureOut">
              <a:rPr lang="en-US" dirty="0"/>
              <a:t>1/11/21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60474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C764DE79-268F-4C1A-8933-263129D2AF90}" type="datetimeFigureOut">
              <a:rPr lang="en-US" dirty="0"/>
              <a:t>1/11/21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14612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C764DE79-268F-4C1A-8933-263129D2AF90}" type="datetimeFigureOut">
              <a:rPr lang="en-US" dirty="0"/>
              <a:t>1/11/21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89170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C764DE79-268F-4C1A-8933-263129D2AF90}" type="datetimeFigureOut">
              <a:rPr lang="en-US" dirty="0"/>
              <a:t>1/11/21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4610635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dirty="0"/>
              <a:t>1/11/21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285949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tiff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862139"/>
            <a:ext cx="6858000" cy="1655762"/>
          </a:xfrm>
        </p:spPr>
        <p:txBody>
          <a:bodyPr vert="horz" lIns="91440" tIns="45720" rIns="91440" bIns="45720" rtlCol="0" anchor="t">
            <a:normAutofit/>
          </a:bodyPr>
          <a:lstStyle/>
          <a:p>
            <a:br>
              <a:rPr lang="en-US" b="1" dirty="0">
                <a:solidFill>
                  <a:srgbClr val="E06CA0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dirty="0">
                <a:solidFill>
                  <a:srgbClr val="E06CA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Strategy &amp; Execution Plan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Jan 13, 2021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79BCF07-1E48-C847-9DE7-E7BE445165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3012" y="1340099"/>
            <a:ext cx="5197976" cy="20039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F748CF-F6F1-9045-A0CF-CD4D0897F3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E06CA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6B509A-3727-1C48-9705-35D9A9900B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b="1" dirty="0"/>
              <a:t>Lady Loans Overview &amp; Plan (Diana – 30 min)</a:t>
            </a:r>
            <a:endParaRPr lang="en-US" sz="4000" dirty="0"/>
          </a:p>
          <a:p>
            <a:pPr lvl="1"/>
            <a:r>
              <a:rPr lang="en-US" dirty="0"/>
              <a:t>Business Canvas</a:t>
            </a:r>
            <a:endParaRPr lang="en-US" sz="3600" dirty="0"/>
          </a:p>
          <a:p>
            <a:pPr lvl="1"/>
            <a:r>
              <a:rPr lang="en-US" dirty="0"/>
              <a:t>Loan Process Overview</a:t>
            </a:r>
            <a:endParaRPr lang="en-US" sz="3600" dirty="0"/>
          </a:p>
          <a:p>
            <a:pPr lvl="1"/>
            <a:r>
              <a:rPr lang="en-US" dirty="0"/>
              <a:t>3 Year Plan &amp; Quarterly Rocks</a:t>
            </a:r>
            <a:endParaRPr lang="en-US" sz="4000" dirty="0"/>
          </a:p>
          <a:p>
            <a:pPr lvl="0"/>
            <a:r>
              <a:rPr lang="en-US" b="1" dirty="0"/>
              <a:t>Key Questions &amp; Discussion (Matt - 60 minutes)</a:t>
            </a:r>
            <a:endParaRPr lang="en-US" sz="4000" dirty="0"/>
          </a:p>
          <a:p>
            <a:pPr lvl="1"/>
            <a:r>
              <a:rPr lang="en-US" dirty="0"/>
              <a:t>Profit vs. Purpose</a:t>
            </a:r>
            <a:endParaRPr lang="en-US" sz="3600" dirty="0"/>
          </a:p>
          <a:p>
            <a:pPr lvl="1"/>
            <a:r>
              <a:rPr lang="en-US" dirty="0"/>
              <a:t>Capital Raise timelines </a:t>
            </a:r>
            <a:endParaRPr lang="en-US" sz="3600" dirty="0"/>
          </a:p>
          <a:p>
            <a:pPr lvl="1"/>
            <a:r>
              <a:rPr lang="en-US" dirty="0"/>
              <a:t>Next steps to get to a capital raise</a:t>
            </a:r>
            <a:endParaRPr lang="en-US" sz="3600" dirty="0"/>
          </a:p>
          <a:p>
            <a:pPr marL="0" indent="0">
              <a:buNone/>
            </a:pP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BCEE73F-03A7-D847-A148-573856ECF0E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14526" y="6316243"/>
            <a:ext cx="1084817" cy="3532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7454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07B91AF4-C425-430F-BF8B-E1BA177D2A6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67175225"/>
              </p:ext>
            </p:extLst>
          </p:nvPr>
        </p:nvGraphicFramePr>
        <p:xfrm>
          <a:off x="402819" y="725074"/>
          <a:ext cx="8400251" cy="5913120"/>
        </p:xfrm>
        <a:graphic>
          <a:graphicData uri="http://schemas.openxmlformats.org/drawingml/2006/table">
            <a:tbl>
              <a:tblPr bandRow="1">
                <a:tableStyleId>{BC89EF96-8CEA-46FF-86C4-4CE0E7609802}</a:tableStyleId>
              </a:tblPr>
              <a:tblGrid>
                <a:gridCol w="1631418">
                  <a:extLst>
                    <a:ext uri="{9D8B030D-6E8A-4147-A177-3AD203B41FA5}">
                      <a16:colId xmlns:a16="http://schemas.microsoft.com/office/drawing/2014/main" val="1160686366"/>
                    </a:ext>
                  </a:extLst>
                </a:gridCol>
                <a:gridCol w="1682014">
                  <a:extLst>
                    <a:ext uri="{9D8B030D-6E8A-4147-A177-3AD203B41FA5}">
                      <a16:colId xmlns:a16="http://schemas.microsoft.com/office/drawing/2014/main" val="3833043049"/>
                    </a:ext>
                  </a:extLst>
                </a:gridCol>
                <a:gridCol w="886695">
                  <a:extLst>
                    <a:ext uri="{9D8B030D-6E8A-4147-A177-3AD203B41FA5}">
                      <a16:colId xmlns:a16="http://schemas.microsoft.com/office/drawing/2014/main" val="857039900"/>
                    </a:ext>
                  </a:extLst>
                </a:gridCol>
                <a:gridCol w="926482">
                  <a:extLst>
                    <a:ext uri="{9D8B030D-6E8A-4147-A177-3AD203B41FA5}">
                      <a16:colId xmlns:a16="http://schemas.microsoft.com/office/drawing/2014/main" val="3859777952"/>
                    </a:ext>
                  </a:extLst>
                </a:gridCol>
                <a:gridCol w="1792546">
                  <a:extLst>
                    <a:ext uri="{9D8B030D-6E8A-4147-A177-3AD203B41FA5}">
                      <a16:colId xmlns:a16="http://schemas.microsoft.com/office/drawing/2014/main" val="1911413455"/>
                    </a:ext>
                  </a:extLst>
                </a:gridCol>
                <a:gridCol w="1481096">
                  <a:extLst>
                    <a:ext uri="{9D8B030D-6E8A-4147-A177-3AD203B41FA5}">
                      <a16:colId xmlns:a16="http://schemas.microsoft.com/office/drawing/2014/main" val="3393670871"/>
                    </a:ext>
                  </a:extLst>
                </a:gridCol>
              </a:tblGrid>
              <a:tr h="1533232">
                <a:tc rowSpan="2">
                  <a:txBody>
                    <a:bodyPr/>
                    <a:lstStyle/>
                    <a:p>
                      <a:r>
                        <a:rPr lang="en-US" sz="1000" b="1" u="sng" dirty="0">
                          <a:latin typeface="Arial"/>
                        </a:rPr>
                        <a:t>Problem</a:t>
                      </a:r>
                    </a:p>
                    <a:p>
                      <a:pPr lvl="0">
                        <a:buNone/>
                      </a:pPr>
                      <a:endParaRPr lang="en-US" sz="1000" b="1" dirty="0">
                        <a:latin typeface="Arial"/>
                      </a:endParaRPr>
                    </a:p>
                    <a:p>
                      <a:pPr marL="171450" lvl="0" indent="-171450">
                        <a:buFont typeface="Arial"/>
                        <a:buChar char="•"/>
                      </a:pPr>
                      <a:r>
                        <a:rPr lang="en-US" sz="1000" b="0" dirty="0">
                          <a:latin typeface="Arial"/>
                        </a:rPr>
                        <a:t>1B Women left out </a:t>
                      </a:r>
                    </a:p>
                    <a:p>
                      <a:pPr marL="171450" lvl="0" indent="-171450">
                        <a:buFont typeface="Arial"/>
                        <a:buChar char="•"/>
                      </a:pPr>
                      <a:endParaRPr lang="en-US" sz="1000" b="0" dirty="0">
                        <a:latin typeface="Arial"/>
                      </a:endParaRPr>
                    </a:p>
                    <a:p>
                      <a:pPr marL="171450" lvl="0" indent="-171450">
                        <a:buFont typeface="Arial"/>
                        <a:buChar char="•"/>
                      </a:pPr>
                      <a:r>
                        <a:rPr lang="en-US" sz="1000" b="0" dirty="0">
                          <a:latin typeface="Arial"/>
                        </a:rPr>
                        <a:t>15mm US, 5mm Canada left behind 48% women</a:t>
                      </a:r>
                    </a:p>
                    <a:p>
                      <a:pPr marL="171450" lvl="0" indent="-171450">
                        <a:buFont typeface="Arial"/>
                        <a:buChar char="•"/>
                      </a:pPr>
                      <a:endParaRPr lang="en-US" sz="1000" b="0" dirty="0">
                        <a:latin typeface="Arial"/>
                      </a:endParaRPr>
                    </a:p>
                    <a:p>
                      <a:pPr marL="171450" lvl="0" indent="-171450">
                        <a:buFont typeface="Arial"/>
                        <a:buChar char="•"/>
                      </a:pPr>
                      <a:r>
                        <a:rPr lang="en-US" sz="1000" b="0" dirty="0">
                          <a:latin typeface="Arial"/>
                        </a:rPr>
                        <a:t>Women have different financial &amp; lending needs (wage gap, life expectancy, lifetime earnings curve) </a:t>
                      </a:r>
                    </a:p>
                    <a:p>
                      <a:pPr marL="171450" lvl="0" indent="-171450">
                        <a:buFont typeface="Arial"/>
                        <a:buChar char="•"/>
                      </a:pPr>
                      <a:endParaRPr lang="en-US" sz="1000" b="0" dirty="0">
                        <a:latin typeface="Arial"/>
                      </a:endParaRPr>
                    </a:p>
                    <a:p>
                      <a:pPr marL="171450" lvl="0" indent="-171450">
                        <a:buFont typeface="Arial"/>
                        <a:buChar char="•"/>
                      </a:pPr>
                      <a:r>
                        <a:rPr lang="en-US" sz="1000" b="0" dirty="0">
                          <a:latin typeface="Arial"/>
                        </a:rPr>
                        <a:t>Financial Literacy and Mental Health </a:t>
                      </a:r>
                    </a:p>
                  </a:txBody>
                  <a:tcPr>
                    <a:lnL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b="1" u="sng" dirty="0">
                          <a:latin typeface="Arial"/>
                        </a:rPr>
                        <a:t>Solution</a:t>
                      </a:r>
                    </a:p>
                    <a:p>
                      <a:pPr lvl="0">
                        <a:buNone/>
                      </a:pPr>
                      <a:endParaRPr lang="en-US" sz="1000" dirty="0">
                        <a:latin typeface="Arial"/>
                      </a:endParaRPr>
                    </a:p>
                    <a:p>
                      <a:pPr marL="171450" lvl="0" indent="-171450">
                        <a:buFont typeface="Arial"/>
                        <a:buChar char="•"/>
                      </a:pPr>
                      <a:r>
                        <a:rPr lang="en-US" sz="1000" dirty="0">
                          <a:latin typeface="Arial"/>
                        </a:rPr>
                        <a:t>In home or virtual </a:t>
                      </a:r>
                    </a:p>
                    <a:p>
                      <a:pPr marL="171450" lvl="0" indent="-171450">
                        <a:buFont typeface="Arial"/>
                        <a:buChar char="•"/>
                      </a:pPr>
                      <a:r>
                        <a:rPr lang="en-US" sz="1000" dirty="0">
                          <a:latin typeface="Arial"/>
                        </a:rPr>
                        <a:t>Loans of $500 to $7,500</a:t>
                      </a:r>
                      <a:endParaRPr lang="en-US" dirty="0"/>
                    </a:p>
                    <a:p>
                      <a:pPr marL="171450" lvl="0" indent="-171450">
                        <a:buFont typeface="Arial"/>
                        <a:buChar char="•"/>
                      </a:pPr>
                      <a:r>
                        <a:rPr lang="en-US" sz="1000" dirty="0">
                          <a:latin typeface="Arial"/>
                        </a:rPr>
                        <a:t>Sisterhood Peer Support</a:t>
                      </a:r>
                    </a:p>
                    <a:p>
                      <a:pPr marL="171450" lvl="0" indent="-171450">
                        <a:buFont typeface="Arial"/>
                        <a:buChar char="•"/>
                      </a:pPr>
                      <a:r>
                        <a:rPr lang="en-US" sz="1000" dirty="0">
                          <a:latin typeface="Arial"/>
                        </a:rPr>
                        <a:t>Village Support and Resources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 gridSpan="2">
                  <a:txBody>
                    <a:bodyPr/>
                    <a:lstStyle/>
                    <a:p>
                      <a:r>
                        <a:rPr lang="en-US" sz="1000" b="1" u="sng" dirty="0">
                          <a:latin typeface="Arial"/>
                        </a:rPr>
                        <a:t>Value Proposition</a:t>
                      </a:r>
                    </a:p>
                    <a:p>
                      <a:pPr lvl="0">
                        <a:buNone/>
                      </a:pPr>
                      <a:endParaRPr lang="en-US" sz="1000" dirty="0">
                        <a:latin typeface="Arial"/>
                      </a:endParaRPr>
                    </a:p>
                    <a:p>
                      <a:pPr marL="171450" lvl="0" indent="-171450">
                        <a:buFont typeface="Arial"/>
                        <a:buChar char="•"/>
                      </a:pPr>
                      <a:r>
                        <a:rPr lang="en-US" sz="1000" dirty="0">
                          <a:latin typeface="Arial"/>
                        </a:rPr>
                        <a:t>Loans based on relationships and budgets not FICO score</a:t>
                      </a:r>
                    </a:p>
                    <a:p>
                      <a:pPr marL="171450" lvl="0" indent="-171450">
                        <a:buFont typeface="Arial"/>
                        <a:buChar char="•"/>
                      </a:pPr>
                      <a:endParaRPr lang="en-US" sz="1000" dirty="0">
                        <a:latin typeface="Arial"/>
                      </a:endParaRP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/>
                        <a:buChar char="•"/>
                        <a:tabLst/>
                        <a:defRPr/>
                      </a:pPr>
                      <a:r>
                        <a:rPr lang="en-US" sz="1000" dirty="0">
                          <a:latin typeface="Arial"/>
                        </a:rPr>
                        <a:t>Village support and resources (Lifeworks, M Care, Hand-ups, Blue Cross, Income Tax, etc.) </a:t>
                      </a: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/>
                        <a:buChar char="•"/>
                        <a:tabLst/>
                        <a:defRPr/>
                      </a:pPr>
                      <a:endParaRPr lang="en-US" sz="1000" dirty="0">
                        <a:latin typeface="Arial"/>
                      </a:endParaRPr>
                    </a:p>
                    <a:p>
                      <a:pPr marL="171450" lvl="0" indent="-171450">
                        <a:buFont typeface="Arial"/>
                        <a:buChar char="•"/>
                      </a:pPr>
                      <a:r>
                        <a:rPr lang="en-US" sz="1000" dirty="0">
                          <a:latin typeface="Arial"/>
                        </a:rPr>
                        <a:t>In home or virtual loans for ladies by ladies</a:t>
                      </a:r>
                    </a:p>
                    <a:p>
                      <a:pPr marL="171450" lvl="0" indent="-171450">
                        <a:buFont typeface="Arial"/>
                        <a:buChar char="•"/>
                      </a:pPr>
                      <a:endParaRPr lang="en-US" sz="1000" dirty="0">
                        <a:latin typeface="Arial"/>
                      </a:endParaRPr>
                    </a:p>
                    <a:p>
                      <a:pPr marL="171450" lvl="0" indent="-171450">
                        <a:buFont typeface="Arial"/>
                        <a:buChar char="•"/>
                      </a:pPr>
                      <a:r>
                        <a:rPr lang="en-US" sz="1000" dirty="0">
                          <a:latin typeface="Arial"/>
                        </a:rPr>
                        <a:t>Constant communication and support from peers &amp; leading lady mentors</a:t>
                      </a:r>
                    </a:p>
                    <a:p>
                      <a:pPr marL="171450" lvl="0" indent="-171450">
                        <a:buFont typeface="Arial"/>
                        <a:buChar char="•"/>
                      </a:pPr>
                      <a:endParaRPr lang="en-US" sz="1000" dirty="0">
                        <a:latin typeface="Arial"/>
                      </a:endParaRPr>
                    </a:p>
                    <a:p>
                      <a:pPr marL="171450" lvl="0" indent="-171450">
                        <a:buFont typeface="Arial"/>
                        <a:buChar char="•"/>
                      </a:pPr>
                      <a:r>
                        <a:rPr lang="en-US" sz="1000" dirty="0">
                          <a:latin typeface="Arial"/>
                        </a:rPr>
                        <a:t>1% of revenue to support social cause</a:t>
                      </a:r>
                    </a:p>
                    <a:p>
                      <a:pPr marL="171450" lvl="0" indent="-171450">
                        <a:buFont typeface="Arial"/>
                        <a:buChar char="•"/>
                      </a:pPr>
                      <a:endParaRPr lang="en-US" sz="1000" dirty="0">
                        <a:latin typeface="Arial"/>
                      </a:endParaRPr>
                    </a:p>
                  </a:txBody>
                  <a:tcPr>
                    <a:lnL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b="1" u="sng" dirty="0">
                          <a:latin typeface="Arial"/>
                        </a:rPr>
                        <a:t>Unfair Advantage</a:t>
                      </a:r>
                    </a:p>
                    <a:p>
                      <a:pPr lvl="0">
                        <a:buNone/>
                      </a:pPr>
                      <a:endParaRPr lang="en-US" sz="1000" dirty="0">
                        <a:latin typeface="Arial"/>
                      </a:endParaRPr>
                    </a:p>
                    <a:p>
                      <a:pPr marL="171450" lvl="0" indent="-171450">
                        <a:buFont typeface="Arial"/>
                        <a:buChar char="•"/>
                      </a:pPr>
                      <a:r>
                        <a:rPr lang="en-US" sz="1000" dirty="0">
                          <a:latin typeface="Arial"/>
                        </a:rPr>
                        <a:t>Support from </a:t>
                      </a:r>
                      <a:r>
                        <a:rPr lang="en-US" sz="1000" dirty="0" err="1">
                          <a:latin typeface="Arial"/>
                        </a:rPr>
                        <a:t>Cashco</a:t>
                      </a:r>
                    </a:p>
                    <a:p>
                      <a:pPr marL="171450" lvl="0" indent="-171450">
                        <a:buFont typeface="Arial"/>
                        <a:buChar char="•"/>
                      </a:pPr>
                      <a:r>
                        <a:rPr lang="en-US" sz="1000" dirty="0">
                          <a:latin typeface="Arial"/>
                        </a:rPr>
                        <a:t>Team with industry and lived experience </a:t>
                      </a:r>
                    </a:p>
                    <a:p>
                      <a:pPr marL="171450" lvl="0" indent="-171450">
                        <a:buFont typeface="Arial"/>
                        <a:buChar char="•"/>
                      </a:pPr>
                      <a:r>
                        <a:rPr lang="en-US" sz="1000" dirty="0">
                          <a:latin typeface="Arial"/>
                        </a:rPr>
                        <a:t>Social Good – "Hand up help"</a:t>
                      </a:r>
                    </a:p>
                  </a:txBody>
                  <a:tcPr>
                    <a:lnL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000" b="1" u="sng" dirty="0">
                          <a:latin typeface="Arial"/>
                        </a:rPr>
                        <a:t>Customer Segments</a:t>
                      </a:r>
                    </a:p>
                    <a:p>
                      <a:pPr lvl="0">
                        <a:buNone/>
                      </a:pPr>
                      <a:endParaRPr lang="en-US" sz="1000" dirty="0">
                        <a:latin typeface="Arial"/>
                      </a:endParaRPr>
                    </a:p>
                    <a:p>
                      <a:pPr marL="171450" lvl="0" indent="-171450">
                        <a:buFont typeface="Arial"/>
                        <a:buChar char="•"/>
                      </a:pPr>
                      <a:r>
                        <a:rPr lang="en-US" sz="1000" dirty="0">
                          <a:latin typeface="Arial"/>
                        </a:rPr>
                        <a:t>People identifying as women</a:t>
                      </a:r>
                    </a:p>
                    <a:p>
                      <a:pPr marL="171450" lvl="0" indent="-171450">
                        <a:buFont typeface="Arial"/>
                        <a:buChar char="•"/>
                      </a:pPr>
                      <a:r>
                        <a:rPr lang="en-US" sz="1000" dirty="0">
                          <a:latin typeface="Arial"/>
                        </a:rPr>
                        <a:t>Single Moms (24 to 39)</a:t>
                      </a:r>
                    </a:p>
                    <a:p>
                      <a:pPr marL="171450" lvl="0" indent="-171450">
                        <a:buFont typeface="Arial"/>
                        <a:buChar char="•"/>
                      </a:pPr>
                      <a:r>
                        <a:rPr lang="en-US" sz="1000" dirty="0">
                          <a:latin typeface="Arial"/>
                        </a:rPr>
                        <a:t>Life crisis (bad relationships, car trouble, etc.)</a:t>
                      </a:r>
                    </a:p>
                  </a:txBody>
                  <a:tcPr>
                    <a:lnL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16162847"/>
                  </a:ext>
                </a:extLst>
              </a:tr>
              <a:tr h="1645456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b="1" u="sng" dirty="0">
                          <a:latin typeface="Arial"/>
                        </a:rPr>
                        <a:t>Key Metrics</a:t>
                      </a:r>
                    </a:p>
                    <a:p>
                      <a:pPr lvl="0">
                        <a:buNone/>
                      </a:pPr>
                      <a:endParaRPr lang="en-US" sz="1000" dirty="0">
                        <a:latin typeface="Arial"/>
                      </a:endParaRPr>
                    </a:p>
                    <a:p>
                      <a:pPr marL="171450" lvl="0" indent="-171450">
                        <a:buFont typeface="Arial"/>
                        <a:buChar char="•"/>
                      </a:pPr>
                      <a:r>
                        <a:rPr lang="en-US" sz="1000" dirty="0">
                          <a:latin typeface="Arial"/>
                        </a:rPr>
                        <a:t># of villages (400 ladies per)</a:t>
                      </a:r>
                    </a:p>
                    <a:p>
                      <a:pPr marL="171450" lvl="0" indent="-171450">
                        <a:buFont typeface="Arial"/>
                        <a:buChar char="•"/>
                      </a:pPr>
                      <a:r>
                        <a:rPr lang="en-US" sz="1000" dirty="0">
                          <a:latin typeface="Arial"/>
                        </a:rPr>
                        <a:t>Default Rate</a:t>
                      </a:r>
                    </a:p>
                    <a:p>
                      <a:pPr marL="171450" lvl="0" indent="-171450">
                        <a:buFont typeface="Arial"/>
                        <a:buChar char="•"/>
                      </a:pPr>
                      <a:r>
                        <a:rPr lang="en-US" sz="1000" dirty="0">
                          <a:latin typeface="Arial"/>
                        </a:rPr>
                        <a:t># Loans</a:t>
                      </a:r>
                    </a:p>
                    <a:p>
                      <a:pPr marL="171450" lvl="0" indent="-171450">
                        <a:buFont typeface="Arial"/>
                        <a:buChar char="•"/>
                      </a:pPr>
                      <a:r>
                        <a:rPr lang="en-US" sz="1000" dirty="0">
                          <a:latin typeface="Arial"/>
                        </a:rPr>
                        <a:t>Loans outstanding </a:t>
                      </a:r>
                    </a:p>
                    <a:p>
                      <a:pPr marL="171450" lvl="0" indent="-171450">
                        <a:buFont typeface="Arial"/>
                        <a:buChar char="•"/>
                      </a:pPr>
                      <a:r>
                        <a:rPr lang="en-US" sz="1000" dirty="0">
                          <a:latin typeface="Arial"/>
                        </a:rPr>
                        <a:t># Active Ladies</a:t>
                      </a:r>
                    </a:p>
                  </a:txBody>
                  <a:tcPr>
                    <a:lnL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noFill/>
                  </a:tcPr>
                </a:tc>
                <a:tc hMerge="1"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000" b="1" u="sng" dirty="0">
                          <a:latin typeface="Arial"/>
                        </a:rPr>
                        <a:t>Channels </a:t>
                      </a:r>
                    </a:p>
                    <a:p>
                      <a:pPr lvl="0">
                        <a:buNone/>
                      </a:pPr>
                      <a:endParaRPr lang="en-US" sz="1000" dirty="0">
                        <a:latin typeface="Arial"/>
                      </a:endParaRPr>
                    </a:p>
                    <a:p>
                      <a:pPr marL="171450" lvl="0" indent="-171450">
                        <a:buFont typeface="Arial"/>
                        <a:buChar char="•"/>
                      </a:pPr>
                      <a:r>
                        <a:rPr lang="en-US" sz="1000" dirty="0">
                          <a:latin typeface="Arial"/>
                        </a:rPr>
                        <a:t>Facebook Ads (95%)</a:t>
                      </a:r>
                    </a:p>
                    <a:p>
                      <a:pPr marL="171450" lvl="0" indent="-171450">
                        <a:buFont typeface="Arial"/>
                        <a:buChar char="•"/>
                      </a:pPr>
                      <a:r>
                        <a:rPr lang="en-US" sz="1000" dirty="0">
                          <a:latin typeface="Arial"/>
                        </a:rPr>
                        <a:t>Instagram </a:t>
                      </a:r>
                    </a:p>
                    <a:p>
                      <a:pPr marL="171450" lvl="0" indent="-171450">
                        <a:buFont typeface="Arial"/>
                        <a:buChar char="•"/>
                      </a:pPr>
                      <a:r>
                        <a:rPr lang="en-US" sz="1000" dirty="0">
                          <a:latin typeface="Arial"/>
                        </a:rPr>
                        <a:t>Google Ads</a:t>
                      </a:r>
                    </a:p>
                    <a:p>
                      <a:pPr marL="171450" lvl="0" indent="-171450">
                        <a:buFont typeface="Arial"/>
                        <a:buChar char="•"/>
                      </a:pPr>
                      <a:r>
                        <a:rPr lang="en-US" sz="1000" dirty="0">
                          <a:latin typeface="Arial"/>
                        </a:rPr>
                        <a:t>Womens Support Groups, Community and Social Enteprises </a:t>
                      </a:r>
                    </a:p>
                    <a:p>
                      <a:pPr marL="171450" lvl="0" indent="-171450">
                        <a:buFont typeface="Arial"/>
                        <a:buChar char="•"/>
                      </a:pPr>
                      <a:r>
                        <a:rPr lang="en-US" sz="1000" dirty="0">
                          <a:latin typeface="Arial"/>
                        </a:rPr>
                        <a:t>Referrals (5%)</a:t>
                      </a:r>
                      <a:endParaRPr lang="en-US" dirty="0"/>
                    </a:p>
                    <a:p>
                      <a:pPr marL="0" lvl="0" indent="0">
                        <a:buNone/>
                      </a:pPr>
                      <a:endParaRPr lang="en-US" sz="1000" dirty="0">
                        <a:latin typeface="Arial"/>
                      </a:endParaRPr>
                    </a:p>
                  </a:txBody>
                  <a:tcPr>
                    <a:lnL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00" b="1" i="0" u="sng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+mn-cs"/>
                        </a:rPr>
                        <a:t>Stakeholders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/>
                        <a:buChar char="•"/>
                        <a:tabLst/>
                        <a:defRPr/>
                      </a:pPr>
                      <a:r>
                        <a:rPr kumimoji="0" lang="en-US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+mn-cs"/>
                        </a:rPr>
                        <a:t>Customers</a:t>
                      </a: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/>
                        <a:buChar char="•"/>
                        <a:tabLst/>
                        <a:defRPr/>
                      </a:pPr>
                      <a:r>
                        <a:rPr kumimoji="0" lang="en-US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+mn-cs"/>
                        </a:rPr>
                        <a:t>Investors</a:t>
                      </a: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/>
                        <a:buChar char="•"/>
                        <a:tabLst/>
                        <a:defRPr/>
                      </a:pPr>
                      <a:r>
                        <a:rPr kumimoji="0" lang="en-US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+mn-cs"/>
                        </a:rPr>
                        <a:t>Community Funders</a:t>
                      </a: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/>
                        <a:buChar char="•"/>
                        <a:tabLst/>
                        <a:defRPr/>
                      </a:pPr>
                      <a:r>
                        <a:rPr kumimoji="0" lang="en-US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+mn-cs"/>
                        </a:rPr>
                        <a:t>LLI Foundation </a:t>
                      </a: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/>
                        <a:buChar char="•"/>
                        <a:tabLst/>
                        <a:defRPr/>
                      </a:pPr>
                      <a:r>
                        <a:rPr kumimoji="0" lang="en-US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+mn-cs"/>
                        </a:rPr>
                        <a:t>Suppliers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 </a:t>
                      </a:r>
                    </a:p>
                  </a:txBody>
                  <a:tcPr>
                    <a:lnL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0197802"/>
                  </a:ext>
                </a:extLst>
              </a:tr>
              <a:tr h="1533232">
                <a:tc gridSpan="3"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u="sng" dirty="0">
                          <a:latin typeface="Arial"/>
                        </a:rPr>
                        <a:t>Cost Structure</a:t>
                      </a:r>
                    </a:p>
                    <a:p>
                      <a:pPr marL="0" lvl="0" indent="0">
                        <a:buNone/>
                      </a:pPr>
                      <a:endParaRPr lang="en-US" sz="1000" dirty="0">
                        <a:latin typeface="Arial"/>
                      </a:endParaRPr>
                    </a:p>
                    <a:p>
                      <a:pPr marL="171450" lvl="0" indent="-171450">
                        <a:buFont typeface="Arial"/>
                        <a:buChar char="•"/>
                      </a:pPr>
                      <a:r>
                        <a:rPr lang="en-US" sz="1000" dirty="0" err="1">
                          <a:latin typeface="Arial"/>
                        </a:rPr>
                        <a:t>CashCo</a:t>
                      </a:r>
                      <a:r>
                        <a:rPr lang="en-US" sz="1000" dirty="0">
                          <a:latin typeface="Arial"/>
                        </a:rPr>
                        <a:t> Agency Agreement</a:t>
                      </a:r>
                    </a:p>
                    <a:p>
                      <a:pPr marL="171450" lvl="0" indent="-171450">
                        <a:buFont typeface="Arial"/>
                        <a:buChar char="•"/>
                      </a:pPr>
                      <a:r>
                        <a:rPr lang="en-US" sz="1000" dirty="0">
                          <a:latin typeface="Arial"/>
                        </a:rPr>
                        <a:t>Loan Book Purchase</a:t>
                      </a:r>
                    </a:p>
                    <a:p>
                      <a:pPr marL="171450" lvl="0" indent="-171450">
                        <a:buFont typeface="Arial"/>
                        <a:buChar char="•"/>
                      </a:pPr>
                      <a:r>
                        <a:rPr lang="en-US" sz="1000" dirty="0">
                          <a:latin typeface="Arial"/>
                        </a:rPr>
                        <a:t>Mayor, Deputy Mayor &amp; Leading Ladies Commission </a:t>
                      </a:r>
                    </a:p>
                    <a:p>
                      <a:pPr marL="171450" lvl="0" indent="-171450">
                        <a:buFont typeface="Arial"/>
                        <a:buChar char="•"/>
                      </a:pPr>
                      <a:r>
                        <a:rPr lang="en-US" sz="1000" dirty="0">
                          <a:latin typeface="Arial"/>
                        </a:rPr>
                        <a:t>Referral Fees </a:t>
                      </a:r>
                    </a:p>
                    <a:p>
                      <a:pPr marL="171450" lvl="0" indent="-171450">
                        <a:buFont typeface="Arial"/>
                        <a:buChar char="•"/>
                      </a:pPr>
                      <a:r>
                        <a:rPr lang="en-US" sz="1000" dirty="0">
                          <a:latin typeface="Arial"/>
                        </a:rPr>
                        <a:t>Interest</a:t>
                      </a:r>
                    </a:p>
                    <a:p>
                      <a:pPr marL="171450" lvl="0" indent="-171450">
                        <a:buFont typeface="Arial"/>
                        <a:buChar char="•"/>
                      </a:pPr>
                      <a:r>
                        <a:rPr lang="en-US" sz="1000" dirty="0">
                          <a:latin typeface="Arial"/>
                        </a:rPr>
                        <a:t>SG&amp;A – employees, phones, etc. </a:t>
                      </a:r>
                    </a:p>
                    <a:p>
                      <a:pPr marL="171450" lvl="0" indent="-171450">
                        <a:buFont typeface="Arial"/>
                        <a:buChar char="•"/>
                      </a:pPr>
                      <a:r>
                        <a:rPr lang="en-US" sz="1000" dirty="0">
                          <a:latin typeface="Arial"/>
                        </a:rPr>
                        <a:t>Lady Loans Foundation </a:t>
                      </a:r>
                    </a:p>
                    <a:p>
                      <a:pPr lvl="0">
                        <a:buNone/>
                      </a:pPr>
                      <a:endParaRPr lang="en-US" sz="1000" dirty="0">
                        <a:latin typeface="Arial"/>
                      </a:endParaRPr>
                    </a:p>
                    <a:p>
                      <a:pPr lvl="0">
                        <a:buNone/>
                      </a:pPr>
                      <a:endParaRPr lang="en-US" sz="1000" dirty="0">
                        <a:latin typeface="Arial"/>
                      </a:endParaRPr>
                    </a:p>
                  </a:txBody>
                  <a:tcPr>
                    <a:lnL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noFill/>
                  </a:tcPr>
                </a:tc>
                <a:tc gridSpan="3"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000" b="1" u="sng" dirty="0">
                          <a:latin typeface="Arial"/>
                        </a:rPr>
                        <a:t>Revenue Streams</a:t>
                      </a:r>
                    </a:p>
                    <a:p>
                      <a:pPr lvl="0">
                        <a:buNone/>
                      </a:pPr>
                      <a:endParaRPr lang="en-US" sz="1000" dirty="0">
                        <a:latin typeface="Arial"/>
                      </a:endParaRPr>
                    </a:p>
                    <a:p>
                      <a:pPr marL="171450" lvl="0" indent="-171450">
                        <a:buFont typeface="Arial"/>
                        <a:buChar char="•"/>
                      </a:pPr>
                      <a:r>
                        <a:rPr lang="en-US" sz="1000" dirty="0">
                          <a:latin typeface="Arial"/>
                        </a:rPr>
                        <a:t>Interest on loans</a:t>
                      </a:r>
                    </a:p>
                    <a:p>
                      <a:pPr marL="171450" lvl="0" indent="-171450">
                        <a:buFont typeface="Arial"/>
                        <a:buChar char="•"/>
                      </a:pPr>
                      <a:r>
                        <a:rPr lang="en-US" sz="1000" dirty="0">
                          <a:latin typeface="Arial"/>
                        </a:rPr>
                        <a:t>Admin Fees</a:t>
                      </a:r>
                    </a:p>
                    <a:p>
                      <a:pPr marL="171450" lvl="0" indent="-171450">
                        <a:buFont typeface="Arial"/>
                        <a:buChar char="•"/>
                      </a:pPr>
                      <a:r>
                        <a:rPr lang="en-US" sz="1000" dirty="0">
                          <a:latin typeface="Arial"/>
                        </a:rPr>
                        <a:t>LPP</a:t>
                      </a:r>
                    </a:p>
                    <a:p>
                      <a:pPr marL="171450" lvl="0" indent="-171450">
                        <a:buFont typeface="Arial"/>
                        <a:buChar char="•"/>
                      </a:pPr>
                      <a:r>
                        <a:rPr lang="en-US" sz="1000" dirty="0">
                          <a:latin typeface="Arial"/>
                        </a:rPr>
                        <a:t>Rise-Up Village Memberships</a:t>
                      </a:r>
                    </a:p>
                    <a:p>
                      <a:pPr marL="171450" lvl="0" indent="-171450">
                        <a:buFont typeface="Arial"/>
                        <a:buChar char="•"/>
                      </a:pPr>
                      <a:r>
                        <a:rPr lang="en-US" sz="1000" dirty="0">
                          <a:latin typeface="Arial"/>
                        </a:rPr>
                        <a:t>BST</a:t>
                      </a:r>
                    </a:p>
                  </a:txBody>
                  <a:tcPr>
                    <a:lnL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61258325"/>
                  </a:ext>
                </a:extLst>
              </a:tr>
              <a:tr h="843881">
                <a:tc gridSpan="6"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000" b="1" u="sng" dirty="0">
                          <a:latin typeface="Arial"/>
                        </a:rPr>
                        <a:t>Intended Impact (Timeline?) </a:t>
                      </a: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/>
                        <a:buChar char="•"/>
                        <a:tabLst/>
                        <a:defRPr/>
                      </a:pPr>
                      <a:r>
                        <a:rPr kumimoji="0" lang="en-US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+mn-cs"/>
                        </a:rPr>
                        <a:t>120,000 Ladies (300 Villages) have access to loans, banking and increase financial literacy</a:t>
                      </a: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/>
                        <a:buChar char="•"/>
                        <a:tabLst/>
                        <a:defRPr/>
                      </a:pPr>
                      <a:r>
                        <a:rPr kumimoji="0" lang="en-US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+mn-cs"/>
                        </a:rPr>
                        <a:t>12,000 Ladies provided with part time income, 300 new well-paid FTEs ($55k to $100k per year)</a:t>
                      </a: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/>
                        <a:buChar char="•"/>
                        <a:tabLst/>
                        <a:defRPr/>
                      </a:pPr>
                      <a:r>
                        <a:rPr kumimoji="0" lang="en-US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+mn-cs"/>
                        </a:rPr>
                        <a:t>80% of Ladies leaving the village have a credit score of 750+ and can now access traditional banking and buy a house, car, </a:t>
                      </a:r>
                      <a:r>
                        <a:rPr kumimoji="0" lang="en-US" sz="10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+mn-cs"/>
                        </a:rPr>
                        <a:t>etc</a:t>
                      </a:r>
                      <a:endParaRPr kumimoji="0" lang="en-US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/>
                        <a:buChar char="•"/>
                        <a:tabLst/>
                        <a:defRPr/>
                      </a:pPr>
                      <a:r>
                        <a:rPr kumimoji="0" lang="en-US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+mn-cs"/>
                        </a:rPr>
                        <a:t>Lady Loans Foundation 1% of revenue, 10% of share capital</a:t>
                      </a:r>
                    </a:p>
                  </a:txBody>
                  <a:tcPr>
                    <a:lnL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171450" lvl="0" indent="-171450">
                        <a:buFont typeface="Arial"/>
                        <a:buChar char="•"/>
                      </a:pPr>
                      <a:endParaRPr lang="en-US" sz="1000" dirty="0">
                        <a:latin typeface="Arial"/>
                      </a:endParaRPr>
                    </a:p>
                  </a:txBody>
                  <a:tcP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25146648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E6D319A-76E9-4A50-A206-C60EE70CF0E4}"/>
              </a:ext>
            </a:extLst>
          </p:cNvPr>
          <p:cNvSpPr txBox="1"/>
          <p:nvPr/>
        </p:nvSpPr>
        <p:spPr>
          <a:xfrm>
            <a:off x="350453" y="249748"/>
            <a:ext cx="274320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b="1" dirty="0">
                <a:solidFill>
                  <a:srgbClr val="E06CA0"/>
                </a:solidFill>
                <a:latin typeface="Arial Black"/>
              </a:rPr>
              <a:t>Lean Impact Canvas</a:t>
            </a:r>
            <a:endParaRPr lang="en-US" b="1" dirty="0">
              <a:solidFill>
                <a:srgbClr val="E06CA0"/>
              </a:solidFill>
              <a:latin typeface="Arial Black"/>
              <a:cs typeface="Calibri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339DC22-15B2-413D-AA38-B9E5E3602F27}"/>
              </a:ext>
            </a:extLst>
          </p:cNvPr>
          <p:cNvSpPr txBox="1"/>
          <p:nvPr/>
        </p:nvSpPr>
        <p:spPr>
          <a:xfrm>
            <a:off x="5939571" y="249747"/>
            <a:ext cx="274320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r"/>
            <a:r>
              <a:rPr lang="en-US" b="1" dirty="0">
                <a:solidFill>
                  <a:srgbClr val="E06CA0"/>
                </a:solidFill>
                <a:latin typeface="Arial Black"/>
              </a:rPr>
              <a:t>Lady Loans v1.2</a:t>
            </a:r>
            <a:endParaRPr lang="en-US" dirty="0">
              <a:solidFill>
                <a:srgbClr val="E06CA0"/>
              </a:solidFill>
              <a:cs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34858882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0D99D1-AAC1-CD48-8D92-5A4687AEE3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870303"/>
          </a:xfrm>
        </p:spPr>
        <p:txBody>
          <a:bodyPr>
            <a:noAutofit/>
          </a:bodyPr>
          <a:lstStyle/>
          <a:p>
            <a:r>
              <a:rPr lang="en-US" sz="2800" dirty="0">
                <a:solidFill>
                  <a:srgbClr val="E06CA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currently Lady Loan process, benefits, and recruitment cycle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8ABAE84-7651-D04C-B047-898EB0CABF5A}"/>
              </a:ext>
            </a:extLst>
          </p:cNvPr>
          <p:cNvSpPr txBox="1"/>
          <p:nvPr/>
        </p:nvSpPr>
        <p:spPr>
          <a:xfrm>
            <a:off x="288025" y="2060907"/>
            <a:ext cx="720000" cy="540000"/>
          </a:xfrm>
          <a:prstGeom prst="rect">
            <a:avLst/>
          </a:prstGeom>
          <a:noFill/>
          <a:ln w="19050">
            <a:noFill/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sz="800" dirty="0">
                <a:latin typeface="Arial" panose="020B0604020202020204" pitchFamily="34" charset="0"/>
                <a:cs typeface="Arial" panose="020B0604020202020204" pitchFamily="34" charset="0"/>
              </a:rPr>
              <a:t>Lady in need of a loan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FF9F6BC-0C04-C844-80A8-F7009D645294}"/>
              </a:ext>
            </a:extLst>
          </p:cNvPr>
          <p:cNvSpPr txBox="1"/>
          <p:nvPr/>
        </p:nvSpPr>
        <p:spPr>
          <a:xfrm>
            <a:off x="2303162" y="1558342"/>
            <a:ext cx="900000" cy="540000"/>
          </a:xfrm>
          <a:prstGeom prst="rect">
            <a:avLst/>
          </a:prstGeom>
          <a:noFill/>
          <a:ln w="19050">
            <a:solidFill>
              <a:srgbClr val="E06CA0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sz="800" dirty="0">
                <a:latin typeface="Arial" panose="020B0604020202020204" pitchFamily="34" charset="0"/>
                <a:cs typeface="Arial" panose="020B0604020202020204" pitchFamily="34" charset="0"/>
              </a:rPr>
              <a:t>‘Mayor’ visit – virtual or in home with Budget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72E8A05-8AC0-AC45-9441-24143CCD9764}"/>
              </a:ext>
            </a:extLst>
          </p:cNvPr>
          <p:cNvSpPr txBox="1"/>
          <p:nvPr/>
        </p:nvSpPr>
        <p:spPr>
          <a:xfrm>
            <a:off x="3401065" y="1558342"/>
            <a:ext cx="900000" cy="540000"/>
          </a:xfrm>
          <a:prstGeom prst="rect">
            <a:avLst/>
          </a:prstGeom>
          <a:noFill/>
          <a:ln w="19050">
            <a:solidFill>
              <a:srgbClr val="E06CA0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sz="800" dirty="0">
                <a:latin typeface="Arial" panose="020B0604020202020204" pitchFamily="34" charset="0"/>
                <a:cs typeface="Arial" panose="020B0604020202020204" pitchFamily="34" charset="0"/>
              </a:rPr>
              <a:t>Join Sisterhood group </a:t>
            </a:r>
          </a:p>
          <a:p>
            <a:pPr algn="ctr"/>
            <a:r>
              <a:rPr lang="en-US" sz="800" dirty="0">
                <a:latin typeface="Arial" panose="020B0604020202020204" pitchFamily="34" charset="0"/>
                <a:cs typeface="Arial" panose="020B0604020202020204" pitchFamily="34" charset="0"/>
              </a:rPr>
              <a:t>(no cost)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5B1887A2-E254-8A48-AABC-D91AFAB855C4}"/>
              </a:ext>
            </a:extLst>
          </p:cNvPr>
          <p:cNvCxnSpPr>
            <a:cxnSpLocks/>
            <a:stCxn id="106" idx="6"/>
            <a:endCxn id="58" idx="1"/>
          </p:cNvCxnSpPr>
          <p:nvPr/>
        </p:nvCxnSpPr>
        <p:spPr>
          <a:xfrm>
            <a:off x="812553" y="1828342"/>
            <a:ext cx="253106" cy="0"/>
          </a:xfrm>
          <a:prstGeom prst="straightConnector1">
            <a:avLst/>
          </a:prstGeom>
          <a:ln>
            <a:solidFill>
              <a:srgbClr val="E06C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63D0AF95-BBB2-9A46-A397-1FE25B1FC100}"/>
              </a:ext>
            </a:extLst>
          </p:cNvPr>
          <p:cNvCxnSpPr>
            <a:cxnSpLocks/>
            <a:stCxn id="58" idx="3"/>
            <a:endCxn id="5" idx="1"/>
          </p:cNvCxnSpPr>
          <p:nvPr/>
        </p:nvCxnSpPr>
        <p:spPr>
          <a:xfrm>
            <a:off x="1965659" y="1828342"/>
            <a:ext cx="337503" cy="0"/>
          </a:xfrm>
          <a:prstGeom prst="straightConnector1">
            <a:avLst/>
          </a:prstGeom>
          <a:ln>
            <a:solidFill>
              <a:srgbClr val="E06C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A9152D81-245C-CB4F-A210-BA0375F22C66}"/>
              </a:ext>
            </a:extLst>
          </p:cNvPr>
          <p:cNvCxnSpPr>
            <a:cxnSpLocks/>
            <a:stCxn id="5" idx="3"/>
            <a:endCxn id="7" idx="1"/>
          </p:cNvCxnSpPr>
          <p:nvPr/>
        </p:nvCxnSpPr>
        <p:spPr>
          <a:xfrm>
            <a:off x="3203162" y="1828342"/>
            <a:ext cx="197903" cy="0"/>
          </a:xfrm>
          <a:prstGeom prst="straightConnector1">
            <a:avLst/>
          </a:prstGeom>
          <a:ln>
            <a:solidFill>
              <a:srgbClr val="E06C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Rectangle 41">
            <a:extLst>
              <a:ext uri="{FF2B5EF4-FFF2-40B4-BE49-F238E27FC236}">
                <a16:creationId xmlns:a16="http://schemas.microsoft.com/office/drawing/2014/main" id="{90ED7D63-7650-5944-9C34-B9E1928C73EA}"/>
              </a:ext>
            </a:extLst>
          </p:cNvPr>
          <p:cNvSpPr/>
          <p:nvPr/>
        </p:nvSpPr>
        <p:spPr>
          <a:xfrm>
            <a:off x="1864209" y="1579653"/>
            <a:ext cx="362600" cy="215444"/>
          </a:xfrm>
          <a:prstGeom prst="rect">
            <a:avLst/>
          </a:prstGeom>
          <a:ln>
            <a:noFill/>
          </a:ln>
        </p:spPr>
        <p:txBody>
          <a:bodyPr wrap="none">
            <a:spAutoFit/>
          </a:bodyPr>
          <a:lstStyle/>
          <a:p>
            <a:r>
              <a:rPr lang="en-US" sz="800" dirty="0">
                <a:latin typeface="Arial" panose="020B0604020202020204" pitchFamily="34" charset="0"/>
                <a:cs typeface="Arial" panose="020B0604020202020204" pitchFamily="34" charset="0"/>
              </a:rPr>
              <a:t>Yes</a:t>
            </a:r>
            <a:endParaRPr lang="en-US" dirty="0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7154C231-67B2-0D48-9C3A-A79882C380AB}"/>
              </a:ext>
            </a:extLst>
          </p:cNvPr>
          <p:cNvSpPr/>
          <p:nvPr/>
        </p:nvSpPr>
        <p:spPr>
          <a:xfrm flipH="1">
            <a:off x="1506809" y="2829566"/>
            <a:ext cx="322608" cy="215444"/>
          </a:xfrm>
          <a:prstGeom prst="rect">
            <a:avLst/>
          </a:prstGeom>
          <a:ln>
            <a:noFill/>
          </a:ln>
        </p:spPr>
        <p:txBody>
          <a:bodyPr wrap="square">
            <a:spAutoFit/>
          </a:bodyPr>
          <a:lstStyle/>
          <a:p>
            <a:r>
              <a:rPr lang="en-US" sz="800" dirty="0">
                <a:latin typeface="Arial" panose="020B0604020202020204" pitchFamily="34" charset="0"/>
                <a:cs typeface="Arial" panose="020B0604020202020204" pitchFamily="34" charset="0"/>
              </a:rPr>
              <a:t>No</a:t>
            </a:r>
            <a:endParaRPr lang="en-US" dirty="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BB449E12-675E-BA4E-A500-C7EE2B79194F}"/>
              </a:ext>
            </a:extLst>
          </p:cNvPr>
          <p:cNvSpPr txBox="1"/>
          <p:nvPr/>
        </p:nvSpPr>
        <p:spPr>
          <a:xfrm>
            <a:off x="4583391" y="2528465"/>
            <a:ext cx="900000" cy="540000"/>
          </a:xfrm>
          <a:prstGeom prst="rect">
            <a:avLst/>
          </a:prstGeom>
          <a:noFill/>
          <a:ln w="19050">
            <a:solidFill>
              <a:srgbClr val="E06CA0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sz="800" dirty="0">
                <a:latin typeface="Arial" panose="020B0604020202020204" pitchFamily="34" charset="0"/>
                <a:cs typeface="Arial" panose="020B0604020202020204" pitchFamily="34" charset="0"/>
              </a:rPr>
              <a:t>Peer meetings, coaching &amp; chat group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5104D45A-87FA-CC4A-A467-6841143E096A}"/>
              </a:ext>
            </a:extLst>
          </p:cNvPr>
          <p:cNvSpPr txBox="1"/>
          <p:nvPr/>
        </p:nvSpPr>
        <p:spPr>
          <a:xfrm>
            <a:off x="4583391" y="3224265"/>
            <a:ext cx="900000" cy="540000"/>
          </a:xfrm>
          <a:prstGeom prst="rect">
            <a:avLst/>
          </a:prstGeom>
          <a:noFill/>
          <a:ln w="19050">
            <a:solidFill>
              <a:srgbClr val="E06CA0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sz="800" dirty="0">
                <a:latin typeface="Arial" panose="020B0604020202020204" pitchFamily="34" charset="0"/>
                <a:cs typeface="Arial" panose="020B0604020202020204" pitchFamily="34" charset="0"/>
              </a:rPr>
              <a:t>M Care / LifeWorks Counseling &amp; Support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D0F156F-BB15-9F40-8D6E-75193786C93B}"/>
              </a:ext>
            </a:extLst>
          </p:cNvPr>
          <p:cNvSpPr txBox="1"/>
          <p:nvPr/>
        </p:nvSpPr>
        <p:spPr>
          <a:xfrm>
            <a:off x="4583391" y="3918091"/>
            <a:ext cx="900000" cy="540000"/>
          </a:xfrm>
          <a:prstGeom prst="rect">
            <a:avLst/>
          </a:prstGeom>
          <a:noFill/>
          <a:ln w="19050">
            <a:solidFill>
              <a:srgbClr val="E06CA0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sz="800" dirty="0">
                <a:latin typeface="Arial" panose="020B0604020202020204" pitchFamily="34" charset="0"/>
                <a:cs typeface="Arial" panose="020B0604020202020204" pitchFamily="34" charset="0"/>
              </a:rPr>
              <a:t>Sisterhood rewards &amp; hands-up</a:t>
            </a:r>
            <a:endParaRPr lang="en-US" sz="800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00D37FA1-C230-6A44-BF77-1A1244155A3C}"/>
              </a:ext>
            </a:extLst>
          </p:cNvPr>
          <p:cNvSpPr txBox="1"/>
          <p:nvPr/>
        </p:nvSpPr>
        <p:spPr>
          <a:xfrm>
            <a:off x="4583391" y="4674112"/>
            <a:ext cx="900000" cy="540000"/>
          </a:xfrm>
          <a:prstGeom prst="rect">
            <a:avLst/>
          </a:prstGeom>
          <a:noFill/>
          <a:ln w="19050">
            <a:solidFill>
              <a:srgbClr val="E06CA0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sz="800" dirty="0">
                <a:latin typeface="Arial" panose="020B0604020202020204" pitchFamily="34" charset="0"/>
                <a:cs typeface="Arial" panose="020B0604020202020204" pitchFamily="34" charset="0"/>
              </a:rPr>
              <a:t>Blue Cross Benefits (Future)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5D8285BF-F13E-2E4B-9345-29B9774B39B9}"/>
              </a:ext>
            </a:extLst>
          </p:cNvPr>
          <p:cNvSpPr txBox="1"/>
          <p:nvPr/>
        </p:nvSpPr>
        <p:spPr>
          <a:xfrm>
            <a:off x="2303162" y="4167435"/>
            <a:ext cx="900000" cy="540000"/>
          </a:xfrm>
          <a:prstGeom prst="rect">
            <a:avLst/>
          </a:prstGeom>
          <a:noFill/>
          <a:ln w="19050">
            <a:solidFill>
              <a:srgbClr val="E06CA0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sz="800" dirty="0">
                <a:latin typeface="Arial" panose="020B0604020202020204" pitchFamily="34" charset="0"/>
                <a:cs typeface="Arial" panose="020B0604020202020204" pitchFamily="34" charset="0"/>
              </a:rPr>
              <a:t>Credit building &amp; reporting service 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55F2AE03-79E1-E440-B225-133623FCDF3F}"/>
              </a:ext>
            </a:extLst>
          </p:cNvPr>
          <p:cNvSpPr txBox="1"/>
          <p:nvPr/>
        </p:nvSpPr>
        <p:spPr>
          <a:xfrm>
            <a:off x="5756326" y="1558342"/>
            <a:ext cx="900000" cy="540000"/>
          </a:xfrm>
          <a:prstGeom prst="rect">
            <a:avLst/>
          </a:prstGeom>
          <a:noFill/>
          <a:ln w="19050">
            <a:solidFill>
              <a:srgbClr val="E06CA0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sz="800" dirty="0">
                <a:latin typeface="Arial" panose="020B0604020202020204" pitchFamily="34" charset="0"/>
                <a:cs typeface="Arial" panose="020B0604020202020204" pitchFamily="34" charset="0"/>
              </a:rPr>
              <a:t>Selected as Sisterhood  ‘Leading Lady” 5% commission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C8BF76F9-92ED-6844-9D87-2780A615DBD1}"/>
              </a:ext>
            </a:extLst>
          </p:cNvPr>
          <p:cNvSpPr txBox="1"/>
          <p:nvPr/>
        </p:nvSpPr>
        <p:spPr>
          <a:xfrm>
            <a:off x="5762737" y="2556103"/>
            <a:ext cx="900000" cy="540000"/>
          </a:xfrm>
          <a:prstGeom prst="rect">
            <a:avLst/>
          </a:prstGeom>
          <a:noFill/>
          <a:ln w="19050">
            <a:solidFill>
              <a:srgbClr val="E06CA0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sz="800" dirty="0">
                <a:latin typeface="Arial" panose="020B0604020202020204" pitchFamily="34" charset="0"/>
                <a:cs typeface="Arial" panose="020B0604020202020204" pitchFamily="34" charset="0"/>
              </a:rPr>
              <a:t>Selected for multiple Sisterhood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3DD3E264-7693-974C-B4D4-B65110239B17}"/>
              </a:ext>
            </a:extLst>
          </p:cNvPr>
          <p:cNvSpPr txBox="1"/>
          <p:nvPr/>
        </p:nvSpPr>
        <p:spPr>
          <a:xfrm>
            <a:off x="6954322" y="2557043"/>
            <a:ext cx="900000" cy="540000"/>
          </a:xfrm>
          <a:prstGeom prst="rect">
            <a:avLst/>
          </a:prstGeom>
          <a:noFill/>
          <a:ln w="19050">
            <a:solidFill>
              <a:srgbClr val="E06CA0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sz="800" dirty="0">
                <a:latin typeface="Arial" panose="020B0604020202020204" pitchFamily="34" charset="0"/>
                <a:cs typeface="Arial" panose="020B0604020202020204" pitchFamily="34" charset="0"/>
              </a:rPr>
              <a:t>Selected as (Mayor, Deputy, Assistant)</a:t>
            </a:r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588F4496-DA0C-654D-9463-2AD3897186B6}"/>
              </a:ext>
            </a:extLst>
          </p:cNvPr>
          <p:cNvCxnSpPr>
            <a:cxnSpLocks/>
            <a:stCxn id="82" idx="3"/>
            <a:endCxn id="83" idx="1"/>
          </p:cNvCxnSpPr>
          <p:nvPr/>
        </p:nvCxnSpPr>
        <p:spPr>
          <a:xfrm>
            <a:off x="6662737" y="2826103"/>
            <a:ext cx="291585" cy="940"/>
          </a:xfrm>
          <a:prstGeom prst="straightConnector1">
            <a:avLst/>
          </a:prstGeom>
          <a:ln>
            <a:solidFill>
              <a:srgbClr val="E06C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Straight Arrow Connector 87">
            <a:extLst>
              <a:ext uri="{FF2B5EF4-FFF2-40B4-BE49-F238E27FC236}">
                <a16:creationId xmlns:a16="http://schemas.microsoft.com/office/drawing/2014/main" id="{453B73BD-F78C-6C47-B971-D1A1EA40AC60}"/>
              </a:ext>
            </a:extLst>
          </p:cNvPr>
          <p:cNvCxnSpPr>
            <a:stCxn id="72" idx="2"/>
            <a:endCxn id="82" idx="0"/>
          </p:cNvCxnSpPr>
          <p:nvPr/>
        </p:nvCxnSpPr>
        <p:spPr>
          <a:xfrm>
            <a:off x="6206326" y="2098342"/>
            <a:ext cx="6411" cy="457761"/>
          </a:xfrm>
          <a:prstGeom prst="straightConnector1">
            <a:avLst/>
          </a:prstGeom>
          <a:ln>
            <a:solidFill>
              <a:srgbClr val="E06C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Rectangle 90">
            <a:extLst>
              <a:ext uri="{FF2B5EF4-FFF2-40B4-BE49-F238E27FC236}">
                <a16:creationId xmlns:a16="http://schemas.microsoft.com/office/drawing/2014/main" id="{02B45DBA-F243-AE4F-B11C-CA31406E558B}"/>
              </a:ext>
            </a:extLst>
          </p:cNvPr>
          <p:cNvSpPr/>
          <p:nvPr/>
        </p:nvSpPr>
        <p:spPr>
          <a:xfrm>
            <a:off x="3156322" y="5525577"/>
            <a:ext cx="1056664" cy="338554"/>
          </a:xfrm>
          <a:prstGeom prst="rect">
            <a:avLst/>
          </a:prstGeom>
          <a:ln>
            <a:noFill/>
          </a:ln>
        </p:spPr>
        <p:txBody>
          <a:bodyPr wrap="square">
            <a:spAutoFit/>
          </a:bodyPr>
          <a:lstStyle/>
          <a:p>
            <a:r>
              <a:rPr lang="en-US" sz="800" dirty="0">
                <a:latin typeface="Arial" panose="020B0604020202020204" pitchFamily="34" charset="0"/>
                <a:cs typeface="Arial" panose="020B0604020202020204" pitchFamily="34" charset="0"/>
              </a:rPr>
              <a:t>After 12 months, min $1500 loan </a:t>
            </a:r>
          </a:p>
        </p:txBody>
      </p:sp>
      <p:sp>
        <p:nvSpPr>
          <p:cNvPr id="106" name="Oval 105">
            <a:extLst>
              <a:ext uri="{FF2B5EF4-FFF2-40B4-BE49-F238E27FC236}">
                <a16:creationId xmlns:a16="http://schemas.microsoft.com/office/drawing/2014/main" id="{0E973E5E-DE34-5046-A09F-E6F3DB36EBEF}"/>
              </a:ext>
            </a:extLst>
          </p:cNvPr>
          <p:cNvSpPr/>
          <p:nvPr/>
        </p:nvSpPr>
        <p:spPr>
          <a:xfrm>
            <a:off x="488553" y="1666342"/>
            <a:ext cx="324000" cy="324000"/>
          </a:xfrm>
          <a:prstGeom prst="ellipse">
            <a:avLst/>
          </a:prstGeom>
          <a:solidFill>
            <a:srgbClr val="E06CA0"/>
          </a:solidFill>
          <a:ln>
            <a:solidFill>
              <a:srgbClr val="E06C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" name="Oval 109">
            <a:extLst>
              <a:ext uri="{FF2B5EF4-FFF2-40B4-BE49-F238E27FC236}">
                <a16:creationId xmlns:a16="http://schemas.microsoft.com/office/drawing/2014/main" id="{6D43C944-FD22-C540-803A-DD7146E8C4B0}"/>
              </a:ext>
            </a:extLst>
          </p:cNvPr>
          <p:cNvSpPr/>
          <p:nvPr/>
        </p:nvSpPr>
        <p:spPr>
          <a:xfrm>
            <a:off x="8507257" y="2053355"/>
            <a:ext cx="324000" cy="324000"/>
          </a:xfrm>
          <a:prstGeom prst="ellipse">
            <a:avLst/>
          </a:prstGeom>
          <a:solidFill>
            <a:srgbClr val="E06CA0"/>
          </a:solidFill>
          <a:ln>
            <a:solidFill>
              <a:srgbClr val="E06C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43C29E87-972F-824C-B7F5-B6A4FE82D2C6}"/>
              </a:ext>
            </a:extLst>
          </p:cNvPr>
          <p:cNvSpPr txBox="1"/>
          <p:nvPr/>
        </p:nvSpPr>
        <p:spPr>
          <a:xfrm>
            <a:off x="8327563" y="1957068"/>
            <a:ext cx="720000" cy="540000"/>
          </a:xfrm>
          <a:prstGeom prst="rect">
            <a:avLst/>
          </a:prstGeom>
          <a:noFill/>
          <a:ln w="19050">
            <a:noFill/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End</a:t>
            </a:r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3AA86023-59D2-384E-870A-942CD3CB8849}"/>
              </a:ext>
            </a:extLst>
          </p:cNvPr>
          <p:cNvSpPr txBox="1"/>
          <p:nvPr/>
        </p:nvSpPr>
        <p:spPr>
          <a:xfrm>
            <a:off x="4583391" y="1558342"/>
            <a:ext cx="900000" cy="540000"/>
          </a:xfrm>
          <a:prstGeom prst="rect">
            <a:avLst/>
          </a:prstGeom>
          <a:noFill/>
          <a:ln w="19050">
            <a:solidFill>
              <a:srgbClr val="E06CA0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sz="800" dirty="0">
                <a:latin typeface="Arial" panose="020B0604020202020204" pitchFamily="34" charset="0"/>
                <a:cs typeface="Arial" panose="020B0604020202020204" pitchFamily="34" charset="0"/>
              </a:rPr>
              <a:t>Loan funds advanced </a:t>
            </a:r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BE83301D-330B-6A4D-BA04-133AB0F4062C}"/>
              </a:ext>
            </a:extLst>
          </p:cNvPr>
          <p:cNvSpPr txBox="1"/>
          <p:nvPr/>
        </p:nvSpPr>
        <p:spPr>
          <a:xfrm>
            <a:off x="2303162" y="3402260"/>
            <a:ext cx="900000" cy="540000"/>
          </a:xfrm>
          <a:prstGeom prst="rect">
            <a:avLst/>
          </a:prstGeom>
          <a:noFill/>
          <a:ln w="19050">
            <a:solidFill>
              <a:srgbClr val="E06CA0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sz="800" dirty="0">
                <a:latin typeface="Arial" panose="020B0604020202020204" pitchFamily="34" charset="0"/>
                <a:cs typeface="Arial" panose="020B0604020202020204" pitchFamily="34" charset="0"/>
              </a:rPr>
              <a:t>Village Rewards, hands-up &amp; giveaways</a:t>
            </a:r>
          </a:p>
        </p:txBody>
      </p:sp>
      <p:sp>
        <p:nvSpPr>
          <p:cNvPr id="58" name="Diamond 57">
            <a:extLst>
              <a:ext uri="{FF2B5EF4-FFF2-40B4-BE49-F238E27FC236}">
                <a16:creationId xmlns:a16="http://schemas.microsoft.com/office/drawing/2014/main" id="{3CA37382-5519-1843-8AD1-A9CD88B65A2F}"/>
              </a:ext>
            </a:extLst>
          </p:cNvPr>
          <p:cNvSpPr>
            <a:spLocks noChangeAspect="1"/>
          </p:cNvSpPr>
          <p:nvPr/>
        </p:nvSpPr>
        <p:spPr>
          <a:xfrm>
            <a:off x="1065659" y="1378342"/>
            <a:ext cx="900000" cy="900000"/>
          </a:xfrm>
          <a:prstGeom prst="diamond">
            <a:avLst/>
          </a:prstGeom>
          <a:noFill/>
          <a:ln w="19050">
            <a:solidFill>
              <a:srgbClr val="E06CA0"/>
            </a:solidFill>
          </a:ln>
        </p:spPr>
        <p:txBody>
          <a:bodyPr wrap="square" lIns="36000" rIns="36000" rtlCol="0" anchor="ctr">
            <a:noAutofit/>
          </a:bodyPr>
          <a:lstStyle/>
          <a:p>
            <a:pPr algn="ctr"/>
            <a:r>
              <a:rPr lang="en-US" sz="7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Loan Pre-Approval</a:t>
            </a:r>
          </a:p>
        </p:txBody>
      </p:sp>
      <p:sp>
        <p:nvSpPr>
          <p:cNvPr id="77" name="Diamond 76">
            <a:extLst>
              <a:ext uri="{FF2B5EF4-FFF2-40B4-BE49-F238E27FC236}">
                <a16:creationId xmlns:a16="http://schemas.microsoft.com/office/drawing/2014/main" id="{5C444835-B3BD-484A-AF41-B814BF5C9E0A}"/>
              </a:ext>
            </a:extLst>
          </p:cNvPr>
          <p:cNvSpPr>
            <a:spLocks noChangeAspect="1"/>
          </p:cNvSpPr>
          <p:nvPr/>
        </p:nvSpPr>
        <p:spPr>
          <a:xfrm>
            <a:off x="1065659" y="3580448"/>
            <a:ext cx="900000" cy="900000"/>
          </a:xfrm>
          <a:prstGeom prst="diamond">
            <a:avLst/>
          </a:prstGeom>
          <a:noFill/>
          <a:ln w="19050">
            <a:solidFill>
              <a:srgbClr val="E06CA0"/>
            </a:solidFill>
          </a:ln>
        </p:spPr>
        <p:txBody>
          <a:bodyPr wrap="square" lIns="36000" rIns="36000" rtlCol="0" anchor="ctr">
            <a:noAutofit/>
          </a:bodyPr>
          <a:lstStyle/>
          <a:p>
            <a:pPr algn="ctr"/>
            <a:r>
              <a:rPr lang="en-US" sz="7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Join Rise-Up Village</a:t>
            </a:r>
          </a:p>
          <a:p>
            <a:pPr algn="ctr"/>
            <a:r>
              <a:rPr lang="en-US" sz="700" dirty="0">
                <a:latin typeface="Arial" panose="020B0604020202020204" pitchFamily="34" charset="0"/>
                <a:cs typeface="Arial" panose="020B0604020202020204" pitchFamily="34" charset="0"/>
              </a:rPr>
              <a:t>($$)</a:t>
            </a:r>
            <a:endParaRPr lang="en-US" sz="7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0D1B3E2F-B4CF-9240-85BA-C622E8E697A7}"/>
              </a:ext>
            </a:extLst>
          </p:cNvPr>
          <p:cNvCxnSpPr>
            <a:cxnSpLocks/>
            <a:stCxn id="58" idx="2"/>
            <a:endCxn id="77" idx="0"/>
          </p:cNvCxnSpPr>
          <p:nvPr/>
        </p:nvCxnSpPr>
        <p:spPr>
          <a:xfrm>
            <a:off x="1515659" y="2278342"/>
            <a:ext cx="0" cy="1302106"/>
          </a:xfrm>
          <a:prstGeom prst="straightConnector1">
            <a:avLst/>
          </a:prstGeom>
          <a:ln>
            <a:solidFill>
              <a:srgbClr val="E06C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Elbow Connector 79">
            <a:extLst>
              <a:ext uri="{FF2B5EF4-FFF2-40B4-BE49-F238E27FC236}">
                <a16:creationId xmlns:a16="http://schemas.microsoft.com/office/drawing/2014/main" id="{FFFD9CDC-CA4C-8848-8B36-2CBFB5123E3D}"/>
              </a:ext>
            </a:extLst>
          </p:cNvPr>
          <p:cNvCxnSpPr>
            <a:cxnSpLocks/>
            <a:stCxn id="77" idx="3"/>
            <a:endCxn id="124" idx="1"/>
          </p:cNvCxnSpPr>
          <p:nvPr/>
        </p:nvCxnSpPr>
        <p:spPr>
          <a:xfrm flipV="1">
            <a:off x="1965659" y="3672260"/>
            <a:ext cx="337503" cy="358188"/>
          </a:xfrm>
          <a:prstGeom prst="bentConnector3">
            <a:avLst/>
          </a:prstGeom>
          <a:ln>
            <a:solidFill>
              <a:srgbClr val="E06C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Elbow Connector 84">
            <a:extLst>
              <a:ext uri="{FF2B5EF4-FFF2-40B4-BE49-F238E27FC236}">
                <a16:creationId xmlns:a16="http://schemas.microsoft.com/office/drawing/2014/main" id="{55BE4A36-7D39-6248-A5D4-7D43BB433D3B}"/>
              </a:ext>
            </a:extLst>
          </p:cNvPr>
          <p:cNvCxnSpPr>
            <a:cxnSpLocks/>
            <a:stCxn id="77" idx="3"/>
            <a:endCxn id="51" idx="1"/>
          </p:cNvCxnSpPr>
          <p:nvPr/>
        </p:nvCxnSpPr>
        <p:spPr>
          <a:xfrm>
            <a:off x="1965659" y="4030448"/>
            <a:ext cx="337503" cy="406987"/>
          </a:xfrm>
          <a:prstGeom prst="bentConnector3">
            <a:avLst>
              <a:gd name="adj1" fmla="val 50000"/>
            </a:avLst>
          </a:prstGeom>
          <a:ln>
            <a:solidFill>
              <a:srgbClr val="E06C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Elbow Connector 86">
            <a:extLst>
              <a:ext uri="{FF2B5EF4-FFF2-40B4-BE49-F238E27FC236}">
                <a16:creationId xmlns:a16="http://schemas.microsoft.com/office/drawing/2014/main" id="{81C58C38-8201-D04A-9491-5F9F74FFB574}"/>
              </a:ext>
            </a:extLst>
          </p:cNvPr>
          <p:cNvCxnSpPr>
            <a:cxnSpLocks/>
            <a:stCxn id="103" idx="3"/>
            <a:endCxn id="7" idx="2"/>
          </p:cNvCxnSpPr>
          <p:nvPr/>
        </p:nvCxnSpPr>
        <p:spPr>
          <a:xfrm flipV="1">
            <a:off x="3213746" y="2098342"/>
            <a:ext cx="637319" cy="3401516"/>
          </a:xfrm>
          <a:prstGeom prst="bentConnector2">
            <a:avLst/>
          </a:prstGeom>
          <a:ln>
            <a:solidFill>
              <a:srgbClr val="E06C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Rectangle 96">
            <a:extLst>
              <a:ext uri="{FF2B5EF4-FFF2-40B4-BE49-F238E27FC236}">
                <a16:creationId xmlns:a16="http://schemas.microsoft.com/office/drawing/2014/main" id="{44E52FFD-C5A1-4D45-9852-B83125DC1396}"/>
              </a:ext>
            </a:extLst>
          </p:cNvPr>
          <p:cNvSpPr/>
          <p:nvPr/>
        </p:nvSpPr>
        <p:spPr>
          <a:xfrm>
            <a:off x="3380533" y="5228648"/>
            <a:ext cx="362600" cy="215444"/>
          </a:xfrm>
          <a:prstGeom prst="rect">
            <a:avLst/>
          </a:prstGeom>
          <a:ln>
            <a:noFill/>
          </a:ln>
        </p:spPr>
        <p:txBody>
          <a:bodyPr wrap="none">
            <a:spAutoFit/>
          </a:bodyPr>
          <a:lstStyle/>
          <a:p>
            <a:r>
              <a:rPr lang="en-US" sz="800" dirty="0">
                <a:latin typeface="Arial" panose="020B0604020202020204" pitchFamily="34" charset="0"/>
                <a:cs typeface="Arial" panose="020B0604020202020204" pitchFamily="34" charset="0"/>
              </a:rPr>
              <a:t>Yes</a:t>
            </a:r>
            <a:endParaRPr lang="en-US" dirty="0"/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BBFCDCBF-2512-AD4B-8C7B-9972651C3B1C}"/>
              </a:ext>
            </a:extLst>
          </p:cNvPr>
          <p:cNvSpPr txBox="1"/>
          <p:nvPr/>
        </p:nvSpPr>
        <p:spPr>
          <a:xfrm>
            <a:off x="362553" y="5806437"/>
            <a:ext cx="900000" cy="540000"/>
          </a:xfrm>
          <a:prstGeom prst="rect">
            <a:avLst/>
          </a:prstGeom>
          <a:noFill/>
          <a:ln w="19050">
            <a:solidFill>
              <a:srgbClr val="E06CA0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sz="800" dirty="0">
                <a:latin typeface="Arial" panose="020B0604020202020204" pitchFamily="34" charset="0"/>
                <a:cs typeface="Arial" panose="020B0604020202020204" pitchFamily="34" charset="0"/>
              </a:rPr>
              <a:t>Free Rise-Up/Level-up Membership (Future)</a:t>
            </a:r>
          </a:p>
        </p:txBody>
      </p:sp>
      <p:sp>
        <p:nvSpPr>
          <p:cNvPr id="103" name="Diamond 102">
            <a:extLst>
              <a:ext uri="{FF2B5EF4-FFF2-40B4-BE49-F238E27FC236}">
                <a16:creationId xmlns:a16="http://schemas.microsoft.com/office/drawing/2014/main" id="{D84CBE73-CB18-914A-8E25-B177E4F06300}"/>
              </a:ext>
            </a:extLst>
          </p:cNvPr>
          <p:cNvSpPr>
            <a:spLocks noChangeAspect="1"/>
          </p:cNvSpPr>
          <p:nvPr/>
        </p:nvSpPr>
        <p:spPr>
          <a:xfrm>
            <a:off x="2313746" y="5049858"/>
            <a:ext cx="900000" cy="900000"/>
          </a:xfrm>
          <a:prstGeom prst="diamond">
            <a:avLst/>
          </a:prstGeom>
          <a:noFill/>
          <a:ln w="19050">
            <a:solidFill>
              <a:srgbClr val="E06CA0"/>
            </a:solidFill>
          </a:ln>
        </p:spPr>
        <p:txBody>
          <a:bodyPr wrap="square" lIns="36000" rIns="36000" rtlCol="0" anchor="ctr">
            <a:noAutofit/>
          </a:bodyPr>
          <a:lstStyle/>
          <a:p>
            <a:pPr algn="ctr"/>
            <a:r>
              <a:rPr lang="en-US" sz="700" dirty="0">
                <a:latin typeface="Arial" panose="020B0604020202020204" pitchFamily="34" charset="0"/>
                <a:cs typeface="Arial" panose="020B0604020202020204" pitchFamily="34" charset="0"/>
              </a:rPr>
              <a:t>Graduate  to Lady Loans</a:t>
            </a:r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FCF268DB-FA82-144A-A1B3-63BDBDC1273E}"/>
              </a:ext>
            </a:extLst>
          </p:cNvPr>
          <p:cNvSpPr/>
          <p:nvPr/>
        </p:nvSpPr>
        <p:spPr>
          <a:xfrm flipH="1">
            <a:off x="2045509" y="5847464"/>
            <a:ext cx="322608" cy="215444"/>
          </a:xfrm>
          <a:prstGeom prst="rect">
            <a:avLst/>
          </a:prstGeom>
          <a:ln>
            <a:noFill/>
          </a:ln>
        </p:spPr>
        <p:txBody>
          <a:bodyPr wrap="square">
            <a:spAutoFit/>
          </a:bodyPr>
          <a:lstStyle/>
          <a:p>
            <a:r>
              <a:rPr lang="en-US" sz="800" dirty="0">
                <a:latin typeface="Arial" panose="020B0604020202020204" pitchFamily="34" charset="0"/>
                <a:cs typeface="Arial" panose="020B0604020202020204" pitchFamily="34" charset="0"/>
              </a:rPr>
              <a:t>No</a:t>
            </a:r>
            <a:endParaRPr lang="en-US" dirty="0"/>
          </a:p>
        </p:txBody>
      </p:sp>
      <p:cxnSp>
        <p:nvCxnSpPr>
          <p:cNvPr id="107" name="Elbow Connector 106">
            <a:extLst>
              <a:ext uri="{FF2B5EF4-FFF2-40B4-BE49-F238E27FC236}">
                <a16:creationId xmlns:a16="http://schemas.microsoft.com/office/drawing/2014/main" id="{C6A259D7-0871-974D-A1D1-13921A4FBDC7}"/>
              </a:ext>
            </a:extLst>
          </p:cNvPr>
          <p:cNvCxnSpPr>
            <a:cxnSpLocks/>
            <a:stCxn id="77" idx="3"/>
            <a:endCxn id="103" idx="1"/>
          </p:cNvCxnSpPr>
          <p:nvPr/>
        </p:nvCxnSpPr>
        <p:spPr>
          <a:xfrm>
            <a:off x="1965659" y="4030448"/>
            <a:ext cx="348087" cy="1469410"/>
          </a:xfrm>
          <a:prstGeom prst="bentConnector3">
            <a:avLst>
              <a:gd name="adj1" fmla="val 47374"/>
            </a:avLst>
          </a:prstGeom>
          <a:ln>
            <a:solidFill>
              <a:srgbClr val="E06C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Rectangle 112">
            <a:extLst>
              <a:ext uri="{FF2B5EF4-FFF2-40B4-BE49-F238E27FC236}">
                <a16:creationId xmlns:a16="http://schemas.microsoft.com/office/drawing/2014/main" id="{ADE59B89-5D18-124F-9E84-AB37ED85101E}"/>
              </a:ext>
            </a:extLst>
          </p:cNvPr>
          <p:cNvSpPr/>
          <p:nvPr/>
        </p:nvSpPr>
        <p:spPr>
          <a:xfrm>
            <a:off x="1889872" y="3834538"/>
            <a:ext cx="362600" cy="215444"/>
          </a:xfrm>
          <a:prstGeom prst="rect">
            <a:avLst/>
          </a:prstGeom>
          <a:ln>
            <a:noFill/>
          </a:ln>
        </p:spPr>
        <p:txBody>
          <a:bodyPr wrap="none">
            <a:spAutoFit/>
          </a:bodyPr>
          <a:lstStyle/>
          <a:p>
            <a:r>
              <a:rPr lang="en-US" sz="800" dirty="0">
                <a:latin typeface="Arial" panose="020B0604020202020204" pitchFamily="34" charset="0"/>
                <a:cs typeface="Arial" panose="020B0604020202020204" pitchFamily="34" charset="0"/>
              </a:rPr>
              <a:t>Yes</a:t>
            </a:r>
            <a:endParaRPr lang="en-US" dirty="0"/>
          </a:p>
        </p:txBody>
      </p:sp>
      <p:cxnSp>
        <p:nvCxnSpPr>
          <p:cNvPr id="114" name="Elbow Connector 113">
            <a:extLst>
              <a:ext uri="{FF2B5EF4-FFF2-40B4-BE49-F238E27FC236}">
                <a16:creationId xmlns:a16="http://schemas.microsoft.com/office/drawing/2014/main" id="{A594A548-7BB9-7741-AE38-15AE3D8DC1D5}"/>
              </a:ext>
            </a:extLst>
          </p:cNvPr>
          <p:cNvCxnSpPr>
            <a:cxnSpLocks/>
            <a:stCxn id="77" idx="2"/>
            <a:endCxn id="102" idx="3"/>
          </p:cNvCxnSpPr>
          <p:nvPr/>
        </p:nvCxnSpPr>
        <p:spPr>
          <a:xfrm rot="5400000">
            <a:off x="591112" y="5151889"/>
            <a:ext cx="1595989" cy="253106"/>
          </a:xfrm>
          <a:prstGeom prst="bentConnector2">
            <a:avLst/>
          </a:prstGeom>
          <a:ln>
            <a:solidFill>
              <a:srgbClr val="E06C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Elbow Connector 114">
            <a:extLst>
              <a:ext uri="{FF2B5EF4-FFF2-40B4-BE49-F238E27FC236}">
                <a16:creationId xmlns:a16="http://schemas.microsoft.com/office/drawing/2014/main" id="{762E5D01-D97E-1D4A-9EC9-1126EC94323F}"/>
              </a:ext>
            </a:extLst>
          </p:cNvPr>
          <p:cNvCxnSpPr>
            <a:cxnSpLocks/>
            <a:stCxn id="103" idx="2"/>
            <a:endCxn id="102" idx="3"/>
          </p:cNvCxnSpPr>
          <p:nvPr/>
        </p:nvCxnSpPr>
        <p:spPr>
          <a:xfrm rot="5400000">
            <a:off x="1949861" y="5262551"/>
            <a:ext cx="126579" cy="1501193"/>
          </a:xfrm>
          <a:prstGeom prst="bentConnector2">
            <a:avLst/>
          </a:prstGeom>
          <a:ln>
            <a:solidFill>
              <a:srgbClr val="E06C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Rectangle 119">
            <a:extLst>
              <a:ext uri="{FF2B5EF4-FFF2-40B4-BE49-F238E27FC236}">
                <a16:creationId xmlns:a16="http://schemas.microsoft.com/office/drawing/2014/main" id="{6FD9970E-7A43-0A41-866B-6F22AC041B35}"/>
              </a:ext>
            </a:extLst>
          </p:cNvPr>
          <p:cNvSpPr/>
          <p:nvPr/>
        </p:nvSpPr>
        <p:spPr>
          <a:xfrm flipH="1">
            <a:off x="1522458" y="4823264"/>
            <a:ext cx="322608" cy="215444"/>
          </a:xfrm>
          <a:prstGeom prst="rect">
            <a:avLst/>
          </a:prstGeom>
          <a:ln>
            <a:noFill/>
          </a:ln>
        </p:spPr>
        <p:txBody>
          <a:bodyPr wrap="square">
            <a:spAutoFit/>
          </a:bodyPr>
          <a:lstStyle/>
          <a:p>
            <a:r>
              <a:rPr lang="en-US" sz="800" dirty="0">
                <a:latin typeface="Arial" panose="020B0604020202020204" pitchFamily="34" charset="0"/>
                <a:cs typeface="Arial" panose="020B0604020202020204" pitchFamily="34" charset="0"/>
              </a:rPr>
              <a:t>No</a:t>
            </a:r>
            <a:endParaRPr lang="en-US" dirty="0"/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8E698F6E-D2B3-9445-B52B-A5D8052D7674}"/>
              </a:ext>
            </a:extLst>
          </p:cNvPr>
          <p:cNvSpPr txBox="1"/>
          <p:nvPr/>
        </p:nvSpPr>
        <p:spPr>
          <a:xfrm>
            <a:off x="6965668" y="1558342"/>
            <a:ext cx="900000" cy="540000"/>
          </a:xfrm>
          <a:prstGeom prst="rect">
            <a:avLst/>
          </a:prstGeom>
          <a:noFill/>
          <a:ln w="19050">
            <a:solidFill>
              <a:srgbClr val="E06CA0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sz="800" dirty="0">
                <a:latin typeface="Arial" panose="020B0604020202020204" pitchFamily="34" charset="0"/>
                <a:cs typeface="Arial" panose="020B0604020202020204" pitchFamily="34" charset="0"/>
              </a:rPr>
              <a:t>Loan Paid Out</a:t>
            </a: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5BA40FB8-42D7-2D47-B901-0A51FB6E74A4}"/>
              </a:ext>
            </a:extLst>
          </p:cNvPr>
          <p:cNvSpPr txBox="1"/>
          <p:nvPr/>
        </p:nvSpPr>
        <p:spPr>
          <a:xfrm>
            <a:off x="4583391" y="5394827"/>
            <a:ext cx="900000" cy="540000"/>
          </a:xfrm>
          <a:prstGeom prst="rect">
            <a:avLst/>
          </a:prstGeom>
          <a:noFill/>
          <a:ln w="19050">
            <a:solidFill>
              <a:srgbClr val="E06CA0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sz="800" dirty="0">
                <a:latin typeface="Arial" panose="020B0604020202020204" pitchFamily="34" charset="0"/>
                <a:cs typeface="Arial" panose="020B0604020202020204" pitchFamily="34" charset="0"/>
              </a:rPr>
              <a:t>Income tax completion &amp; filing (first loan)</a:t>
            </a:r>
          </a:p>
        </p:txBody>
      </p:sp>
      <p:cxnSp>
        <p:nvCxnSpPr>
          <p:cNvPr id="149" name="Straight Arrow Connector 148">
            <a:extLst>
              <a:ext uri="{FF2B5EF4-FFF2-40B4-BE49-F238E27FC236}">
                <a16:creationId xmlns:a16="http://schemas.microsoft.com/office/drawing/2014/main" id="{A60D66DF-7C18-104F-A0E9-B9EE0394CE64}"/>
              </a:ext>
            </a:extLst>
          </p:cNvPr>
          <p:cNvCxnSpPr>
            <a:cxnSpLocks/>
            <a:stCxn id="122" idx="3"/>
            <a:endCxn id="72" idx="1"/>
          </p:cNvCxnSpPr>
          <p:nvPr/>
        </p:nvCxnSpPr>
        <p:spPr>
          <a:xfrm>
            <a:off x="5483391" y="1828342"/>
            <a:ext cx="272935" cy="0"/>
          </a:xfrm>
          <a:prstGeom prst="straightConnector1">
            <a:avLst/>
          </a:prstGeom>
          <a:ln>
            <a:solidFill>
              <a:srgbClr val="E06C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2" name="Straight Arrow Connector 151">
            <a:extLst>
              <a:ext uri="{FF2B5EF4-FFF2-40B4-BE49-F238E27FC236}">
                <a16:creationId xmlns:a16="http://schemas.microsoft.com/office/drawing/2014/main" id="{60550BD7-F8EB-CC41-B6D5-922754641590}"/>
              </a:ext>
            </a:extLst>
          </p:cNvPr>
          <p:cNvCxnSpPr>
            <a:cxnSpLocks/>
            <a:stCxn id="72" idx="3"/>
            <a:endCxn id="136" idx="1"/>
          </p:cNvCxnSpPr>
          <p:nvPr/>
        </p:nvCxnSpPr>
        <p:spPr>
          <a:xfrm>
            <a:off x="6656326" y="1828342"/>
            <a:ext cx="309342" cy="0"/>
          </a:xfrm>
          <a:prstGeom prst="straightConnector1">
            <a:avLst/>
          </a:prstGeom>
          <a:ln>
            <a:solidFill>
              <a:srgbClr val="E06C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Elbow Connector 155">
            <a:extLst>
              <a:ext uri="{FF2B5EF4-FFF2-40B4-BE49-F238E27FC236}">
                <a16:creationId xmlns:a16="http://schemas.microsoft.com/office/drawing/2014/main" id="{11723AD6-66CE-734D-AAD3-614B2814CAC5}"/>
              </a:ext>
            </a:extLst>
          </p:cNvPr>
          <p:cNvCxnSpPr>
            <a:cxnSpLocks/>
            <a:stCxn id="136" idx="0"/>
            <a:endCxn id="7" idx="0"/>
          </p:cNvCxnSpPr>
          <p:nvPr/>
        </p:nvCxnSpPr>
        <p:spPr>
          <a:xfrm rot="16200000" flipV="1">
            <a:off x="5633367" y="-223960"/>
            <a:ext cx="12700" cy="3564603"/>
          </a:xfrm>
          <a:prstGeom prst="bentConnector3">
            <a:avLst>
              <a:gd name="adj1" fmla="val 1800000"/>
            </a:avLst>
          </a:prstGeom>
          <a:ln>
            <a:solidFill>
              <a:srgbClr val="E06C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" name="Elbow Connector 158">
            <a:extLst>
              <a:ext uri="{FF2B5EF4-FFF2-40B4-BE49-F238E27FC236}">
                <a16:creationId xmlns:a16="http://schemas.microsoft.com/office/drawing/2014/main" id="{E6E4FC99-07F1-0943-A970-C44B2AC3E316}"/>
              </a:ext>
            </a:extLst>
          </p:cNvPr>
          <p:cNvCxnSpPr>
            <a:cxnSpLocks/>
            <a:stCxn id="83" idx="3"/>
            <a:endCxn id="110" idx="2"/>
          </p:cNvCxnSpPr>
          <p:nvPr/>
        </p:nvCxnSpPr>
        <p:spPr>
          <a:xfrm flipV="1">
            <a:off x="7854322" y="2215355"/>
            <a:ext cx="652935" cy="611688"/>
          </a:xfrm>
          <a:prstGeom prst="bentConnector3">
            <a:avLst>
              <a:gd name="adj1" fmla="val 50000"/>
            </a:avLst>
          </a:prstGeom>
          <a:ln>
            <a:solidFill>
              <a:srgbClr val="E06C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Elbow Connector 161">
            <a:extLst>
              <a:ext uri="{FF2B5EF4-FFF2-40B4-BE49-F238E27FC236}">
                <a16:creationId xmlns:a16="http://schemas.microsoft.com/office/drawing/2014/main" id="{6C864B83-75EF-A146-A14F-822C10271C32}"/>
              </a:ext>
            </a:extLst>
          </p:cNvPr>
          <p:cNvCxnSpPr>
            <a:cxnSpLocks/>
            <a:stCxn id="136" idx="3"/>
            <a:endCxn id="110" idx="2"/>
          </p:cNvCxnSpPr>
          <p:nvPr/>
        </p:nvCxnSpPr>
        <p:spPr>
          <a:xfrm>
            <a:off x="7865668" y="1828342"/>
            <a:ext cx="641589" cy="387013"/>
          </a:xfrm>
          <a:prstGeom prst="bentConnector3">
            <a:avLst>
              <a:gd name="adj1" fmla="val 50000"/>
            </a:avLst>
          </a:prstGeom>
          <a:ln>
            <a:solidFill>
              <a:srgbClr val="E06C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2" name="Straight Arrow Connector 171">
            <a:extLst>
              <a:ext uri="{FF2B5EF4-FFF2-40B4-BE49-F238E27FC236}">
                <a16:creationId xmlns:a16="http://schemas.microsoft.com/office/drawing/2014/main" id="{27DB34A1-CB14-6E40-908D-B8C9716F6180}"/>
              </a:ext>
            </a:extLst>
          </p:cNvPr>
          <p:cNvCxnSpPr>
            <a:cxnSpLocks/>
            <a:stCxn id="7" idx="3"/>
            <a:endCxn id="122" idx="1"/>
          </p:cNvCxnSpPr>
          <p:nvPr/>
        </p:nvCxnSpPr>
        <p:spPr>
          <a:xfrm>
            <a:off x="4301065" y="1828342"/>
            <a:ext cx="282326" cy="0"/>
          </a:xfrm>
          <a:prstGeom prst="straightConnector1">
            <a:avLst/>
          </a:prstGeom>
          <a:ln>
            <a:solidFill>
              <a:srgbClr val="E06C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Elbow Connector 174">
            <a:extLst>
              <a:ext uri="{FF2B5EF4-FFF2-40B4-BE49-F238E27FC236}">
                <a16:creationId xmlns:a16="http://schemas.microsoft.com/office/drawing/2014/main" id="{743A0ABB-BDDF-6C46-B041-D7D6344BB7A8}"/>
              </a:ext>
            </a:extLst>
          </p:cNvPr>
          <p:cNvCxnSpPr>
            <a:cxnSpLocks/>
            <a:stCxn id="7" idx="3"/>
            <a:endCxn id="47" idx="1"/>
          </p:cNvCxnSpPr>
          <p:nvPr/>
        </p:nvCxnSpPr>
        <p:spPr>
          <a:xfrm>
            <a:off x="4301065" y="1828342"/>
            <a:ext cx="282326" cy="970123"/>
          </a:xfrm>
          <a:prstGeom prst="bentConnector3">
            <a:avLst>
              <a:gd name="adj1" fmla="val 50000"/>
            </a:avLst>
          </a:prstGeom>
          <a:ln>
            <a:solidFill>
              <a:srgbClr val="E06C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8" name="Elbow Connector 177">
            <a:extLst>
              <a:ext uri="{FF2B5EF4-FFF2-40B4-BE49-F238E27FC236}">
                <a16:creationId xmlns:a16="http://schemas.microsoft.com/office/drawing/2014/main" id="{946A9457-2693-A449-BA8B-B8EBE33EB65F}"/>
              </a:ext>
            </a:extLst>
          </p:cNvPr>
          <p:cNvCxnSpPr>
            <a:cxnSpLocks/>
            <a:stCxn id="7" idx="3"/>
            <a:endCxn id="48" idx="1"/>
          </p:cNvCxnSpPr>
          <p:nvPr/>
        </p:nvCxnSpPr>
        <p:spPr>
          <a:xfrm>
            <a:off x="4301065" y="1828342"/>
            <a:ext cx="282326" cy="1665923"/>
          </a:xfrm>
          <a:prstGeom prst="bentConnector3">
            <a:avLst>
              <a:gd name="adj1" fmla="val 50000"/>
            </a:avLst>
          </a:prstGeom>
          <a:ln>
            <a:solidFill>
              <a:srgbClr val="E06C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1" name="Elbow Connector 180">
            <a:extLst>
              <a:ext uri="{FF2B5EF4-FFF2-40B4-BE49-F238E27FC236}">
                <a16:creationId xmlns:a16="http://schemas.microsoft.com/office/drawing/2014/main" id="{D5F3C46A-B197-DB42-BAE5-698628763302}"/>
              </a:ext>
            </a:extLst>
          </p:cNvPr>
          <p:cNvCxnSpPr>
            <a:cxnSpLocks/>
            <a:stCxn id="7" idx="3"/>
            <a:endCxn id="49" idx="1"/>
          </p:cNvCxnSpPr>
          <p:nvPr/>
        </p:nvCxnSpPr>
        <p:spPr>
          <a:xfrm>
            <a:off x="4301065" y="1828342"/>
            <a:ext cx="282326" cy="2359749"/>
          </a:xfrm>
          <a:prstGeom prst="bentConnector3">
            <a:avLst>
              <a:gd name="adj1" fmla="val 50000"/>
            </a:avLst>
          </a:prstGeom>
          <a:ln>
            <a:solidFill>
              <a:srgbClr val="E06C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4" name="Elbow Connector 183">
            <a:extLst>
              <a:ext uri="{FF2B5EF4-FFF2-40B4-BE49-F238E27FC236}">
                <a16:creationId xmlns:a16="http://schemas.microsoft.com/office/drawing/2014/main" id="{6582100E-ADE6-CE46-9BC4-E42958C85872}"/>
              </a:ext>
            </a:extLst>
          </p:cNvPr>
          <p:cNvCxnSpPr>
            <a:cxnSpLocks/>
            <a:stCxn id="7" idx="3"/>
            <a:endCxn id="50" idx="1"/>
          </p:cNvCxnSpPr>
          <p:nvPr/>
        </p:nvCxnSpPr>
        <p:spPr>
          <a:xfrm>
            <a:off x="4301065" y="1828342"/>
            <a:ext cx="282326" cy="3115770"/>
          </a:xfrm>
          <a:prstGeom prst="bentConnector3">
            <a:avLst>
              <a:gd name="adj1" fmla="val 50000"/>
            </a:avLst>
          </a:prstGeom>
          <a:ln>
            <a:solidFill>
              <a:srgbClr val="E06C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Elbow Connector 186">
            <a:extLst>
              <a:ext uri="{FF2B5EF4-FFF2-40B4-BE49-F238E27FC236}">
                <a16:creationId xmlns:a16="http://schemas.microsoft.com/office/drawing/2014/main" id="{97FBF835-5AFC-ED43-9C54-A588A8CEF5A9}"/>
              </a:ext>
            </a:extLst>
          </p:cNvPr>
          <p:cNvCxnSpPr>
            <a:cxnSpLocks/>
            <a:stCxn id="7" idx="3"/>
            <a:endCxn id="140" idx="1"/>
          </p:cNvCxnSpPr>
          <p:nvPr/>
        </p:nvCxnSpPr>
        <p:spPr>
          <a:xfrm>
            <a:off x="4301065" y="1828342"/>
            <a:ext cx="282326" cy="3836485"/>
          </a:xfrm>
          <a:prstGeom prst="bentConnector3">
            <a:avLst>
              <a:gd name="adj1" fmla="val 50000"/>
            </a:avLst>
          </a:prstGeom>
          <a:ln>
            <a:solidFill>
              <a:srgbClr val="E06C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914140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0251D1D4-6636-B747-956E-CA164F62BA97}"/>
              </a:ext>
            </a:extLst>
          </p:cNvPr>
          <p:cNvSpPr txBox="1"/>
          <p:nvPr/>
        </p:nvSpPr>
        <p:spPr>
          <a:xfrm>
            <a:off x="350453" y="249748"/>
            <a:ext cx="3850486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b="1" dirty="0">
                <a:solidFill>
                  <a:srgbClr val="E06CA0"/>
                </a:solidFill>
                <a:latin typeface="Arial Black"/>
              </a:rPr>
              <a:t>Strategy Execution Plan  </a:t>
            </a:r>
            <a:endParaRPr lang="en-US" b="1" dirty="0">
              <a:solidFill>
                <a:srgbClr val="E06CA0"/>
              </a:solidFill>
              <a:latin typeface="Arial Black"/>
              <a:cs typeface="Calibri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6531B59-9A6B-9E47-A505-DB2CCB1254A2}"/>
              </a:ext>
            </a:extLst>
          </p:cNvPr>
          <p:cNvSpPr txBox="1"/>
          <p:nvPr/>
        </p:nvSpPr>
        <p:spPr>
          <a:xfrm>
            <a:off x="5939571" y="249747"/>
            <a:ext cx="274320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r"/>
            <a:r>
              <a:rPr lang="en-US" b="1" dirty="0">
                <a:solidFill>
                  <a:srgbClr val="E06CA0"/>
                </a:solidFill>
                <a:latin typeface="Arial Black"/>
              </a:rPr>
              <a:t>Lady Loans v1.2</a:t>
            </a:r>
            <a:endParaRPr lang="en-US" dirty="0">
              <a:solidFill>
                <a:srgbClr val="E06CA0"/>
              </a:solidFill>
              <a:cs typeface="Calibri" panose="020F0502020204030204"/>
            </a:endParaRPr>
          </a:p>
        </p:txBody>
      </p:sp>
      <p:graphicFrame>
        <p:nvGraphicFramePr>
          <p:cNvPr id="14" name="Table 4">
            <a:extLst>
              <a:ext uri="{FF2B5EF4-FFF2-40B4-BE49-F238E27FC236}">
                <a16:creationId xmlns:a16="http://schemas.microsoft.com/office/drawing/2014/main" id="{BF37D31B-0BAB-4844-8C37-E8FF61983DA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56751467"/>
              </p:ext>
            </p:extLst>
          </p:nvPr>
        </p:nvGraphicFramePr>
        <p:xfrm>
          <a:off x="4541816" y="737439"/>
          <a:ext cx="4139976" cy="5991264"/>
        </p:xfrm>
        <a:graphic>
          <a:graphicData uri="http://schemas.openxmlformats.org/drawingml/2006/table">
            <a:tbl>
              <a:tblPr bandRow="1">
                <a:tableStyleId>{BC89EF96-8CEA-46FF-86C4-4CE0E7609802}</a:tableStyleId>
              </a:tblPr>
              <a:tblGrid>
                <a:gridCol w="2481836">
                  <a:extLst>
                    <a:ext uri="{9D8B030D-6E8A-4147-A177-3AD203B41FA5}">
                      <a16:colId xmlns:a16="http://schemas.microsoft.com/office/drawing/2014/main" val="857039900"/>
                    </a:ext>
                  </a:extLst>
                </a:gridCol>
                <a:gridCol w="829070">
                  <a:extLst>
                    <a:ext uri="{9D8B030D-6E8A-4147-A177-3AD203B41FA5}">
                      <a16:colId xmlns:a16="http://schemas.microsoft.com/office/drawing/2014/main" val="1911413455"/>
                    </a:ext>
                  </a:extLst>
                </a:gridCol>
                <a:gridCol w="829070">
                  <a:extLst>
                    <a:ext uri="{9D8B030D-6E8A-4147-A177-3AD203B41FA5}">
                      <a16:colId xmlns:a16="http://schemas.microsoft.com/office/drawing/2014/main" val="1047004607"/>
                    </a:ext>
                  </a:extLst>
                </a:gridCol>
              </a:tblGrid>
              <a:tr h="326760">
                <a:tc>
                  <a:txBody>
                    <a:bodyPr/>
                    <a:lstStyle/>
                    <a:p>
                      <a:r>
                        <a:rPr lang="en-US" sz="1000" b="1" u="sng" kern="1200" dirty="0">
                          <a:solidFill>
                            <a:schemeClr val="tx1"/>
                          </a:solidFill>
                          <a:latin typeface="Arial"/>
                          <a:ea typeface="+mn-ea"/>
                          <a:cs typeface="Arial"/>
                        </a:rPr>
                        <a:t>2021 Quarterly Priorities </a:t>
                      </a:r>
                      <a:endParaRPr lang="en-US" sz="1000" b="0" u="none" kern="1200" dirty="0">
                        <a:solidFill>
                          <a:schemeClr val="tx1"/>
                        </a:solidFill>
                        <a:latin typeface="Arial"/>
                        <a:ea typeface="+mn-ea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 u="sng" kern="1200" dirty="0">
                          <a:solidFill>
                            <a:schemeClr val="tx1"/>
                          </a:solidFill>
                          <a:latin typeface="Arial"/>
                          <a:ea typeface="+mn-ea"/>
                          <a:cs typeface="Arial"/>
                        </a:rPr>
                        <a:t>2021 Quarterly Metrics</a:t>
                      </a:r>
                    </a:p>
                  </a:txBody>
                  <a:tcPr>
                    <a:lnL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0" b="1" u="sng" kern="1200" dirty="0">
                        <a:solidFill>
                          <a:schemeClr val="tx1"/>
                        </a:solidFill>
                        <a:latin typeface="Arial"/>
                        <a:ea typeface="+mn-ea"/>
                        <a:cs typeface="Arial"/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45030224"/>
                  </a:ext>
                </a:extLst>
              </a:tr>
              <a:tr h="285165">
                <a:tc rowSpan="5">
                  <a:txBody>
                    <a:bodyPr/>
                    <a:lstStyle/>
                    <a:p>
                      <a:r>
                        <a:rPr lang="en-US" sz="1000" b="1" u="none" kern="1200" dirty="0">
                          <a:solidFill>
                            <a:schemeClr val="tx1"/>
                          </a:solidFill>
                          <a:latin typeface="Arial"/>
                          <a:ea typeface="+mn-ea"/>
                          <a:cs typeface="Arial"/>
                        </a:rPr>
                        <a:t>Q1</a:t>
                      </a:r>
                    </a:p>
                    <a:p>
                      <a:pPr marL="171450" indent="-171450">
                        <a:buFontTx/>
                        <a:buChar char="-"/>
                      </a:pPr>
                      <a:r>
                        <a:rPr lang="en-US" sz="1000" b="0" u="none" kern="1200" dirty="0">
                          <a:solidFill>
                            <a:schemeClr val="tx1"/>
                          </a:solidFill>
                          <a:latin typeface="Arial"/>
                          <a:ea typeface="+mn-ea"/>
                          <a:cs typeface="Arial"/>
                        </a:rPr>
                        <a:t>93 New Ladies </a:t>
                      </a:r>
                    </a:p>
                    <a:p>
                      <a:pPr marL="171450" indent="-171450">
                        <a:buFontTx/>
                        <a:buChar char="-"/>
                      </a:pPr>
                      <a:r>
                        <a:rPr lang="en-US" sz="1000" b="0" u="none" kern="1200" dirty="0">
                          <a:solidFill>
                            <a:schemeClr val="tx1"/>
                          </a:solidFill>
                          <a:latin typeface="Arial"/>
                          <a:ea typeface="+mn-ea"/>
                          <a:cs typeface="Arial"/>
                        </a:rPr>
                        <a:t>Introduce performance pay </a:t>
                      </a:r>
                    </a:p>
                    <a:p>
                      <a:pPr marL="171450" indent="-171450">
                        <a:buFontTx/>
                        <a:buChar char="-"/>
                      </a:pPr>
                      <a:r>
                        <a:rPr lang="en-US" sz="1000" b="0" u="none" kern="1200" dirty="0">
                          <a:solidFill>
                            <a:schemeClr val="tx1"/>
                          </a:solidFill>
                          <a:latin typeface="Arial"/>
                          <a:ea typeface="+mn-ea"/>
                          <a:cs typeface="Arial"/>
                        </a:rPr>
                        <a:t>Add CosignSimple to loan offerings</a:t>
                      </a:r>
                    </a:p>
                    <a:p>
                      <a:pPr marL="171450" indent="-171450">
                        <a:buFontTx/>
                        <a:buChar char="-"/>
                      </a:pPr>
                      <a:r>
                        <a:rPr lang="en-US" sz="1000" b="0" u="none" kern="1200" dirty="0">
                          <a:solidFill>
                            <a:schemeClr val="tx1"/>
                          </a:solidFill>
                          <a:latin typeface="Arial"/>
                          <a:ea typeface="+mn-ea"/>
                          <a:cs typeface="Arial"/>
                        </a:rPr>
                        <a:t>Move employees, loans and clients from Branch 606 to Lady Loans</a:t>
                      </a:r>
                    </a:p>
                  </a:txBody>
                  <a:tcPr>
                    <a:lnL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 u="none" kern="1200" dirty="0">
                          <a:solidFill>
                            <a:schemeClr val="tx1"/>
                          </a:solidFill>
                          <a:latin typeface="Arial"/>
                          <a:ea typeface="+mn-ea"/>
                          <a:cs typeface="Arial"/>
                        </a:rPr>
                        <a:t>Ladies</a:t>
                      </a:r>
                    </a:p>
                  </a:txBody>
                  <a:tcPr>
                    <a:lnL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0" u="none" kern="1200" dirty="0">
                          <a:solidFill>
                            <a:schemeClr val="tx1"/>
                          </a:solidFill>
                          <a:latin typeface="Arial"/>
                          <a:ea typeface="+mn-ea"/>
                          <a:cs typeface="Arial"/>
                        </a:rPr>
                        <a:t>306</a:t>
                      </a:r>
                    </a:p>
                  </a:txBody>
                  <a:tcPr>
                    <a:lnL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16162847"/>
                  </a:ext>
                </a:extLst>
              </a:tr>
              <a:tr h="285165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 u="none" kern="1200" dirty="0">
                          <a:solidFill>
                            <a:schemeClr val="tx1"/>
                          </a:solidFill>
                          <a:latin typeface="Arial"/>
                          <a:ea typeface="+mn-ea"/>
                          <a:cs typeface="Arial"/>
                        </a:rPr>
                        <a:t>Villages</a:t>
                      </a:r>
                    </a:p>
                  </a:txBody>
                  <a:tcPr>
                    <a:lnL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0" u="none" kern="1200" dirty="0">
                          <a:solidFill>
                            <a:schemeClr val="tx1"/>
                          </a:solidFill>
                          <a:latin typeface="Arial"/>
                          <a:ea typeface="+mn-ea"/>
                          <a:cs typeface="Arial"/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0419423"/>
                  </a:ext>
                </a:extLst>
              </a:tr>
              <a:tr h="285165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 u="none" kern="1200" dirty="0">
                          <a:solidFill>
                            <a:schemeClr val="tx1"/>
                          </a:solidFill>
                          <a:latin typeface="Arial"/>
                          <a:ea typeface="+mn-ea"/>
                          <a:cs typeface="Arial"/>
                        </a:rPr>
                        <a:t>Loans </a:t>
                      </a:r>
                    </a:p>
                  </a:txBody>
                  <a:tcPr>
                    <a:lnL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0" u="none" kern="1200" dirty="0">
                          <a:solidFill>
                            <a:schemeClr val="tx1"/>
                          </a:solidFill>
                          <a:latin typeface="Arial"/>
                          <a:ea typeface="+mn-ea"/>
                          <a:cs typeface="Arial"/>
                        </a:rPr>
                        <a:t>$985,000</a:t>
                      </a:r>
                    </a:p>
                  </a:txBody>
                  <a:tcPr>
                    <a:lnL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09587365"/>
                  </a:ext>
                </a:extLst>
              </a:tr>
              <a:tr h="285165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 u="none" kern="1200" dirty="0">
                          <a:solidFill>
                            <a:schemeClr val="tx1"/>
                          </a:solidFill>
                          <a:latin typeface="Arial"/>
                          <a:ea typeface="+mn-ea"/>
                          <a:cs typeface="Arial"/>
                        </a:rPr>
                        <a:t>Revenue</a:t>
                      </a:r>
                    </a:p>
                  </a:txBody>
                  <a:tcPr>
                    <a:lnL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0" u="none" kern="1200" dirty="0">
                          <a:solidFill>
                            <a:schemeClr val="tx1"/>
                          </a:solidFill>
                          <a:latin typeface="Arial"/>
                          <a:ea typeface="+mn-ea"/>
                          <a:cs typeface="Arial"/>
                        </a:rPr>
                        <a:t>$150,000</a:t>
                      </a:r>
                    </a:p>
                  </a:txBody>
                  <a:tcPr>
                    <a:lnL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2663110"/>
                  </a:ext>
                </a:extLst>
              </a:tr>
              <a:tr h="285165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 u="none" kern="1200" dirty="0">
                          <a:solidFill>
                            <a:schemeClr val="tx1"/>
                          </a:solidFill>
                          <a:latin typeface="Arial"/>
                          <a:ea typeface="+mn-ea"/>
                          <a:cs typeface="Arial"/>
                        </a:rPr>
                        <a:t>EBITA</a:t>
                      </a:r>
                    </a:p>
                  </a:txBody>
                  <a:tcPr>
                    <a:lnL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0" u="none" kern="1200" dirty="0">
                          <a:solidFill>
                            <a:schemeClr val="tx1"/>
                          </a:solidFill>
                          <a:latin typeface="Arial"/>
                          <a:ea typeface="+mn-ea"/>
                          <a:cs typeface="Arial"/>
                        </a:rPr>
                        <a:t>$12,000</a:t>
                      </a:r>
                    </a:p>
                  </a:txBody>
                  <a:tcPr>
                    <a:lnL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36124936"/>
                  </a:ext>
                </a:extLst>
              </a:tr>
              <a:tr h="285165">
                <a:tc rowSpan="5">
                  <a:txBody>
                    <a:bodyPr/>
                    <a:lstStyle/>
                    <a:p>
                      <a:r>
                        <a:rPr lang="en-US" sz="1000" b="1" u="none" kern="1200" dirty="0">
                          <a:solidFill>
                            <a:schemeClr val="tx1"/>
                          </a:solidFill>
                          <a:latin typeface="Arial"/>
                          <a:ea typeface="+mn-ea"/>
                          <a:cs typeface="Arial"/>
                        </a:rPr>
                        <a:t>Q2</a:t>
                      </a:r>
                    </a:p>
                    <a:p>
                      <a:pPr marL="171450" indent="-171450">
                        <a:buFontTx/>
                        <a:buChar char="-"/>
                      </a:pPr>
                      <a:r>
                        <a:rPr lang="en-US" sz="1000" b="0" u="none" kern="1200" dirty="0">
                          <a:solidFill>
                            <a:schemeClr val="tx1"/>
                          </a:solidFill>
                          <a:latin typeface="Arial"/>
                          <a:ea typeface="+mn-ea"/>
                          <a:cs typeface="Arial"/>
                        </a:rPr>
                        <a:t>126 New Ladies</a:t>
                      </a:r>
                    </a:p>
                    <a:p>
                      <a:pPr marL="171450" indent="-171450">
                        <a:buFontTx/>
                        <a:buChar char="-"/>
                      </a:pPr>
                      <a:r>
                        <a:rPr lang="en-US" sz="1000" b="0" u="none" kern="1200" dirty="0">
                          <a:solidFill>
                            <a:schemeClr val="tx1"/>
                          </a:solidFill>
                          <a:latin typeface="Arial"/>
                          <a:ea typeface="+mn-ea"/>
                          <a:cs typeface="Arial"/>
                        </a:rPr>
                        <a:t>Develop training process, launch second village (YEG) &amp; hire Mayor</a:t>
                      </a:r>
                    </a:p>
                    <a:p>
                      <a:pPr marL="171450" indent="-171450">
                        <a:buFontTx/>
                        <a:buChar char="-"/>
                      </a:pPr>
                      <a:r>
                        <a:rPr lang="en-US" sz="1000" b="0" u="none" kern="1200" dirty="0">
                          <a:solidFill>
                            <a:schemeClr val="tx1"/>
                          </a:solidFill>
                          <a:latin typeface="Arial"/>
                          <a:ea typeface="+mn-ea"/>
                          <a:cs typeface="Arial"/>
                        </a:rPr>
                        <a:t>Launch new website</a:t>
                      </a:r>
                    </a:p>
                  </a:txBody>
                  <a:tcPr>
                    <a:lnL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 u="none" kern="1200" dirty="0">
                          <a:solidFill>
                            <a:schemeClr val="tx1"/>
                          </a:solidFill>
                          <a:latin typeface="Arial"/>
                          <a:ea typeface="+mn-ea"/>
                          <a:cs typeface="Arial"/>
                        </a:rPr>
                        <a:t>Ladies</a:t>
                      </a:r>
                    </a:p>
                  </a:txBody>
                  <a:tcPr>
                    <a:lnL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0" u="none" kern="1200" dirty="0">
                          <a:solidFill>
                            <a:schemeClr val="tx1"/>
                          </a:solidFill>
                          <a:latin typeface="Arial"/>
                          <a:ea typeface="+mn-ea"/>
                          <a:cs typeface="Arial"/>
                        </a:rPr>
                        <a:t>432</a:t>
                      </a:r>
                    </a:p>
                  </a:txBody>
                  <a:tcPr>
                    <a:lnL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44790231"/>
                  </a:ext>
                </a:extLst>
              </a:tr>
              <a:tr h="285165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 u="none" kern="1200" dirty="0">
                          <a:solidFill>
                            <a:schemeClr val="tx1"/>
                          </a:solidFill>
                          <a:latin typeface="Arial"/>
                          <a:ea typeface="+mn-ea"/>
                          <a:cs typeface="Arial"/>
                        </a:rPr>
                        <a:t>Villages</a:t>
                      </a:r>
                    </a:p>
                  </a:txBody>
                  <a:tcPr>
                    <a:lnL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0" u="none" kern="1200" dirty="0">
                          <a:solidFill>
                            <a:schemeClr val="tx1"/>
                          </a:solidFill>
                          <a:latin typeface="Arial"/>
                          <a:ea typeface="+mn-ea"/>
                          <a:cs typeface="Arial"/>
                        </a:rPr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9313776"/>
                  </a:ext>
                </a:extLst>
              </a:tr>
              <a:tr h="246369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 u="none" kern="1200" dirty="0">
                          <a:solidFill>
                            <a:schemeClr val="tx1"/>
                          </a:solidFill>
                          <a:latin typeface="Arial"/>
                          <a:ea typeface="+mn-ea"/>
                          <a:cs typeface="Arial"/>
                        </a:rPr>
                        <a:t>Loans </a:t>
                      </a:r>
                    </a:p>
                  </a:txBody>
                  <a:tcPr>
                    <a:lnL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0" u="none" kern="1200" dirty="0">
                          <a:solidFill>
                            <a:schemeClr val="tx1"/>
                          </a:solidFill>
                          <a:latin typeface="Arial"/>
                          <a:ea typeface="+mn-ea"/>
                          <a:cs typeface="Arial"/>
                        </a:rPr>
                        <a:t>$1,400,000</a:t>
                      </a:r>
                    </a:p>
                  </a:txBody>
                  <a:tcPr>
                    <a:lnL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8122650"/>
                  </a:ext>
                </a:extLst>
              </a:tr>
              <a:tr h="285165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 u="none" kern="1200" dirty="0">
                          <a:solidFill>
                            <a:schemeClr val="tx1"/>
                          </a:solidFill>
                          <a:latin typeface="Arial"/>
                          <a:ea typeface="+mn-ea"/>
                          <a:cs typeface="Arial"/>
                        </a:rPr>
                        <a:t>Revenue</a:t>
                      </a:r>
                    </a:p>
                  </a:txBody>
                  <a:tcPr>
                    <a:lnL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0" u="none" kern="1200" dirty="0">
                          <a:solidFill>
                            <a:schemeClr val="tx1"/>
                          </a:solidFill>
                          <a:latin typeface="Arial"/>
                          <a:ea typeface="+mn-ea"/>
                          <a:cs typeface="Arial"/>
                        </a:rPr>
                        <a:t>$215,000</a:t>
                      </a:r>
                    </a:p>
                  </a:txBody>
                  <a:tcPr>
                    <a:lnL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7878668"/>
                  </a:ext>
                </a:extLst>
              </a:tr>
              <a:tr h="285165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 u="none" kern="1200" dirty="0">
                          <a:solidFill>
                            <a:schemeClr val="tx1"/>
                          </a:solidFill>
                          <a:latin typeface="Arial"/>
                          <a:ea typeface="+mn-ea"/>
                          <a:cs typeface="Arial"/>
                        </a:rPr>
                        <a:t>EBITA</a:t>
                      </a:r>
                    </a:p>
                  </a:txBody>
                  <a:tcPr>
                    <a:lnL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0" u="none" kern="1200" dirty="0">
                          <a:solidFill>
                            <a:schemeClr val="tx1"/>
                          </a:solidFill>
                          <a:latin typeface="Arial"/>
                          <a:ea typeface="+mn-ea"/>
                          <a:cs typeface="Arial"/>
                        </a:rPr>
                        <a:t>$20,000</a:t>
                      </a:r>
                    </a:p>
                  </a:txBody>
                  <a:tcPr>
                    <a:lnL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76296168"/>
                  </a:ext>
                </a:extLst>
              </a:tr>
              <a:tr h="285165">
                <a:tc rowSpan="5">
                  <a:txBody>
                    <a:bodyPr/>
                    <a:lstStyle/>
                    <a:p>
                      <a:r>
                        <a:rPr lang="en-US" sz="1000" b="1" u="none" kern="1200" dirty="0">
                          <a:solidFill>
                            <a:schemeClr val="tx1"/>
                          </a:solidFill>
                          <a:latin typeface="Arial"/>
                          <a:ea typeface="+mn-ea"/>
                          <a:cs typeface="Arial"/>
                        </a:rPr>
                        <a:t>Q3</a:t>
                      </a:r>
                    </a:p>
                    <a:p>
                      <a:pPr marL="171450" indent="-171450">
                        <a:buFontTx/>
                        <a:buChar char="-"/>
                      </a:pPr>
                      <a:r>
                        <a:rPr lang="en-US" sz="1000" b="0" u="none" kern="1200" dirty="0">
                          <a:solidFill>
                            <a:schemeClr val="tx1"/>
                          </a:solidFill>
                          <a:latin typeface="Arial"/>
                          <a:ea typeface="+mn-ea"/>
                          <a:cs typeface="Arial"/>
                        </a:rPr>
                        <a:t>170 New Ladies</a:t>
                      </a:r>
                    </a:p>
                    <a:p>
                      <a:pPr marL="171450" indent="-171450">
                        <a:buFontTx/>
                        <a:buChar char="-"/>
                      </a:pPr>
                      <a:r>
                        <a:rPr lang="en-US" sz="1000" b="0" u="none" kern="1200" dirty="0">
                          <a:solidFill>
                            <a:schemeClr val="tx1"/>
                          </a:solidFill>
                          <a:latin typeface="Arial"/>
                          <a:ea typeface="+mn-ea"/>
                          <a:cs typeface="Arial"/>
                        </a:rPr>
                        <a:t>New marketing strategy, brand and assets</a:t>
                      </a:r>
                    </a:p>
                    <a:p>
                      <a:pPr marL="171450" indent="-171450">
                        <a:buFontTx/>
                        <a:buChar char="-"/>
                      </a:pPr>
                      <a:r>
                        <a:rPr lang="en-US" sz="1000" b="0" u="none" kern="1200" dirty="0">
                          <a:solidFill>
                            <a:schemeClr val="tx1"/>
                          </a:solidFill>
                          <a:latin typeface="Arial"/>
                          <a:ea typeface="+mn-ea"/>
                          <a:cs typeface="Arial"/>
                        </a:rPr>
                        <a:t>Hire Foundation Manager and Deputy for 1st Mayor </a:t>
                      </a: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en-US" sz="1000" b="0" u="none" kern="1200" dirty="0">
                          <a:solidFill>
                            <a:schemeClr val="tx1"/>
                          </a:solidFill>
                          <a:latin typeface="Arial"/>
                          <a:ea typeface="+mn-ea"/>
                          <a:cs typeface="Arial"/>
                        </a:rPr>
                        <a:t>Build Foundation structure and strategy</a:t>
                      </a:r>
                    </a:p>
                  </a:txBody>
                  <a:tcPr>
                    <a:lnL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 u="none" kern="1200" dirty="0">
                          <a:solidFill>
                            <a:schemeClr val="tx1"/>
                          </a:solidFill>
                          <a:latin typeface="Arial"/>
                          <a:ea typeface="+mn-ea"/>
                          <a:cs typeface="Arial"/>
                        </a:rPr>
                        <a:t>Ladies</a:t>
                      </a:r>
                    </a:p>
                  </a:txBody>
                  <a:tcPr>
                    <a:lnL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0" u="none" kern="1200" dirty="0">
                          <a:solidFill>
                            <a:schemeClr val="tx1"/>
                          </a:solidFill>
                          <a:latin typeface="Arial"/>
                          <a:ea typeface="+mn-ea"/>
                          <a:cs typeface="Arial"/>
                        </a:rPr>
                        <a:t>601</a:t>
                      </a:r>
                    </a:p>
                  </a:txBody>
                  <a:tcPr>
                    <a:lnL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36424505"/>
                  </a:ext>
                </a:extLst>
              </a:tr>
              <a:tr h="285165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 u="none" kern="1200" dirty="0">
                          <a:solidFill>
                            <a:schemeClr val="tx1"/>
                          </a:solidFill>
                          <a:latin typeface="Arial"/>
                          <a:ea typeface="+mn-ea"/>
                          <a:cs typeface="Arial"/>
                        </a:rPr>
                        <a:t>Villages</a:t>
                      </a:r>
                    </a:p>
                  </a:txBody>
                  <a:tcPr>
                    <a:lnL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0" u="none" kern="1200" dirty="0">
                          <a:solidFill>
                            <a:schemeClr val="tx1"/>
                          </a:solidFill>
                          <a:latin typeface="Arial"/>
                          <a:ea typeface="+mn-ea"/>
                          <a:cs typeface="Arial"/>
                        </a:rPr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80669512"/>
                  </a:ext>
                </a:extLst>
              </a:tr>
              <a:tr h="285165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 u="none" kern="1200" dirty="0">
                          <a:solidFill>
                            <a:schemeClr val="tx1"/>
                          </a:solidFill>
                          <a:latin typeface="Arial"/>
                          <a:ea typeface="+mn-ea"/>
                          <a:cs typeface="Arial"/>
                        </a:rPr>
                        <a:t>Loans </a:t>
                      </a:r>
                    </a:p>
                  </a:txBody>
                  <a:tcPr>
                    <a:lnL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0" u="none" kern="1200" dirty="0">
                          <a:solidFill>
                            <a:schemeClr val="tx1"/>
                          </a:solidFill>
                          <a:latin typeface="Arial"/>
                          <a:ea typeface="+mn-ea"/>
                          <a:cs typeface="Arial"/>
                        </a:rPr>
                        <a:t>$1,900,000</a:t>
                      </a:r>
                    </a:p>
                  </a:txBody>
                  <a:tcPr>
                    <a:lnL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49659510"/>
                  </a:ext>
                </a:extLst>
              </a:tr>
              <a:tr h="285165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 u="none" kern="1200" dirty="0">
                          <a:solidFill>
                            <a:schemeClr val="tx1"/>
                          </a:solidFill>
                          <a:latin typeface="Arial"/>
                          <a:ea typeface="+mn-ea"/>
                          <a:cs typeface="Arial"/>
                        </a:rPr>
                        <a:t>Revenue</a:t>
                      </a:r>
                    </a:p>
                  </a:txBody>
                  <a:tcPr>
                    <a:lnL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0" u="none" kern="1200" dirty="0">
                          <a:solidFill>
                            <a:schemeClr val="tx1"/>
                          </a:solidFill>
                          <a:latin typeface="Arial"/>
                          <a:ea typeface="+mn-ea"/>
                          <a:cs typeface="Arial"/>
                        </a:rPr>
                        <a:t>$300,000</a:t>
                      </a:r>
                    </a:p>
                  </a:txBody>
                  <a:tcPr>
                    <a:lnL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93236375"/>
                  </a:ext>
                </a:extLst>
              </a:tr>
              <a:tr h="285165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 u="none" kern="1200" dirty="0">
                          <a:solidFill>
                            <a:schemeClr val="tx1"/>
                          </a:solidFill>
                          <a:latin typeface="Arial"/>
                          <a:ea typeface="+mn-ea"/>
                          <a:cs typeface="Arial"/>
                        </a:rPr>
                        <a:t>EBITA</a:t>
                      </a:r>
                    </a:p>
                  </a:txBody>
                  <a:tcPr>
                    <a:lnL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0" u="none" kern="1200" dirty="0">
                          <a:solidFill>
                            <a:schemeClr val="tx1"/>
                          </a:solidFill>
                          <a:latin typeface="Arial"/>
                          <a:ea typeface="+mn-ea"/>
                          <a:cs typeface="Arial"/>
                        </a:rPr>
                        <a:t>$45,000</a:t>
                      </a:r>
                    </a:p>
                  </a:txBody>
                  <a:tcPr>
                    <a:lnL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15262905"/>
                  </a:ext>
                </a:extLst>
              </a:tr>
              <a:tr h="285165">
                <a:tc rowSpan="5">
                  <a:txBody>
                    <a:bodyPr/>
                    <a:lstStyle/>
                    <a:p>
                      <a:r>
                        <a:rPr lang="en-US" sz="1000" b="1" u="none" kern="1200" dirty="0">
                          <a:solidFill>
                            <a:schemeClr val="tx1"/>
                          </a:solidFill>
                          <a:latin typeface="Arial"/>
                          <a:ea typeface="+mn-ea"/>
                          <a:cs typeface="Arial"/>
                        </a:rPr>
                        <a:t>Q4</a:t>
                      </a:r>
                    </a:p>
                    <a:p>
                      <a:pPr marL="171450" indent="-171450">
                        <a:buFontTx/>
                        <a:buChar char="-"/>
                      </a:pPr>
                      <a:r>
                        <a:rPr lang="en-US" sz="1000" b="0" u="none" kern="1200" dirty="0">
                          <a:solidFill>
                            <a:schemeClr val="tx1"/>
                          </a:solidFill>
                          <a:latin typeface="Arial"/>
                          <a:ea typeface="+mn-ea"/>
                          <a:cs typeface="Arial"/>
                        </a:rPr>
                        <a:t>200 New Ladies</a:t>
                      </a:r>
                    </a:p>
                    <a:p>
                      <a:pPr marL="171450" indent="-171450">
                        <a:buFontTx/>
                        <a:buChar char="-"/>
                      </a:pPr>
                      <a:r>
                        <a:rPr lang="en-US" sz="1000" b="0" u="none" kern="1200" dirty="0">
                          <a:solidFill>
                            <a:schemeClr val="tx1"/>
                          </a:solidFill>
                          <a:latin typeface="Arial"/>
                          <a:ea typeface="+mn-ea"/>
                          <a:cs typeface="Arial"/>
                        </a:rPr>
                        <a:t>Launch third Village (US) and hire Mayor</a:t>
                      </a:r>
                    </a:p>
                    <a:p>
                      <a:pPr marL="171450" indent="-171450">
                        <a:buFontTx/>
                        <a:buChar char="-"/>
                      </a:pPr>
                      <a:r>
                        <a:rPr lang="en-US" sz="1000" b="0" u="none" kern="1200" dirty="0">
                          <a:solidFill>
                            <a:schemeClr val="tx1"/>
                          </a:solidFill>
                          <a:latin typeface="Arial"/>
                          <a:ea typeface="+mn-ea"/>
                          <a:cs typeface="Arial"/>
                        </a:rPr>
                        <a:t>Hire Collections Manager, LL Accountant, Deputy for 2nd Mayor, and EA for CEO/Foundation</a:t>
                      </a: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en-US" sz="1000" b="0" u="none" kern="1200" dirty="0">
                          <a:solidFill>
                            <a:schemeClr val="tx1"/>
                          </a:solidFill>
                          <a:latin typeface="Arial"/>
                          <a:ea typeface="+mn-ea"/>
                          <a:cs typeface="Arial"/>
                        </a:rPr>
                        <a:t>LL App development and launch</a:t>
                      </a:r>
                    </a:p>
                  </a:txBody>
                  <a:tcPr>
                    <a:lnL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 u="none" kern="1200" dirty="0">
                          <a:solidFill>
                            <a:schemeClr val="tx1"/>
                          </a:solidFill>
                          <a:latin typeface="Arial"/>
                          <a:ea typeface="+mn-ea"/>
                          <a:cs typeface="Arial"/>
                        </a:rPr>
                        <a:t>Ladies</a:t>
                      </a:r>
                    </a:p>
                  </a:txBody>
                  <a:tcPr>
                    <a:lnL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0" u="none" kern="1200" dirty="0">
                          <a:solidFill>
                            <a:schemeClr val="tx1"/>
                          </a:solidFill>
                          <a:latin typeface="Arial"/>
                          <a:ea typeface="+mn-ea"/>
                          <a:cs typeface="Arial"/>
                        </a:rPr>
                        <a:t>796</a:t>
                      </a:r>
                    </a:p>
                  </a:txBody>
                  <a:tcPr>
                    <a:lnL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4582917"/>
                  </a:ext>
                </a:extLst>
              </a:tr>
              <a:tr h="285165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 u="none" kern="1200" dirty="0">
                          <a:solidFill>
                            <a:schemeClr val="tx1"/>
                          </a:solidFill>
                          <a:latin typeface="Arial"/>
                          <a:ea typeface="+mn-ea"/>
                          <a:cs typeface="Arial"/>
                        </a:rPr>
                        <a:t>Villages</a:t>
                      </a:r>
                    </a:p>
                  </a:txBody>
                  <a:tcPr>
                    <a:lnL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0" u="none" kern="1200" dirty="0">
                          <a:solidFill>
                            <a:schemeClr val="tx1"/>
                          </a:solidFill>
                          <a:latin typeface="Arial"/>
                          <a:ea typeface="+mn-ea"/>
                          <a:cs typeface="Arial"/>
                        </a:rPr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4816354"/>
                  </a:ext>
                </a:extLst>
              </a:tr>
              <a:tr h="285165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 u="none" kern="1200" dirty="0">
                          <a:solidFill>
                            <a:schemeClr val="tx1"/>
                          </a:solidFill>
                          <a:latin typeface="Arial"/>
                          <a:ea typeface="+mn-ea"/>
                          <a:cs typeface="Arial"/>
                        </a:rPr>
                        <a:t>Loans </a:t>
                      </a:r>
                    </a:p>
                  </a:txBody>
                  <a:tcPr>
                    <a:lnL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0" u="none" kern="1200" dirty="0">
                          <a:solidFill>
                            <a:schemeClr val="tx1"/>
                          </a:solidFill>
                          <a:latin typeface="Arial"/>
                          <a:ea typeface="+mn-ea"/>
                          <a:cs typeface="Arial"/>
                        </a:rPr>
                        <a:t>$2,500,000</a:t>
                      </a:r>
                    </a:p>
                  </a:txBody>
                  <a:tcPr>
                    <a:lnL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50558705"/>
                  </a:ext>
                </a:extLst>
              </a:tr>
              <a:tr h="285165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 u="none" kern="1200" dirty="0">
                          <a:solidFill>
                            <a:schemeClr val="tx1"/>
                          </a:solidFill>
                          <a:latin typeface="Arial"/>
                          <a:ea typeface="+mn-ea"/>
                          <a:cs typeface="Arial"/>
                        </a:rPr>
                        <a:t>Revenue</a:t>
                      </a:r>
                    </a:p>
                  </a:txBody>
                  <a:tcPr>
                    <a:lnL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0" u="none" kern="1200" dirty="0">
                          <a:solidFill>
                            <a:schemeClr val="tx1"/>
                          </a:solidFill>
                          <a:latin typeface="Arial"/>
                          <a:ea typeface="+mn-ea"/>
                          <a:cs typeface="Arial"/>
                        </a:rPr>
                        <a:t>$400,000</a:t>
                      </a:r>
                    </a:p>
                  </a:txBody>
                  <a:tcPr>
                    <a:lnL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99037771"/>
                  </a:ext>
                </a:extLst>
              </a:tr>
              <a:tr h="285165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 u="none" kern="1200" dirty="0">
                          <a:solidFill>
                            <a:schemeClr val="tx1"/>
                          </a:solidFill>
                          <a:latin typeface="Arial"/>
                          <a:ea typeface="+mn-ea"/>
                          <a:cs typeface="Arial"/>
                        </a:rPr>
                        <a:t>EBITA</a:t>
                      </a:r>
                    </a:p>
                  </a:txBody>
                  <a:tcPr>
                    <a:lnL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0" u="none" kern="1200" dirty="0">
                          <a:solidFill>
                            <a:schemeClr val="tx1"/>
                          </a:solidFill>
                          <a:latin typeface="Arial"/>
                          <a:ea typeface="+mn-ea"/>
                          <a:cs typeface="Arial"/>
                        </a:rPr>
                        <a:t>$78,000</a:t>
                      </a:r>
                    </a:p>
                  </a:txBody>
                  <a:tcPr>
                    <a:lnL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30956600"/>
                  </a:ext>
                </a:extLst>
              </a:tr>
            </a:tbl>
          </a:graphicData>
        </a:graphic>
      </p:graphicFrame>
      <p:graphicFrame>
        <p:nvGraphicFramePr>
          <p:cNvPr id="16" name="Table 4">
            <a:extLst>
              <a:ext uri="{FF2B5EF4-FFF2-40B4-BE49-F238E27FC236}">
                <a16:creationId xmlns:a16="http://schemas.microsoft.com/office/drawing/2014/main" id="{FA7662A4-71EF-2844-A606-79323DDA7EC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89950117"/>
              </p:ext>
            </p:extLst>
          </p:nvPr>
        </p:nvGraphicFramePr>
        <p:xfrm>
          <a:off x="404036" y="737443"/>
          <a:ext cx="4137778" cy="5991258"/>
        </p:xfrm>
        <a:graphic>
          <a:graphicData uri="http://schemas.openxmlformats.org/drawingml/2006/table">
            <a:tbl>
              <a:tblPr bandRow="1">
                <a:tableStyleId>{BC89EF96-8CEA-46FF-86C4-4CE0E7609802}</a:tableStyleId>
              </a:tblPr>
              <a:tblGrid>
                <a:gridCol w="2155010">
                  <a:extLst>
                    <a:ext uri="{9D8B030D-6E8A-4147-A177-3AD203B41FA5}">
                      <a16:colId xmlns:a16="http://schemas.microsoft.com/office/drawing/2014/main" val="857039900"/>
                    </a:ext>
                  </a:extLst>
                </a:gridCol>
                <a:gridCol w="1057447">
                  <a:extLst>
                    <a:ext uri="{9D8B030D-6E8A-4147-A177-3AD203B41FA5}">
                      <a16:colId xmlns:a16="http://schemas.microsoft.com/office/drawing/2014/main" val="1911413455"/>
                    </a:ext>
                  </a:extLst>
                </a:gridCol>
                <a:gridCol w="925321">
                  <a:extLst>
                    <a:ext uri="{9D8B030D-6E8A-4147-A177-3AD203B41FA5}">
                      <a16:colId xmlns:a16="http://schemas.microsoft.com/office/drawing/2014/main" val="1472061167"/>
                    </a:ext>
                  </a:extLst>
                </a:gridCol>
              </a:tblGrid>
              <a:tr h="132821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 u="sng" dirty="0">
                          <a:latin typeface="Arial"/>
                        </a:rPr>
                        <a:t>Purpose</a:t>
                      </a:r>
                      <a:endParaRPr lang="en-US" sz="1000" b="0" dirty="0">
                        <a:latin typeface="Arial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Arial"/>
                          <a:cs typeface="Arial"/>
                        </a:rPr>
                        <a:t>Connect women to encourage, empower and enrich other women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0" dirty="0">
                        <a:latin typeface="Arial"/>
                        <a:cs typeface="Arial"/>
                      </a:endParaRPr>
                    </a:p>
                    <a:p>
                      <a:r>
                        <a:rPr lang="en-US" sz="1000" b="1" u="sng" dirty="0">
                          <a:latin typeface="Arial"/>
                          <a:cs typeface="Arial"/>
                        </a:rPr>
                        <a:t>BHAG</a:t>
                      </a:r>
                    </a:p>
                    <a:p>
                      <a:pPr marL="285750" indent="-285750">
                        <a:buFont typeface="Arial"/>
                        <a:buChar char="•"/>
                      </a:pPr>
                      <a:r>
                        <a:rPr lang="en-US" sz="1000" dirty="0">
                          <a:latin typeface="Arial"/>
                          <a:cs typeface="Arial"/>
                        </a:rPr>
                        <a:t>End Financial Exclusion for women </a:t>
                      </a:r>
                    </a:p>
                  </a:txBody>
                  <a:tcPr>
                    <a:lnL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r>
                        <a:rPr lang="en-US" sz="1000" b="1" u="sng" dirty="0">
                          <a:latin typeface="Arial"/>
                          <a:cs typeface="Arial"/>
                        </a:rPr>
                        <a:t>Core Values</a:t>
                      </a:r>
                    </a:p>
                    <a:p>
                      <a:pPr marL="285750" indent="-285750">
                        <a:buFont typeface="Arial"/>
                        <a:buChar char="•"/>
                      </a:pPr>
                      <a:r>
                        <a:rPr lang="en-US" sz="1000" dirty="0">
                          <a:latin typeface="Arial"/>
                          <a:cs typeface="Arial"/>
                        </a:rPr>
                        <a:t>Compassion Matters</a:t>
                      </a:r>
                    </a:p>
                    <a:p>
                      <a:pPr marL="285750" indent="-285750">
                        <a:buFont typeface="Arial"/>
                        <a:buChar char="•"/>
                      </a:pPr>
                      <a:r>
                        <a:rPr lang="en-US" sz="1000" dirty="0">
                          <a:latin typeface="Arial"/>
                          <a:cs typeface="Arial"/>
                        </a:rPr>
                        <a:t>Be Vulnerable</a:t>
                      </a:r>
                    </a:p>
                    <a:p>
                      <a:pPr marL="285750" indent="-285750">
                        <a:buFont typeface="Arial"/>
                        <a:buChar char="•"/>
                      </a:pPr>
                      <a:r>
                        <a:rPr lang="en-US" sz="1000" dirty="0">
                          <a:latin typeface="Arial"/>
                          <a:cs typeface="Arial"/>
                        </a:rPr>
                        <a:t>No Judgment</a:t>
                      </a:r>
                    </a:p>
                    <a:p>
                      <a:pPr marL="285750" indent="-285750">
                        <a:buFont typeface="Arial"/>
                        <a:buChar char="•"/>
                      </a:pPr>
                      <a:r>
                        <a:rPr lang="en-US" sz="1000" dirty="0">
                          <a:latin typeface="Arial"/>
                          <a:cs typeface="Arial"/>
                        </a:rPr>
                        <a:t>Speak the Truth </a:t>
                      </a:r>
                    </a:p>
                    <a:p>
                      <a:pPr marL="0" lvl="0" indent="0">
                        <a:buNone/>
                      </a:pPr>
                      <a:endParaRPr lang="en-US" sz="1000" b="1" u="sng" dirty="0">
                        <a:latin typeface="Arial"/>
                      </a:endParaRPr>
                    </a:p>
                  </a:txBody>
                  <a:tcPr>
                    <a:lnL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24915775"/>
                  </a:ext>
                </a:extLst>
              </a:tr>
              <a:tr h="320122">
                <a:tc>
                  <a:txBody>
                    <a:bodyPr/>
                    <a:lstStyle/>
                    <a:p>
                      <a:r>
                        <a:rPr lang="en-US" sz="1000" b="1" u="sng" dirty="0">
                          <a:latin typeface="Arial"/>
                        </a:rPr>
                        <a:t>3-Year Strategic Moves</a:t>
                      </a:r>
                    </a:p>
                  </a:txBody>
                  <a:tcPr>
                    <a:lnL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000" b="1" u="sng" dirty="0">
                          <a:latin typeface="Arial"/>
                        </a:rPr>
                        <a:t>Annual Metrics</a:t>
                      </a:r>
                    </a:p>
                  </a:txBody>
                  <a:tcPr>
                    <a:lnL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44790231"/>
                  </a:ext>
                </a:extLst>
              </a:tr>
              <a:tr h="287988">
                <a:tc rowSpan="5">
                  <a:txBody>
                    <a:bodyPr/>
                    <a:lstStyle/>
                    <a:p>
                      <a:r>
                        <a:rPr lang="en-US" sz="1000" b="1" dirty="0">
                          <a:latin typeface="Arial"/>
                        </a:rPr>
                        <a:t>2021</a:t>
                      </a: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000" b="0" u="none" kern="1200" dirty="0">
                          <a:solidFill>
                            <a:schemeClr val="tx1"/>
                          </a:solidFill>
                          <a:latin typeface="Arial"/>
                          <a:ea typeface="+mn-ea"/>
                          <a:cs typeface="Arial"/>
                        </a:rPr>
                        <a:t>Expand to second Edmonton Village and first US Village</a:t>
                      </a: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000" b="0" u="none" kern="1200" dirty="0">
                          <a:solidFill>
                            <a:schemeClr val="tx1"/>
                          </a:solidFill>
                          <a:latin typeface="Arial"/>
                          <a:ea typeface="+mn-ea"/>
                          <a:cs typeface="Arial"/>
                        </a:rPr>
                        <a:t>Complete decoupling (employee, loans, service contract)</a:t>
                      </a: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000" b="0" u="none" kern="1200" dirty="0">
                          <a:solidFill>
                            <a:schemeClr val="tx1"/>
                          </a:solidFill>
                          <a:latin typeface="Arial"/>
                          <a:ea typeface="+mn-ea"/>
                          <a:cs typeface="Arial"/>
                        </a:rPr>
                        <a:t>Raise $2M to $5M </a:t>
                      </a: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000" b="0" u="none" kern="1200" dirty="0">
                          <a:solidFill>
                            <a:schemeClr val="tx1"/>
                          </a:solidFill>
                          <a:latin typeface="Arial"/>
                          <a:ea typeface="+mn-ea"/>
                          <a:cs typeface="Arial"/>
                        </a:rPr>
                        <a:t>Launch Foundation</a:t>
                      </a: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000" b="0" u="none" kern="1200" dirty="0">
                          <a:solidFill>
                            <a:schemeClr val="tx1"/>
                          </a:solidFill>
                          <a:latin typeface="Arial"/>
                          <a:ea typeface="+mn-ea"/>
                          <a:cs typeface="Arial"/>
                        </a:rPr>
                        <a:t>Develop App</a:t>
                      </a:r>
                    </a:p>
                  </a:txBody>
                  <a:tcPr>
                    <a:lnL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 u="none" kern="1200" dirty="0">
                          <a:solidFill>
                            <a:schemeClr val="tx1"/>
                          </a:solidFill>
                          <a:latin typeface="Arial"/>
                          <a:ea typeface="+mn-ea"/>
                          <a:cs typeface="Arial"/>
                        </a:rPr>
                        <a:t>Ladies</a:t>
                      </a:r>
                    </a:p>
                  </a:txBody>
                  <a:tcPr>
                    <a:lnL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Arial"/>
                        </a:rPr>
                        <a:t>730</a:t>
                      </a:r>
                    </a:p>
                  </a:txBody>
                  <a:tcPr>
                    <a:lnL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83207405"/>
                  </a:ext>
                </a:extLst>
              </a:tr>
              <a:tr h="287988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 u="none" kern="1200" dirty="0">
                          <a:solidFill>
                            <a:schemeClr val="tx1"/>
                          </a:solidFill>
                          <a:latin typeface="Arial"/>
                          <a:ea typeface="+mn-ea"/>
                          <a:cs typeface="Arial"/>
                        </a:rPr>
                        <a:t>Villages</a:t>
                      </a:r>
                    </a:p>
                  </a:txBody>
                  <a:tcPr>
                    <a:lnL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08375991"/>
                  </a:ext>
                </a:extLst>
              </a:tr>
              <a:tr h="287988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 u="none" kern="1200" dirty="0">
                          <a:solidFill>
                            <a:schemeClr val="tx1"/>
                          </a:solidFill>
                          <a:latin typeface="Arial"/>
                          <a:ea typeface="+mn-ea"/>
                          <a:cs typeface="Arial"/>
                        </a:rPr>
                        <a:t>Loans </a:t>
                      </a:r>
                    </a:p>
                  </a:txBody>
                  <a:tcPr>
                    <a:lnL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Arial"/>
                        </a:rPr>
                        <a:t>$2.3M</a:t>
                      </a:r>
                    </a:p>
                  </a:txBody>
                  <a:tcPr>
                    <a:lnL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19496561"/>
                  </a:ext>
                </a:extLst>
              </a:tr>
              <a:tr h="287988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 u="none" kern="1200" dirty="0">
                          <a:solidFill>
                            <a:schemeClr val="tx1"/>
                          </a:solidFill>
                          <a:latin typeface="Arial"/>
                          <a:ea typeface="+mn-ea"/>
                          <a:cs typeface="Arial"/>
                        </a:rPr>
                        <a:t>Revenue</a:t>
                      </a:r>
                    </a:p>
                  </a:txBody>
                  <a:tcPr>
                    <a:lnL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Arial"/>
                        </a:rPr>
                        <a:t>$1.0M</a:t>
                      </a:r>
                    </a:p>
                  </a:txBody>
                  <a:tcPr>
                    <a:lnL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63077929"/>
                  </a:ext>
                </a:extLst>
              </a:tr>
              <a:tr h="287988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 u="none" kern="1200" dirty="0">
                          <a:solidFill>
                            <a:schemeClr val="tx1"/>
                          </a:solidFill>
                          <a:latin typeface="Arial"/>
                          <a:ea typeface="+mn-ea"/>
                          <a:cs typeface="Arial"/>
                        </a:rPr>
                        <a:t>EBITA</a:t>
                      </a:r>
                    </a:p>
                  </a:txBody>
                  <a:tcPr>
                    <a:lnL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Arial"/>
                        </a:rPr>
                        <a:t>$150,000</a:t>
                      </a:r>
                    </a:p>
                  </a:txBody>
                  <a:tcPr>
                    <a:lnL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01500080"/>
                  </a:ext>
                </a:extLst>
              </a:tr>
              <a:tr h="287988">
                <a:tc rowSpan="5">
                  <a:txBody>
                    <a:bodyPr/>
                    <a:lstStyle/>
                    <a:p>
                      <a:r>
                        <a:rPr lang="en-US" sz="1000" b="1" dirty="0">
                          <a:latin typeface="Arial"/>
                        </a:rPr>
                        <a:t>2022</a:t>
                      </a:r>
                      <a:endParaRPr lang="en-US" sz="1000" b="0" u="none" kern="1200" dirty="0">
                        <a:solidFill>
                          <a:schemeClr val="tx1"/>
                        </a:solidFill>
                        <a:latin typeface="Arial"/>
                        <a:ea typeface="+mn-ea"/>
                        <a:cs typeface="Arial"/>
                      </a:endParaRP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000" b="0" u="none" kern="1200" dirty="0">
                          <a:solidFill>
                            <a:schemeClr val="tx1"/>
                          </a:solidFill>
                          <a:latin typeface="Arial"/>
                          <a:ea typeface="+mn-ea"/>
                          <a:cs typeface="Arial"/>
                        </a:rPr>
                        <a:t>Clean Audit FY21 and valuation</a:t>
                      </a: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000" b="0" u="none" kern="1200" dirty="0">
                          <a:solidFill>
                            <a:schemeClr val="tx1"/>
                          </a:solidFill>
                          <a:latin typeface="Arial"/>
                          <a:ea typeface="+mn-ea"/>
                          <a:cs typeface="Arial"/>
                        </a:rPr>
                        <a:t>Add 4 new Villages and 2000 new Ladies</a:t>
                      </a: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000" b="0" u="none" kern="1200" dirty="0">
                          <a:solidFill>
                            <a:schemeClr val="tx1"/>
                          </a:solidFill>
                          <a:latin typeface="Arial"/>
                          <a:ea typeface="+mn-ea"/>
                          <a:cs typeface="Arial"/>
                        </a:rPr>
                        <a:t>Reg A - raise $50M to $75M</a:t>
                      </a: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endParaRPr lang="en-US" sz="1000" b="0" u="none" kern="1200" dirty="0">
                        <a:solidFill>
                          <a:schemeClr val="tx1"/>
                        </a:solidFill>
                        <a:latin typeface="Arial"/>
                        <a:ea typeface="+mn-ea"/>
                        <a:cs typeface="Arial"/>
                      </a:endParaRP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endParaRPr lang="en-US" sz="1000" b="0" u="none" kern="1200" dirty="0">
                        <a:solidFill>
                          <a:schemeClr val="tx1"/>
                        </a:solidFill>
                        <a:latin typeface="Arial"/>
                        <a:ea typeface="+mn-ea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 u="none" kern="1200" dirty="0">
                          <a:solidFill>
                            <a:schemeClr val="tx1"/>
                          </a:solidFill>
                          <a:latin typeface="Arial"/>
                          <a:ea typeface="+mn-ea"/>
                          <a:cs typeface="Arial"/>
                        </a:rPr>
                        <a:t>Ladies</a:t>
                      </a:r>
                    </a:p>
                  </a:txBody>
                  <a:tcPr>
                    <a:lnL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Arial"/>
                        </a:rPr>
                        <a:t>2,150</a:t>
                      </a:r>
                    </a:p>
                  </a:txBody>
                  <a:tcPr>
                    <a:lnL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86984798"/>
                  </a:ext>
                </a:extLst>
              </a:tr>
              <a:tr h="287988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 u="none" kern="1200" dirty="0">
                          <a:solidFill>
                            <a:schemeClr val="tx1"/>
                          </a:solidFill>
                          <a:latin typeface="Arial"/>
                          <a:ea typeface="+mn-ea"/>
                          <a:cs typeface="Arial"/>
                        </a:rPr>
                        <a:t>Villages</a:t>
                      </a:r>
                    </a:p>
                  </a:txBody>
                  <a:tcPr>
                    <a:lnL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>
                    <a:lnL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24730704"/>
                  </a:ext>
                </a:extLst>
              </a:tr>
              <a:tr h="287988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 u="none" kern="1200" dirty="0">
                          <a:solidFill>
                            <a:schemeClr val="tx1"/>
                          </a:solidFill>
                          <a:latin typeface="Arial"/>
                          <a:ea typeface="+mn-ea"/>
                          <a:cs typeface="Arial"/>
                        </a:rPr>
                        <a:t>Loans </a:t>
                      </a:r>
                    </a:p>
                  </a:txBody>
                  <a:tcPr>
                    <a:lnL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Arial"/>
                        </a:rPr>
                        <a:t>$6.7M</a:t>
                      </a:r>
                    </a:p>
                  </a:txBody>
                  <a:tcPr>
                    <a:lnL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31988788"/>
                  </a:ext>
                </a:extLst>
              </a:tr>
              <a:tr h="287988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 u="none" kern="1200" dirty="0">
                          <a:solidFill>
                            <a:schemeClr val="tx1"/>
                          </a:solidFill>
                          <a:latin typeface="Arial"/>
                          <a:ea typeface="+mn-ea"/>
                          <a:cs typeface="Arial"/>
                        </a:rPr>
                        <a:t>Revenue</a:t>
                      </a:r>
                    </a:p>
                  </a:txBody>
                  <a:tcPr>
                    <a:lnL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Arial"/>
                        </a:rPr>
                        <a:t>$3.3M</a:t>
                      </a:r>
                    </a:p>
                  </a:txBody>
                  <a:tcPr>
                    <a:lnL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522483"/>
                  </a:ext>
                </a:extLst>
              </a:tr>
              <a:tr h="287988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 u="none" kern="1200" dirty="0">
                          <a:solidFill>
                            <a:schemeClr val="tx1"/>
                          </a:solidFill>
                          <a:latin typeface="Arial"/>
                          <a:ea typeface="+mn-ea"/>
                          <a:cs typeface="Arial"/>
                        </a:rPr>
                        <a:t>EBITA</a:t>
                      </a:r>
                    </a:p>
                  </a:txBody>
                  <a:tcPr>
                    <a:lnL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Arial"/>
                        </a:rPr>
                        <a:t>$1.0M</a:t>
                      </a:r>
                    </a:p>
                  </a:txBody>
                  <a:tcPr>
                    <a:lnL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7420478"/>
                  </a:ext>
                </a:extLst>
              </a:tr>
              <a:tr h="287988">
                <a:tc rowSpan="5">
                  <a:txBody>
                    <a:bodyPr/>
                    <a:lstStyle/>
                    <a:p>
                      <a:r>
                        <a:rPr lang="en-US" sz="1000" b="1" dirty="0">
                          <a:latin typeface="Arial"/>
                        </a:rPr>
                        <a:t>2023 </a:t>
                      </a: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000" b="0" u="none" kern="1200" dirty="0">
                          <a:solidFill>
                            <a:schemeClr val="tx1"/>
                          </a:solidFill>
                          <a:latin typeface="Arial"/>
                          <a:ea typeface="+mn-ea"/>
                          <a:cs typeface="Arial"/>
                        </a:rPr>
                        <a:t>Double business from 2022 (Villages, Loans, Ladies)</a:t>
                      </a: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000" b="0" u="none" kern="1200" dirty="0">
                          <a:solidFill>
                            <a:schemeClr val="tx1"/>
                          </a:solidFill>
                          <a:latin typeface="Arial"/>
                          <a:ea typeface="+mn-ea"/>
                          <a:cs typeface="Arial"/>
                        </a:rPr>
                        <a:t>Unique FSL, lease agreements, executive team </a:t>
                      </a: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endParaRPr lang="en-US" sz="1000" b="0" u="none" kern="1200" dirty="0">
                        <a:solidFill>
                          <a:schemeClr val="tx1"/>
                        </a:solidFill>
                        <a:latin typeface="Arial"/>
                        <a:ea typeface="+mn-ea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 u="none" kern="1200" dirty="0">
                          <a:solidFill>
                            <a:schemeClr val="tx1"/>
                          </a:solidFill>
                          <a:latin typeface="Arial"/>
                          <a:ea typeface="+mn-ea"/>
                          <a:cs typeface="Arial"/>
                        </a:rPr>
                        <a:t>Ladies</a:t>
                      </a:r>
                    </a:p>
                  </a:txBody>
                  <a:tcPr>
                    <a:lnL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Arial"/>
                        </a:rPr>
                        <a:t>5,500</a:t>
                      </a:r>
                    </a:p>
                  </a:txBody>
                  <a:tcPr>
                    <a:lnL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59718949"/>
                  </a:ext>
                </a:extLst>
              </a:tr>
              <a:tr h="287988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 u="none" kern="1200">
                          <a:solidFill>
                            <a:schemeClr val="tx1"/>
                          </a:solidFill>
                          <a:latin typeface="Arial"/>
                          <a:ea typeface="+mn-ea"/>
                          <a:cs typeface="Arial"/>
                        </a:rPr>
                        <a:t>Villages</a:t>
                      </a:r>
                      <a:endParaRPr lang="en-US" sz="1000" b="1" u="none" kern="1200" dirty="0">
                        <a:solidFill>
                          <a:schemeClr val="tx1"/>
                        </a:solidFill>
                        <a:latin typeface="Arial"/>
                        <a:ea typeface="+mn-ea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>
                    <a:lnL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32210093"/>
                  </a:ext>
                </a:extLst>
              </a:tr>
              <a:tr h="287988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 u="none" kern="1200" dirty="0">
                          <a:solidFill>
                            <a:schemeClr val="tx1"/>
                          </a:solidFill>
                          <a:latin typeface="Arial"/>
                          <a:ea typeface="+mn-ea"/>
                          <a:cs typeface="Arial"/>
                        </a:rPr>
                        <a:t>Loans </a:t>
                      </a:r>
                    </a:p>
                  </a:txBody>
                  <a:tcPr>
                    <a:lnL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Arial"/>
                        </a:rPr>
                        <a:t>$18.6M</a:t>
                      </a:r>
                    </a:p>
                  </a:txBody>
                  <a:tcPr>
                    <a:lnL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5867543"/>
                  </a:ext>
                </a:extLst>
              </a:tr>
              <a:tr h="287988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 u="none" kern="1200" dirty="0">
                          <a:solidFill>
                            <a:schemeClr val="tx1"/>
                          </a:solidFill>
                          <a:latin typeface="Arial"/>
                          <a:ea typeface="+mn-ea"/>
                          <a:cs typeface="Arial"/>
                        </a:rPr>
                        <a:t>Revenue</a:t>
                      </a:r>
                    </a:p>
                  </a:txBody>
                  <a:tcPr>
                    <a:lnL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Arial"/>
                        </a:rPr>
                        <a:t>$9.5M</a:t>
                      </a:r>
                    </a:p>
                  </a:txBody>
                  <a:tcPr>
                    <a:lnL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46563135"/>
                  </a:ext>
                </a:extLst>
              </a:tr>
              <a:tr h="287988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 u="none" kern="1200" dirty="0">
                          <a:solidFill>
                            <a:schemeClr val="tx1"/>
                          </a:solidFill>
                          <a:latin typeface="Arial"/>
                          <a:ea typeface="+mn-ea"/>
                          <a:cs typeface="Arial"/>
                        </a:rPr>
                        <a:t>EBITA</a:t>
                      </a:r>
                    </a:p>
                  </a:txBody>
                  <a:tcPr>
                    <a:lnL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Arial"/>
                        </a:rPr>
                        <a:t>$3.9M</a:t>
                      </a:r>
                    </a:p>
                  </a:txBody>
                  <a:tcPr>
                    <a:lnL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53888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344527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B64A48-4EE3-1045-B4B9-DD08ABD16C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E06CA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Key questions for discussion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47C219-E126-104C-A958-18E290E46F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What drives Lady Loans 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Profit or purpose?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Is our purpose clear enough?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When/how do we raise capital? 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How much? 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Impact on valuation? 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Next steps - Best practice structure required to adopt to support valuation, raise, and success?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53318E1-9341-C048-AD87-4F5990C252A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72941" y="6436392"/>
            <a:ext cx="1084817" cy="3532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13158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3">
            <a:extLst>
              <a:ext uri="{FF2B5EF4-FFF2-40B4-BE49-F238E27FC236}">
                <a16:creationId xmlns:a16="http://schemas.microsoft.com/office/drawing/2014/main" id="{924D07F4-B044-BB4D-9532-B7DF4AE84B68}"/>
              </a:ext>
            </a:extLst>
          </p:cNvPr>
          <p:cNvGraphicFramePr>
            <a:graphicFrameLocks noGrp="1"/>
          </p:cNvGraphicFramePr>
          <p:nvPr/>
        </p:nvGraphicFramePr>
        <p:xfrm>
          <a:off x="628650" y="1397000"/>
          <a:ext cx="7942856" cy="52164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5714">
                  <a:extLst>
                    <a:ext uri="{9D8B030D-6E8A-4147-A177-3AD203B41FA5}">
                      <a16:colId xmlns:a16="http://schemas.microsoft.com/office/drawing/2014/main" val="1409486007"/>
                    </a:ext>
                  </a:extLst>
                </a:gridCol>
                <a:gridCol w="1985714">
                  <a:extLst>
                    <a:ext uri="{9D8B030D-6E8A-4147-A177-3AD203B41FA5}">
                      <a16:colId xmlns:a16="http://schemas.microsoft.com/office/drawing/2014/main" val="344950966"/>
                    </a:ext>
                  </a:extLst>
                </a:gridCol>
                <a:gridCol w="1985714">
                  <a:extLst>
                    <a:ext uri="{9D8B030D-6E8A-4147-A177-3AD203B41FA5}">
                      <a16:colId xmlns:a16="http://schemas.microsoft.com/office/drawing/2014/main" val="3050236372"/>
                    </a:ext>
                  </a:extLst>
                </a:gridCol>
                <a:gridCol w="1985714">
                  <a:extLst>
                    <a:ext uri="{9D8B030D-6E8A-4147-A177-3AD203B41FA5}">
                      <a16:colId xmlns:a16="http://schemas.microsoft.com/office/drawing/2014/main" val="3855637533"/>
                    </a:ext>
                  </a:extLst>
                </a:gridCol>
              </a:tblGrid>
              <a:tr h="431800">
                <a:tc>
                  <a:txBody>
                    <a:bodyPr/>
                    <a:lstStyle/>
                    <a:p>
                      <a:endParaRPr lang="en-US" sz="160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CURRENT STATE</a:t>
                      </a:r>
                    </a:p>
                    <a:p>
                      <a:r>
                        <a:rPr lang="en-US" sz="16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$2M Total </a:t>
                      </a:r>
                    </a:p>
                  </a:txBody>
                  <a:tcPr>
                    <a:lnL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$5M Raise</a:t>
                      </a:r>
                    </a:p>
                    <a:p>
                      <a:r>
                        <a:rPr lang="en-US" sz="16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$7M Total</a:t>
                      </a:r>
                    </a:p>
                  </a:txBody>
                  <a:tcPr>
                    <a:lnL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$50M Raise</a:t>
                      </a:r>
                    </a:p>
                    <a:p>
                      <a:r>
                        <a:rPr lang="en-US" sz="16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$52M Total</a:t>
                      </a:r>
                    </a:p>
                  </a:txBody>
                  <a:tcPr>
                    <a:lnL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76387643"/>
                  </a:ext>
                </a:extLst>
              </a:tr>
              <a:tr h="712641">
                <a:tc>
                  <a:txBody>
                    <a:bodyPr/>
                    <a:lstStyle/>
                    <a:p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Regulatory </a:t>
                      </a:r>
                      <a:endParaRPr lang="en-US" sz="1100" b="1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r>
                        <a:rPr lang="en-US" sz="11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(Reg-A, Reg-A Marketing Legal, Audit, Broker Dealer, Escrow)</a:t>
                      </a:r>
                    </a:p>
                  </a:txBody>
                  <a:tcPr>
                    <a:lnL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$50K</a:t>
                      </a:r>
                    </a:p>
                    <a:p>
                      <a:r>
                        <a:rPr lang="en-US" sz="16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3%</a:t>
                      </a:r>
                    </a:p>
                  </a:txBody>
                  <a:tcPr>
                    <a:lnL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$550K</a:t>
                      </a:r>
                    </a:p>
                    <a:p>
                      <a:r>
                        <a:rPr lang="en-US" sz="16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8%</a:t>
                      </a:r>
                    </a:p>
                  </a:txBody>
                  <a:tcPr>
                    <a:lnL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$5M</a:t>
                      </a:r>
                    </a:p>
                    <a:p>
                      <a:r>
                        <a:rPr lang="en-US" sz="16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10%</a:t>
                      </a:r>
                    </a:p>
                  </a:txBody>
                  <a:tcPr>
                    <a:lnL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3272179"/>
                  </a:ext>
                </a:extLst>
              </a:tr>
              <a:tr h="71264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Ops &amp; Admin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(Salaries, SG&amp;A, Interest, Foundation, LPP, AFDA)</a:t>
                      </a:r>
                    </a:p>
                    <a:p>
                      <a:endParaRPr lang="en-US" sz="110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$905K</a:t>
                      </a:r>
                    </a:p>
                    <a:p>
                      <a:r>
                        <a:rPr lang="en-US" sz="16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45%</a:t>
                      </a:r>
                    </a:p>
                  </a:txBody>
                  <a:tcPr>
                    <a:lnL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$2.3M</a:t>
                      </a:r>
                    </a:p>
                    <a:p>
                      <a:r>
                        <a:rPr lang="en-US" sz="16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35%</a:t>
                      </a:r>
                    </a:p>
                  </a:txBody>
                  <a:tcPr>
                    <a:lnL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$11.4 M</a:t>
                      </a:r>
                    </a:p>
                    <a:p>
                      <a:r>
                        <a:rPr lang="en-US" sz="16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25%</a:t>
                      </a:r>
                    </a:p>
                  </a:txBody>
                  <a:tcPr>
                    <a:lnL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16586984"/>
                  </a:ext>
                </a:extLst>
              </a:tr>
              <a:tr h="712641">
                <a:tc>
                  <a:txBody>
                    <a:bodyPr/>
                    <a:lstStyle/>
                    <a:p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Customer</a:t>
                      </a:r>
                      <a:endParaRPr lang="en-US" sz="1100" b="1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r>
                        <a:rPr lang="en-US" sz="11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(Marketing, Reg A Marketing, Sisterhood)</a:t>
                      </a:r>
                    </a:p>
                  </a:txBody>
                  <a:tcPr>
                    <a:lnL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$70K</a:t>
                      </a:r>
                    </a:p>
                    <a:p>
                      <a:r>
                        <a:rPr lang="en-US" sz="16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5%</a:t>
                      </a:r>
                    </a:p>
                  </a:txBody>
                  <a:tcPr>
                    <a:lnL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$270K</a:t>
                      </a:r>
                    </a:p>
                    <a:p>
                      <a:r>
                        <a:rPr lang="en-US" sz="16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5%</a:t>
                      </a:r>
                    </a:p>
                  </a:txBody>
                  <a:tcPr>
                    <a:lnL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$1.8M</a:t>
                      </a:r>
                    </a:p>
                    <a:p>
                      <a:r>
                        <a:rPr lang="en-US" sz="16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5%</a:t>
                      </a:r>
                    </a:p>
                  </a:txBody>
                  <a:tcPr>
                    <a:lnL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7945870"/>
                  </a:ext>
                </a:extLst>
              </a:tr>
              <a:tr h="712641">
                <a:tc>
                  <a:txBody>
                    <a:bodyPr/>
                    <a:lstStyle/>
                    <a:p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Product &amp; Tech</a:t>
                      </a:r>
                    </a:p>
                    <a:p>
                      <a:r>
                        <a:rPr lang="en-US" sz="11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(FLS, Custom Dev, App)</a:t>
                      </a:r>
                    </a:p>
                  </a:txBody>
                  <a:tcPr>
                    <a:lnL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$25K</a:t>
                      </a:r>
                    </a:p>
                    <a:p>
                      <a:r>
                        <a:rPr lang="en-US" sz="16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1%</a:t>
                      </a:r>
                    </a:p>
                  </a:txBody>
                  <a:tcPr>
                    <a:lnL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$145K</a:t>
                      </a:r>
                    </a:p>
                    <a:p>
                      <a:r>
                        <a:rPr lang="en-US" sz="16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2%</a:t>
                      </a:r>
                    </a:p>
                  </a:txBody>
                  <a:tcPr>
                    <a:lnL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$550K</a:t>
                      </a:r>
                    </a:p>
                    <a:p>
                      <a:r>
                        <a:rPr lang="en-US" sz="16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2%</a:t>
                      </a:r>
                    </a:p>
                  </a:txBody>
                  <a:tcPr>
                    <a:lnL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58832605"/>
                  </a:ext>
                </a:extLst>
              </a:tr>
              <a:tr h="712641">
                <a:tc>
                  <a:txBody>
                    <a:bodyPr/>
                    <a:lstStyle/>
                    <a:p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Loan Book</a:t>
                      </a:r>
                    </a:p>
                  </a:txBody>
                  <a:tcPr>
                    <a:lnL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$1M</a:t>
                      </a:r>
                    </a:p>
                    <a:p>
                      <a:r>
                        <a:rPr lang="en-US" sz="16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50%</a:t>
                      </a:r>
                    </a:p>
                  </a:txBody>
                  <a:tcPr>
                    <a:lnL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$3.5M</a:t>
                      </a:r>
                    </a:p>
                    <a:p>
                      <a:r>
                        <a:rPr lang="en-US" sz="16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50%</a:t>
                      </a:r>
                    </a:p>
                  </a:txBody>
                  <a:tcPr>
                    <a:lnL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$26M</a:t>
                      </a:r>
                    </a:p>
                    <a:p>
                      <a:r>
                        <a:rPr lang="en-US" sz="16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50%</a:t>
                      </a:r>
                    </a:p>
                  </a:txBody>
                  <a:tcPr>
                    <a:lnL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3001266"/>
                  </a:ext>
                </a:extLst>
              </a:tr>
              <a:tr h="712641">
                <a:tc>
                  <a:txBody>
                    <a:bodyPr/>
                    <a:lstStyle/>
                    <a:p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Villages / Lady Potential </a:t>
                      </a:r>
                    </a:p>
                  </a:txBody>
                  <a:tcPr>
                    <a:lnL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 Village</a:t>
                      </a:r>
                    </a:p>
                    <a:p>
                      <a:r>
                        <a:rPr lang="en-US" sz="16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400 Ladies</a:t>
                      </a:r>
                    </a:p>
                    <a:p>
                      <a:endParaRPr lang="en-US" sz="1600" b="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 Villages</a:t>
                      </a:r>
                    </a:p>
                    <a:p>
                      <a:r>
                        <a:rPr lang="en-US" sz="16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1600 Ladies</a:t>
                      </a:r>
                    </a:p>
                  </a:txBody>
                  <a:tcPr>
                    <a:lnL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25 Villages </a:t>
                      </a:r>
                    </a:p>
                    <a:p>
                      <a:r>
                        <a:rPr lang="en-US" sz="16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10,000 Ladies</a:t>
                      </a:r>
                    </a:p>
                  </a:txBody>
                  <a:tcPr>
                    <a:lnL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19019331"/>
                  </a:ext>
                </a:extLst>
              </a:tr>
            </a:tbl>
          </a:graphicData>
        </a:graphic>
      </p:graphicFrame>
      <p:sp>
        <p:nvSpPr>
          <p:cNvPr id="4" name="Title 1">
            <a:extLst>
              <a:ext uri="{FF2B5EF4-FFF2-40B4-BE49-F238E27FC236}">
                <a16:creationId xmlns:a16="http://schemas.microsoft.com/office/drawing/2014/main" id="{61019563-92AC-6549-A7BF-FFFAFB8FEB2B}"/>
              </a:ext>
            </a:extLst>
          </p:cNvPr>
          <p:cNvSpPr txBox="1">
            <a:spLocks/>
          </p:cNvSpPr>
          <p:nvPr/>
        </p:nvSpPr>
        <p:spPr>
          <a:xfrm>
            <a:off x="628650" y="365126"/>
            <a:ext cx="7886700" cy="87030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dirty="0">
                <a:solidFill>
                  <a:srgbClr val="E06CA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We have several options for out first capital raise - with various costs, timelines and caps. </a:t>
            </a:r>
          </a:p>
        </p:txBody>
      </p:sp>
    </p:spTree>
    <p:extLst>
      <p:ext uri="{BB962C8B-B14F-4D97-AF65-F5344CB8AC3E}">
        <p14:creationId xmlns:p14="http://schemas.microsoft.com/office/powerpoint/2010/main" val="26341050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3">
            <a:extLst>
              <a:ext uri="{FF2B5EF4-FFF2-40B4-BE49-F238E27FC236}">
                <a16:creationId xmlns:a16="http://schemas.microsoft.com/office/drawing/2014/main" id="{924D07F4-B044-BB4D-9532-B7DF4AE84B6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27642105"/>
              </p:ext>
            </p:extLst>
          </p:nvPr>
        </p:nvGraphicFramePr>
        <p:xfrm>
          <a:off x="628650" y="1397000"/>
          <a:ext cx="7942856" cy="5278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18604">
                  <a:extLst>
                    <a:ext uri="{9D8B030D-6E8A-4147-A177-3AD203B41FA5}">
                      <a16:colId xmlns:a16="http://schemas.microsoft.com/office/drawing/2014/main" val="1409486007"/>
                    </a:ext>
                  </a:extLst>
                </a:gridCol>
                <a:gridCol w="1704814">
                  <a:extLst>
                    <a:ext uri="{9D8B030D-6E8A-4147-A177-3AD203B41FA5}">
                      <a16:colId xmlns:a16="http://schemas.microsoft.com/office/drawing/2014/main" val="344950966"/>
                    </a:ext>
                  </a:extLst>
                </a:gridCol>
                <a:gridCol w="3006671">
                  <a:extLst>
                    <a:ext uri="{9D8B030D-6E8A-4147-A177-3AD203B41FA5}">
                      <a16:colId xmlns:a16="http://schemas.microsoft.com/office/drawing/2014/main" val="3050236372"/>
                    </a:ext>
                  </a:extLst>
                </a:gridCol>
                <a:gridCol w="1612767">
                  <a:extLst>
                    <a:ext uri="{9D8B030D-6E8A-4147-A177-3AD203B41FA5}">
                      <a16:colId xmlns:a16="http://schemas.microsoft.com/office/drawing/2014/main" val="3855637533"/>
                    </a:ext>
                  </a:extLst>
                </a:gridCol>
              </a:tblGrid>
              <a:tr h="431800">
                <a:tc>
                  <a:txBody>
                    <a:bodyPr/>
                    <a:lstStyle/>
                    <a:p>
                      <a:endParaRPr lang="en-US" sz="160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Overview</a:t>
                      </a:r>
                    </a:p>
                  </a:txBody>
                  <a:tcPr>
                    <a:lnL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Traction</a:t>
                      </a:r>
                    </a:p>
                  </a:txBody>
                  <a:tcPr>
                    <a:lnL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Valuation</a:t>
                      </a:r>
                    </a:p>
                  </a:txBody>
                  <a:tcPr>
                    <a:lnL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76387643"/>
                  </a:ext>
                </a:extLst>
              </a:tr>
              <a:tr h="712641">
                <a:tc>
                  <a:txBody>
                    <a:bodyPr/>
                    <a:lstStyle/>
                    <a:p>
                      <a:r>
                        <a:rPr lang="en-US" sz="1800" b="1" dirty="0" err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Hundy</a:t>
                      </a: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endParaRPr lang="en-US" sz="1200" b="1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r>
                        <a:rPr lang="en-US" sz="12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P2P Lending App </a:t>
                      </a:r>
                    </a:p>
                    <a:p>
                      <a:r>
                        <a:rPr lang="en-US" sz="12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Est. 2016</a:t>
                      </a:r>
                    </a:p>
                  </a:txBody>
                  <a:tcPr>
                    <a:lnL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Loans up to $500 in minutes – no credit check (177% AOR // 31 days)</a:t>
                      </a:r>
                    </a:p>
                  </a:txBody>
                  <a:tcPr>
                    <a:lnL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10K loans, $1.1M on loan (2019), Live in 8 states</a:t>
                      </a:r>
                    </a:p>
                    <a:p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300+ loans per month</a:t>
                      </a:r>
                    </a:p>
                    <a:p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$1M Raised (Notes) </a:t>
                      </a:r>
                    </a:p>
                    <a:p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Raising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$300K (Reg CF)</a:t>
                      </a:r>
                    </a:p>
                  </a:txBody>
                  <a:tcPr>
                    <a:lnL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$5.75 M (Cap)</a:t>
                      </a:r>
                    </a:p>
                    <a:p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5x $ on Loan</a:t>
                      </a:r>
                    </a:p>
                    <a:p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575x Revenue</a:t>
                      </a:r>
                    </a:p>
                  </a:txBody>
                  <a:tcPr>
                    <a:lnL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3272179"/>
                  </a:ext>
                </a:extLst>
              </a:tr>
              <a:tr h="712641">
                <a:tc>
                  <a:txBody>
                    <a:bodyPr/>
                    <a:lstStyle/>
                    <a:p>
                      <a:r>
                        <a:rPr lang="en-US" sz="1800" b="1" dirty="0" err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GroundFloor</a:t>
                      </a: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</a:p>
                    <a:p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Democratizing Real Estate Investments</a:t>
                      </a:r>
                    </a:p>
                    <a:p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Est. 2013</a:t>
                      </a:r>
                    </a:p>
                  </a:txBody>
                  <a:tcPr>
                    <a:lnL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Crowdfunding Real Estate Debt</a:t>
                      </a:r>
                    </a:p>
                  </a:txBody>
                  <a:tcPr>
                    <a:lnL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$40M on loan &amp; $6.4M in revenue (2019(</a:t>
                      </a:r>
                    </a:p>
                    <a:p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$22M Raised (Note, Seed, Series A)</a:t>
                      </a:r>
                    </a:p>
                    <a:p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Raising $10M (Reg A+)</a:t>
                      </a:r>
                    </a:p>
                  </a:txBody>
                  <a:tcPr>
                    <a:lnL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$73.9M</a:t>
                      </a:r>
                    </a:p>
                    <a:p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2x $ on Loan</a:t>
                      </a:r>
                    </a:p>
                    <a:p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11.5x Revenue </a:t>
                      </a:r>
                    </a:p>
                  </a:txBody>
                  <a:tcPr>
                    <a:lnL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16586984"/>
                  </a:ext>
                </a:extLst>
              </a:tr>
              <a:tr h="712641">
                <a:tc>
                  <a:txBody>
                    <a:bodyPr/>
                    <a:lstStyle/>
                    <a:p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Vital Card (CF)</a:t>
                      </a:r>
                    </a:p>
                    <a:p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Social Network Based Cash Back Credit Card</a:t>
                      </a:r>
                    </a:p>
                    <a:p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Est. 2017</a:t>
                      </a:r>
                    </a:p>
                  </a:txBody>
                  <a:tcPr>
                    <a:lnL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Social Card based on referrals not annual fee </a:t>
                      </a:r>
                    </a:p>
                  </a:txBody>
                  <a:tcPr>
                    <a:lnL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Pre-Revenue</a:t>
                      </a:r>
                    </a:p>
                    <a:p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$3.2M Raised</a:t>
                      </a:r>
                    </a:p>
                    <a:p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150K Customer Waiting List </a:t>
                      </a:r>
                    </a:p>
                    <a:p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Raising $1M (Reg CF)</a:t>
                      </a:r>
                    </a:p>
                  </a:txBody>
                  <a:tcPr>
                    <a:lnL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$10M</a:t>
                      </a:r>
                    </a:p>
                    <a:p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Est based on $2500/account</a:t>
                      </a:r>
                    </a:p>
                  </a:txBody>
                  <a:tcPr>
                    <a:lnL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7945870"/>
                  </a:ext>
                </a:extLst>
              </a:tr>
              <a:tr h="712641">
                <a:tc>
                  <a:txBody>
                    <a:bodyPr/>
                    <a:lstStyle/>
                    <a:p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Caliber (A+)</a:t>
                      </a:r>
                    </a:p>
                    <a:p>
                      <a:r>
                        <a:rPr lang="en-US" sz="12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Alternative Access to Real Estate Investments </a:t>
                      </a:r>
                    </a:p>
                    <a:p>
                      <a:r>
                        <a:rPr lang="en-US" sz="12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Est. 2009</a:t>
                      </a:r>
                    </a:p>
                  </a:txBody>
                  <a:tcPr>
                    <a:lnL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$78M Revenue $8M EBITA (2019)</a:t>
                      </a:r>
                    </a:p>
                    <a:p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$440M Assets under management (AUM) </a:t>
                      </a:r>
                    </a:p>
                    <a:p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$14M Raised </a:t>
                      </a:r>
                    </a:p>
                    <a:p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Raising $50M (Reg A+)</a:t>
                      </a:r>
                    </a:p>
                  </a:txBody>
                  <a:tcPr>
                    <a:lnL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$130M </a:t>
                      </a:r>
                    </a:p>
                    <a:p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1.7x Revenue</a:t>
                      </a:r>
                    </a:p>
                    <a:p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16x EBITA</a:t>
                      </a:r>
                    </a:p>
                    <a:p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</a:p>
                    <a:p>
                      <a:endParaRPr lang="en-US" sz="140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6C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58832605"/>
                  </a:ext>
                </a:extLst>
              </a:tr>
            </a:tbl>
          </a:graphicData>
        </a:graphic>
      </p:graphicFrame>
      <p:sp>
        <p:nvSpPr>
          <p:cNvPr id="7" name="Title 1">
            <a:extLst>
              <a:ext uri="{FF2B5EF4-FFF2-40B4-BE49-F238E27FC236}">
                <a16:creationId xmlns:a16="http://schemas.microsoft.com/office/drawing/2014/main" id="{68E8CD63-B457-6F44-8497-41007E248185}"/>
              </a:ext>
            </a:extLst>
          </p:cNvPr>
          <p:cNvSpPr txBox="1">
            <a:spLocks/>
          </p:cNvSpPr>
          <p:nvPr/>
        </p:nvSpPr>
        <p:spPr>
          <a:xfrm>
            <a:off x="628650" y="365126"/>
            <a:ext cx="7886700" cy="87030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dirty="0">
                <a:solidFill>
                  <a:srgbClr val="E06CA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Valuation options range from comparables, multipliers and DCF. A few current examples:</a:t>
            </a:r>
          </a:p>
        </p:txBody>
      </p:sp>
    </p:spTree>
    <p:extLst>
      <p:ext uri="{BB962C8B-B14F-4D97-AF65-F5344CB8AC3E}">
        <p14:creationId xmlns:p14="http://schemas.microsoft.com/office/powerpoint/2010/main" val="39510645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2FF9F6BC-0C04-C844-80A8-F7009D645294}"/>
              </a:ext>
            </a:extLst>
          </p:cNvPr>
          <p:cNvSpPr txBox="1"/>
          <p:nvPr/>
        </p:nvSpPr>
        <p:spPr>
          <a:xfrm>
            <a:off x="1838736" y="1593911"/>
            <a:ext cx="900000" cy="540000"/>
          </a:xfrm>
          <a:prstGeom prst="rect">
            <a:avLst/>
          </a:prstGeom>
          <a:noFill/>
          <a:ln w="19050">
            <a:solidFill>
              <a:srgbClr val="E06CA0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sz="800" dirty="0">
                <a:latin typeface="Arial" panose="020B0604020202020204" pitchFamily="34" charset="0"/>
                <a:cs typeface="Arial" panose="020B0604020202020204" pitchFamily="34" charset="0"/>
              </a:rPr>
              <a:t>Reg CF or CAD Offer Memo 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A9152D81-245C-CB4F-A210-BA0375F22C66}"/>
              </a:ext>
            </a:extLst>
          </p:cNvPr>
          <p:cNvCxnSpPr>
            <a:cxnSpLocks/>
            <a:stCxn id="5" idx="3"/>
          </p:cNvCxnSpPr>
          <p:nvPr/>
        </p:nvCxnSpPr>
        <p:spPr>
          <a:xfrm>
            <a:off x="2738736" y="1863911"/>
            <a:ext cx="197903" cy="0"/>
          </a:xfrm>
          <a:prstGeom prst="straightConnector1">
            <a:avLst/>
          </a:prstGeom>
          <a:ln>
            <a:solidFill>
              <a:srgbClr val="E06C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Rectangle 41">
            <a:extLst>
              <a:ext uri="{FF2B5EF4-FFF2-40B4-BE49-F238E27FC236}">
                <a16:creationId xmlns:a16="http://schemas.microsoft.com/office/drawing/2014/main" id="{90ED7D63-7650-5944-9C34-B9E1928C73EA}"/>
              </a:ext>
            </a:extLst>
          </p:cNvPr>
          <p:cNvSpPr/>
          <p:nvPr/>
        </p:nvSpPr>
        <p:spPr>
          <a:xfrm>
            <a:off x="1198564" y="1670477"/>
            <a:ext cx="444352" cy="215444"/>
          </a:xfrm>
          <a:prstGeom prst="rect">
            <a:avLst/>
          </a:prstGeom>
          <a:ln>
            <a:noFill/>
          </a:ln>
        </p:spPr>
        <p:txBody>
          <a:bodyPr wrap="none">
            <a:spAutoFit/>
          </a:bodyPr>
          <a:lstStyle/>
          <a:p>
            <a:r>
              <a:rPr lang="en-US" sz="800" dirty="0">
                <a:latin typeface="Arial" panose="020B0604020202020204" pitchFamily="34" charset="0"/>
                <a:cs typeface="Arial" panose="020B0604020202020204" pitchFamily="34" charset="0"/>
              </a:rPr>
              <a:t>&gt;$5M</a:t>
            </a:r>
            <a:endParaRPr lang="en-US" dirty="0"/>
          </a:p>
        </p:txBody>
      </p:sp>
      <p:sp>
        <p:nvSpPr>
          <p:cNvPr id="110" name="Oval 109">
            <a:extLst>
              <a:ext uri="{FF2B5EF4-FFF2-40B4-BE49-F238E27FC236}">
                <a16:creationId xmlns:a16="http://schemas.microsoft.com/office/drawing/2014/main" id="{6D43C944-FD22-C540-803A-DD7146E8C4B0}"/>
              </a:ext>
            </a:extLst>
          </p:cNvPr>
          <p:cNvSpPr/>
          <p:nvPr/>
        </p:nvSpPr>
        <p:spPr>
          <a:xfrm>
            <a:off x="8507257" y="2053355"/>
            <a:ext cx="324000" cy="324000"/>
          </a:xfrm>
          <a:prstGeom prst="ellipse">
            <a:avLst/>
          </a:prstGeom>
          <a:solidFill>
            <a:srgbClr val="E06CA0"/>
          </a:solidFill>
          <a:ln>
            <a:solidFill>
              <a:srgbClr val="E06C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43C29E87-972F-824C-B7F5-B6A4FE82D2C6}"/>
              </a:ext>
            </a:extLst>
          </p:cNvPr>
          <p:cNvSpPr txBox="1"/>
          <p:nvPr/>
        </p:nvSpPr>
        <p:spPr>
          <a:xfrm>
            <a:off x="8306541" y="1958185"/>
            <a:ext cx="720000" cy="540000"/>
          </a:xfrm>
          <a:prstGeom prst="rect">
            <a:avLst/>
          </a:prstGeom>
          <a:noFill/>
          <a:ln w="19050">
            <a:noFill/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End</a:t>
            </a:r>
          </a:p>
        </p:txBody>
      </p:sp>
      <p:sp>
        <p:nvSpPr>
          <p:cNvPr id="58" name="Diamond 57">
            <a:extLst>
              <a:ext uri="{FF2B5EF4-FFF2-40B4-BE49-F238E27FC236}">
                <a16:creationId xmlns:a16="http://schemas.microsoft.com/office/drawing/2014/main" id="{3CA37382-5519-1843-8AD1-A9CD88B65A2F}"/>
              </a:ext>
            </a:extLst>
          </p:cNvPr>
          <p:cNvSpPr>
            <a:spLocks noChangeAspect="1"/>
          </p:cNvSpPr>
          <p:nvPr/>
        </p:nvSpPr>
        <p:spPr>
          <a:xfrm>
            <a:off x="406440" y="1771081"/>
            <a:ext cx="900000" cy="900000"/>
          </a:xfrm>
          <a:prstGeom prst="diamond">
            <a:avLst/>
          </a:prstGeom>
          <a:noFill/>
          <a:ln w="19050">
            <a:solidFill>
              <a:srgbClr val="E06CA0"/>
            </a:solidFill>
          </a:ln>
        </p:spPr>
        <p:txBody>
          <a:bodyPr wrap="square" lIns="36000" rIns="36000" rtlCol="0" anchor="ctr">
            <a:noAutofit/>
          </a:bodyPr>
          <a:lstStyle/>
          <a:p>
            <a:pPr algn="ctr"/>
            <a:r>
              <a:rPr lang="en-US" sz="700" dirty="0">
                <a:latin typeface="Arial" panose="020B0604020202020204" pitchFamily="34" charset="0"/>
                <a:cs typeface="Arial" panose="020B0604020202020204" pitchFamily="34" charset="0"/>
              </a:rPr>
              <a:t>Funds Required</a:t>
            </a:r>
            <a:endParaRPr lang="en-US" sz="7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161B524-37BB-2040-8D57-BBA4517CBD51}"/>
              </a:ext>
            </a:extLst>
          </p:cNvPr>
          <p:cNvSpPr txBox="1"/>
          <p:nvPr/>
        </p:nvSpPr>
        <p:spPr>
          <a:xfrm>
            <a:off x="1841749" y="2314121"/>
            <a:ext cx="900000" cy="540000"/>
          </a:xfrm>
          <a:prstGeom prst="rect">
            <a:avLst/>
          </a:prstGeom>
          <a:noFill/>
          <a:ln w="19050">
            <a:solidFill>
              <a:srgbClr val="E06CA0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sz="800" dirty="0">
                <a:latin typeface="Arial" panose="020B0604020202020204" pitchFamily="34" charset="0"/>
                <a:cs typeface="Arial" panose="020B0604020202020204" pitchFamily="34" charset="0"/>
              </a:rPr>
              <a:t>Reg A+</a:t>
            </a:r>
          </a:p>
        </p:txBody>
      </p:sp>
      <p:cxnSp>
        <p:nvCxnSpPr>
          <p:cNvPr id="32" name="Elbow Connector 31">
            <a:extLst>
              <a:ext uri="{FF2B5EF4-FFF2-40B4-BE49-F238E27FC236}">
                <a16:creationId xmlns:a16="http://schemas.microsoft.com/office/drawing/2014/main" id="{1B601E9D-5900-034A-AAFC-7DB0B04125CA}"/>
              </a:ext>
            </a:extLst>
          </p:cNvPr>
          <p:cNvCxnSpPr>
            <a:cxnSpLocks/>
            <a:stCxn id="58" idx="3"/>
            <a:endCxn id="5" idx="1"/>
          </p:cNvCxnSpPr>
          <p:nvPr/>
        </p:nvCxnSpPr>
        <p:spPr>
          <a:xfrm flipV="1">
            <a:off x="1306440" y="1863911"/>
            <a:ext cx="532296" cy="357170"/>
          </a:xfrm>
          <a:prstGeom prst="bentConnector3">
            <a:avLst>
              <a:gd name="adj1" fmla="val 50000"/>
            </a:avLst>
          </a:prstGeom>
          <a:ln>
            <a:solidFill>
              <a:srgbClr val="E06C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Elbow Connector 34">
            <a:extLst>
              <a:ext uri="{FF2B5EF4-FFF2-40B4-BE49-F238E27FC236}">
                <a16:creationId xmlns:a16="http://schemas.microsoft.com/office/drawing/2014/main" id="{8F0B0C14-D551-8D4D-8990-B9AB9419E8B8}"/>
              </a:ext>
            </a:extLst>
          </p:cNvPr>
          <p:cNvCxnSpPr>
            <a:cxnSpLocks/>
            <a:stCxn id="58" idx="3"/>
            <a:endCxn id="30" idx="1"/>
          </p:cNvCxnSpPr>
          <p:nvPr/>
        </p:nvCxnSpPr>
        <p:spPr>
          <a:xfrm>
            <a:off x="1306440" y="2221081"/>
            <a:ext cx="535309" cy="363040"/>
          </a:xfrm>
          <a:prstGeom prst="bentConnector3">
            <a:avLst>
              <a:gd name="adj1" fmla="val 50000"/>
            </a:avLst>
          </a:prstGeom>
          <a:ln>
            <a:solidFill>
              <a:srgbClr val="E06C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Rectangle 37">
            <a:extLst>
              <a:ext uri="{FF2B5EF4-FFF2-40B4-BE49-F238E27FC236}">
                <a16:creationId xmlns:a16="http://schemas.microsoft.com/office/drawing/2014/main" id="{24060EAC-DE9E-3447-A5F7-C7D5670050B1}"/>
              </a:ext>
            </a:extLst>
          </p:cNvPr>
          <p:cNvSpPr/>
          <p:nvPr/>
        </p:nvSpPr>
        <p:spPr>
          <a:xfrm>
            <a:off x="1198564" y="2582091"/>
            <a:ext cx="444352" cy="215444"/>
          </a:xfrm>
          <a:prstGeom prst="rect">
            <a:avLst/>
          </a:prstGeom>
          <a:ln>
            <a:noFill/>
          </a:ln>
        </p:spPr>
        <p:txBody>
          <a:bodyPr wrap="none">
            <a:spAutoFit/>
          </a:bodyPr>
          <a:lstStyle/>
          <a:p>
            <a:r>
              <a:rPr lang="en-US" sz="800" dirty="0">
                <a:latin typeface="Arial" panose="020B0604020202020204" pitchFamily="34" charset="0"/>
                <a:cs typeface="Arial" panose="020B0604020202020204" pitchFamily="34" charset="0"/>
              </a:rPr>
              <a:t>&lt;$5M</a:t>
            </a:r>
            <a:endParaRPr lang="en-US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9F5D9BA-C7E9-9947-9811-429DECD4E2BD}"/>
              </a:ext>
            </a:extLst>
          </p:cNvPr>
          <p:cNvSpPr txBox="1"/>
          <p:nvPr/>
        </p:nvSpPr>
        <p:spPr>
          <a:xfrm>
            <a:off x="5199869" y="2342241"/>
            <a:ext cx="900000" cy="540000"/>
          </a:xfrm>
          <a:prstGeom prst="rect">
            <a:avLst/>
          </a:prstGeom>
          <a:noFill/>
          <a:ln w="19050">
            <a:solidFill>
              <a:srgbClr val="E06CA0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sz="800" dirty="0">
                <a:latin typeface="Arial" panose="020B0604020202020204" pitchFamily="34" charset="0"/>
                <a:cs typeface="Arial" panose="020B0604020202020204" pitchFamily="34" charset="0"/>
              </a:rPr>
              <a:t>Independent Audit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5B5A2F6-3C44-3848-8441-92D8471313AF}"/>
              </a:ext>
            </a:extLst>
          </p:cNvPr>
          <p:cNvSpPr txBox="1"/>
          <p:nvPr/>
        </p:nvSpPr>
        <p:spPr>
          <a:xfrm>
            <a:off x="6341265" y="2342241"/>
            <a:ext cx="900000" cy="540000"/>
          </a:xfrm>
          <a:prstGeom prst="rect">
            <a:avLst/>
          </a:prstGeom>
          <a:noFill/>
          <a:ln w="19050">
            <a:solidFill>
              <a:srgbClr val="E06CA0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sz="800" dirty="0">
                <a:latin typeface="Arial" panose="020B0604020202020204" pitchFamily="34" charset="0"/>
                <a:cs typeface="Arial" panose="020B0604020202020204" pitchFamily="34" charset="0"/>
              </a:rPr>
              <a:t>Form 1-A</a:t>
            </a:r>
          </a:p>
          <a:p>
            <a:pPr algn="ctr"/>
            <a:r>
              <a:rPr lang="en-US" sz="800" dirty="0">
                <a:latin typeface="Arial" panose="020B0604020202020204" pitchFamily="34" charset="0"/>
                <a:cs typeface="Arial" panose="020B0604020202020204" pitchFamily="34" charset="0"/>
              </a:rPr>
              <a:t>SEC Approval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D2AD802-546F-D34C-A476-C9D3EB19783D}"/>
              </a:ext>
            </a:extLst>
          </p:cNvPr>
          <p:cNvSpPr txBox="1"/>
          <p:nvPr/>
        </p:nvSpPr>
        <p:spPr>
          <a:xfrm>
            <a:off x="7454954" y="1610907"/>
            <a:ext cx="900000" cy="540000"/>
          </a:xfrm>
          <a:prstGeom prst="rect">
            <a:avLst/>
          </a:prstGeom>
          <a:noFill/>
          <a:ln w="19050">
            <a:solidFill>
              <a:srgbClr val="E06CA0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sz="800" dirty="0">
                <a:latin typeface="Arial" panose="020B0604020202020204" pitchFamily="34" charset="0"/>
                <a:cs typeface="Arial" panose="020B0604020202020204" pitchFamily="34" charset="0"/>
              </a:rPr>
              <a:t>Raise up to $5M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2C8C7AD0-7860-B442-8803-C093C23F0A8F}"/>
              </a:ext>
            </a:extLst>
          </p:cNvPr>
          <p:cNvSpPr/>
          <p:nvPr/>
        </p:nvSpPr>
        <p:spPr>
          <a:xfrm>
            <a:off x="5380932" y="2882241"/>
            <a:ext cx="622286" cy="215444"/>
          </a:xfrm>
          <a:prstGeom prst="rect">
            <a:avLst/>
          </a:prstGeom>
          <a:ln>
            <a:noFill/>
          </a:ln>
        </p:spPr>
        <p:txBody>
          <a:bodyPr wrap="none">
            <a:spAutoFit/>
          </a:bodyPr>
          <a:lstStyle/>
          <a:p>
            <a:r>
              <a:rPr lang="en-US" sz="800" dirty="0">
                <a:latin typeface="Arial" panose="020B0604020202020204" pitchFamily="34" charset="0"/>
                <a:cs typeface="Arial" panose="020B0604020202020204" pitchFamily="34" charset="0"/>
              </a:rPr>
              <a:t>+90 Days</a:t>
            </a:r>
            <a:endParaRPr lang="en-US" dirty="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D2A01FCC-E75A-A14E-BFE8-ED927C9FF424}"/>
              </a:ext>
            </a:extLst>
          </p:cNvPr>
          <p:cNvSpPr/>
          <p:nvPr/>
        </p:nvSpPr>
        <p:spPr>
          <a:xfrm>
            <a:off x="6554392" y="2882241"/>
            <a:ext cx="622286" cy="215444"/>
          </a:xfrm>
          <a:prstGeom prst="rect">
            <a:avLst/>
          </a:prstGeom>
          <a:ln>
            <a:noFill/>
          </a:ln>
        </p:spPr>
        <p:txBody>
          <a:bodyPr wrap="none">
            <a:spAutoFit/>
          </a:bodyPr>
          <a:lstStyle/>
          <a:p>
            <a:r>
              <a:rPr lang="en-US" sz="800" dirty="0">
                <a:latin typeface="Arial" panose="020B0604020202020204" pitchFamily="34" charset="0"/>
                <a:cs typeface="Arial" panose="020B0604020202020204" pitchFamily="34" charset="0"/>
              </a:rPr>
              <a:t>+90 Days</a:t>
            </a:r>
            <a:endParaRPr lang="en-US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7225B595-830E-7B4E-8B74-F42A6C7A8F3B}"/>
              </a:ext>
            </a:extLst>
          </p:cNvPr>
          <p:cNvSpPr txBox="1"/>
          <p:nvPr/>
        </p:nvSpPr>
        <p:spPr>
          <a:xfrm>
            <a:off x="2946963" y="1593911"/>
            <a:ext cx="900000" cy="540000"/>
          </a:xfrm>
          <a:prstGeom prst="rect">
            <a:avLst/>
          </a:prstGeom>
          <a:noFill/>
          <a:ln w="19050">
            <a:solidFill>
              <a:srgbClr val="E06CA0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sz="800" dirty="0">
                <a:latin typeface="Arial" panose="020B0604020202020204" pitchFamily="34" charset="0"/>
                <a:cs typeface="Arial" panose="020B0604020202020204" pitchFamily="34" charset="0"/>
              </a:rPr>
              <a:t>Best Practice Structure (IP, HR, </a:t>
            </a:r>
            <a:r>
              <a:rPr lang="en-US" sz="800" dirty="0" err="1">
                <a:latin typeface="Arial" panose="020B0604020202020204" pitchFamily="34" charset="0"/>
                <a:cs typeface="Arial" panose="020B0604020202020204" pitchFamily="34" charset="0"/>
              </a:rPr>
              <a:t>etc</a:t>
            </a:r>
            <a:r>
              <a:rPr lang="en-US" sz="8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1E2B405-4343-7445-890A-804C3F238AC1}"/>
              </a:ext>
            </a:extLst>
          </p:cNvPr>
          <p:cNvSpPr txBox="1"/>
          <p:nvPr/>
        </p:nvSpPr>
        <p:spPr>
          <a:xfrm>
            <a:off x="2970349" y="2312091"/>
            <a:ext cx="900000" cy="540000"/>
          </a:xfrm>
          <a:prstGeom prst="rect">
            <a:avLst/>
          </a:prstGeom>
          <a:noFill/>
          <a:ln w="19050">
            <a:solidFill>
              <a:srgbClr val="E06CA0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sz="800" dirty="0">
                <a:latin typeface="Arial" panose="020B0604020202020204" pitchFamily="34" charset="0"/>
                <a:cs typeface="Arial" panose="020B0604020202020204" pitchFamily="34" charset="0"/>
              </a:rPr>
              <a:t>Best Practice Structure (IP, HR, </a:t>
            </a:r>
            <a:r>
              <a:rPr lang="en-US" sz="800" dirty="0" err="1">
                <a:latin typeface="Arial" panose="020B0604020202020204" pitchFamily="34" charset="0"/>
                <a:cs typeface="Arial" panose="020B0604020202020204" pitchFamily="34" charset="0"/>
              </a:rPr>
              <a:t>etc</a:t>
            </a:r>
            <a:r>
              <a:rPr lang="en-US" sz="8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8C0D2D94-D4AA-594C-B736-033172EB85C8}"/>
              </a:ext>
            </a:extLst>
          </p:cNvPr>
          <p:cNvSpPr txBox="1"/>
          <p:nvPr/>
        </p:nvSpPr>
        <p:spPr>
          <a:xfrm>
            <a:off x="4059743" y="2325289"/>
            <a:ext cx="900000" cy="540000"/>
          </a:xfrm>
          <a:prstGeom prst="rect">
            <a:avLst/>
          </a:prstGeom>
          <a:noFill/>
          <a:ln w="19050">
            <a:solidFill>
              <a:srgbClr val="E06CA0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sz="800" dirty="0">
                <a:latin typeface="Arial" panose="020B0604020202020204" pitchFamily="34" charset="0"/>
                <a:cs typeface="Arial" panose="020B0604020202020204" pitchFamily="34" charset="0"/>
              </a:rPr>
              <a:t>6 Month Financial History (ideal)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0CD2B893-A5B0-A346-BE11-89FD83AE807E}"/>
              </a:ext>
            </a:extLst>
          </p:cNvPr>
          <p:cNvSpPr txBox="1"/>
          <p:nvPr/>
        </p:nvSpPr>
        <p:spPr>
          <a:xfrm>
            <a:off x="7482651" y="2343406"/>
            <a:ext cx="900000" cy="540000"/>
          </a:xfrm>
          <a:prstGeom prst="rect">
            <a:avLst/>
          </a:prstGeom>
          <a:noFill/>
          <a:ln w="19050">
            <a:solidFill>
              <a:srgbClr val="E06CA0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sz="800" dirty="0">
                <a:latin typeface="Arial" panose="020B0604020202020204" pitchFamily="34" charset="0"/>
                <a:cs typeface="Arial" panose="020B0604020202020204" pitchFamily="34" charset="0"/>
              </a:rPr>
              <a:t>Raise between $2M and $75M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5AC26C45-8623-0A4F-A93E-6B7CC85B377F}"/>
              </a:ext>
            </a:extLst>
          </p:cNvPr>
          <p:cNvSpPr/>
          <p:nvPr/>
        </p:nvSpPr>
        <p:spPr>
          <a:xfrm>
            <a:off x="3138861" y="2882241"/>
            <a:ext cx="622286" cy="215444"/>
          </a:xfrm>
          <a:prstGeom prst="rect">
            <a:avLst/>
          </a:prstGeom>
          <a:ln>
            <a:noFill/>
          </a:ln>
        </p:spPr>
        <p:txBody>
          <a:bodyPr wrap="none">
            <a:spAutoFit/>
          </a:bodyPr>
          <a:lstStyle/>
          <a:p>
            <a:r>
              <a:rPr lang="en-US" sz="800" dirty="0">
                <a:latin typeface="Arial" panose="020B0604020202020204" pitchFamily="34" charset="0"/>
                <a:cs typeface="Arial" panose="020B0604020202020204" pitchFamily="34" charset="0"/>
              </a:rPr>
              <a:t>+30 Days</a:t>
            </a:r>
            <a:endParaRPr lang="en-US" dirty="0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F0A9BB66-7DEA-8444-B5C1-204B55F9C9AB}"/>
              </a:ext>
            </a:extLst>
          </p:cNvPr>
          <p:cNvSpPr/>
          <p:nvPr/>
        </p:nvSpPr>
        <p:spPr>
          <a:xfrm>
            <a:off x="4228255" y="2882241"/>
            <a:ext cx="679994" cy="215444"/>
          </a:xfrm>
          <a:prstGeom prst="rect">
            <a:avLst/>
          </a:prstGeom>
          <a:ln>
            <a:noFill/>
          </a:ln>
        </p:spPr>
        <p:txBody>
          <a:bodyPr wrap="none">
            <a:spAutoFit/>
          </a:bodyPr>
          <a:lstStyle/>
          <a:p>
            <a:r>
              <a:rPr lang="en-US" sz="800" dirty="0">
                <a:latin typeface="Arial" panose="020B0604020202020204" pitchFamily="34" charset="0"/>
                <a:cs typeface="Arial" panose="020B0604020202020204" pitchFamily="34" charset="0"/>
              </a:rPr>
              <a:t>+180 Days</a:t>
            </a:r>
            <a:endParaRPr lang="en-US" dirty="0"/>
          </a:p>
        </p:txBody>
      </p: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2B0D961B-E0F0-BF42-BAA4-3237DF981079}"/>
              </a:ext>
            </a:extLst>
          </p:cNvPr>
          <p:cNvCxnSpPr>
            <a:cxnSpLocks/>
          </p:cNvCxnSpPr>
          <p:nvPr/>
        </p:nvCxnSpPr>
        <p:spPr>
          <a:xfrm>
            <a:off x="2738736" y="2586399"/>
            <a:ext cx="197903" cy="0"/>
          </a:xfrm>
          <a:prstGeom prst="straightConnector1">
            <a:avLst/>
          </a:prstGeom>
          <a:ln>
            <a:solidFill>
              <a:srgbClr val="E06C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6734BAC8-46B3-1D49-BD27-CE0BCEC04B7F}"/>
              </a:ext>
            </a:extLst>
          </p:cNvPr>
          <p:cNvCxnSpPr>
            <a:cxnSpLocks/>
          </p:cNvCxnSpPr>
          <p:nvPr/>
        </p:nvCxnSpPr>
        <p:spPr>
          <a:xfrm>
            <a:off x="3861840" y="2582091"/>
            <a:ext cx="197903" cy="0"/>
          </a:xfrm>
          <a:prstGeom prst="straightConnector1">
            <a:avLst/>
          </a:prstGeom>
          <a:ln>
            <a:solidFill>
              <a:srgbClr val="E06C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21231F4D-8B3C-274C-8398-FEA3AED6F846}"/>
              </a:ext>
            </a:extLst>
          </p:cNvPr>
          <p:cNvCxnSpPr>
            <a:cxnSpLocks/>
          </p:cNvCxnSpPr>
          <p:nvPr/>
        </p:nvCxnSpPr>
        <p:spPr>
          <a:xfrm>
            <a:off x="4959743" y="2582091"/>
            <a:ext cx="197903" cy="0"/>
          </a:xfrm>
          <a:prstGeom prst="straightConnector1">
            <a:avLst/>
          </a:prstGeom>
          <a:ln>
            <a:solidFill>
              <a:srgbClr val="E06C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4CCCF100-FBAE-154B-87D2-A659032B705F}"/>
              </a:ext>
            </a:extLst>
          </p:cNvPr>
          <p:cNvCxnSpPr>
            <a:cxnSpLocks/>
          </p:cNvCxnSpPr>
          <p:nvPr/>
        </p:nvCxnSpPr>
        <p:spPr>
          <a:xfrm>
            <a:off x="6099869" y="2595289"/>
            <a:ext cx="197903" cy="0"/>
          </a:xfrm>
          <a:prstGeom prst="straightConnector1">
            <a:avLst/>
          </a:prstGeom>
          <a:ln>
            <a:solidFill>
              <a:srgbClr val="E06C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0CF90796-2DDF-754C-B798-FF608E00AD76}"/>
              </a:ext>
            </a:extLst>
          </p:cNvPr>
          <p:cNvCxnSpPr>
            <a:cxnSpLocks/>
          </p:cNvCxnSpPr>
          <p:nvPr/>
        </p:nvCxnSpPr>
        <p:spPr>
          <a:xfrm>
            <a:off x="7241265" y="2601608"/>
            <a:ext cx="197903" cy="0"/>
          </a:xfrm>
          <a:prstGeom prst="straightConnector1">
            <a:avLst/>
          </a:prstGeom>
          <a:ln>
            <a:solidFill>
              <a:srgbClr val="E06C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Rectangle 72">
            <a:extLst>
              <a:ext uri="{FF2B5EF4-FFF2-40B4-BE49-F238E27FC236}">
                <a16:creationId xmlns:a16="http://schemas.microsoft.com/office/drawing/2014/main" id="{0749DB40-2317-3C4F-A43D-FD2F01990AA6}"/>
              </a:ext>
            </a:extLst>
          </p:cNvPr>
          <p:cNvSpPr/>
          <p:nvPr/>
        </p:nvSpPr>
        <p:spPr>
          <a:xfrm>
            <a:off x="7628388" y="2882241"/>
            <a:ext cx="726481" cy="215444"/>
          </a:xfrm>
          <a:prstGeom prst="rect">
            <a:avLst/>
          </a:prstGeom>
          <a:ln>
            <a:noFill/>
          </a:ln>
        </p:spPr>
        <p:txBody>
          <a:bodyPr wrap="none">
            <a:spAutoFit/>
          </a:bodyPr>
          <a:lstStyle/>
          <a:p>
            <a:r>
              <a:rPr lang="en-US" sz="800" dirty="0">
                <a:latin typeface="Arial" panose="020B0604020202020204" pitchFamily="34" charset="0"/>
                <a:cs typeface="Arial" panose="020B0604020202020204" pitchFamily="34" charset="0"/>
              </a:rPr>
              <a:t>+12 months</a:t>
            </a:r>
            <a:endParaRPr lang="en-US" dirty="0"/>
          </a:p>
        </p:txBody>
      </p: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47D84A05-489A-864B-830D-74FF90059DA5}"/>
              </a:ext>
            </a:extLst>
          </p:cNvPr>
          <p:cNvCxnSpPr>
            <a:cxnSpLocks/>
            <a:endCxn id="41" idx="1"/>
          </p:cNvCxnSpPr>
          <p:nvPr/>
        </p:nvCxnSpPr>
        <p:spPr>
          <a:xfrm>
            <a:off x="3846963" y="1863911"/>
            <a:ext cx="3607991" cy="16996"/>
          </a:xfrm>
          <a:prstGeom prst="straightConnector1">
            <a:avLst/>
          </a:prstGeom>
          <a:ln>
            <a:solidFill>
              <a:srgbClr val="E06C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Elbow Connector 74">
            <a:extLst>
              <a:ext uri="{FF2B5EF4-FFF2-40B4-BE49-F238E27FC236}">
                <a16:creationId xmlns:a16="http://schemas.microsoft.com/office/drawing/2014/main" id="{3B6678E0-A66B-2F43-89F3-BD089B8C5F26}"/>
              </a:ext>
            </a:extLst>
          </p:cNvPr>
          <p:cNvCxnSpPr>
            <a:cxnSpLocks/>
            <a:stCxn id="41" idx="3"/>
            <a:endCxn id="58" idx="2"/>
          </p:cNvCxnSpPr>
          <p:nvPr/>
        </p:nvCxnSpPr>
        <p:spPr>
          <a:xfrm flipH="1">
            <a:off x="856440" y="1880907"/>
            <a:ext cx="7498514" cy="790174"/>
          </a:xfrm>
          <a:prstGeom prst="bentConnector4">
            <a:avLst>
              <a:gd name="adj1" fmla="val -4467"/>
              <a:gd name="adj2" fmla="val 216394"/>
            </a:avLst>
          </a:prstGeom>
          <a:ln>
            <a:solidFill>
              <a:srgbClr val="E06C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itle 1">
            <a:extLst>
              <a:ext uri="{FF2B5EF4-FFF2-40B4-BE49-F238E27FC236}">
                <a16:creationId xmlns:a16="http://schemas.microsoft.com/office/drawing/2014/main" id="{7C29CB92-CCD1-6D4D-B588-CC63998A1291}"/>
              </a:ext>
            </a:extLst>
          </p:cNvPr>
          <p:cNvSpPr txBox="1">
            <a:spLocks/>
          </p:cNvSpPr>
          <p:nvPr/>
        </p:nvSpPr>
        <p:spPr>
          <a:xfrm>
            <a:off x="628650" y="365126"/>
            <a:ext cx="7886700" cy="87030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dirty="0">
                <a:solidFill>
                  <a:srgbClr val="E06CA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High level process, steps and timeline for Lady Loans capital raise</a:t>
            </a:r>
          </a:p>
        </p:txBody>
      </p:sp>
    </p:spTree>
    <p:extLst>
      <p:ext uri="{BB962C8B-B14F-4D97-AF65-F5344CB8AC3E}">
        <p14:creationId xmlns:p14="http://schemas.microsoft.com/office/powerpoint/2010/main" val="407478533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4374</TotalTime>
  <Words>1472</Words>
  <Application>Microsoft Macintosh PowerPoint</Application>
  <PresentationFormat>Letter Paper (8.5x11 in)</PresentationFormat>
  <Paragraphs>377</Paragraphs>
  <Slides>9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Arial</vt:lpstr>
      <vt:lpstr>Arial Black</vt:lpstr>
      <vt:lpstr>Calibri</vt:lpstr>
      <vt:lpstr>Calibri Light</vt:lpstr>
      <vt:lpstr>Office Theme</vt:lpstr>
      <vt:lpstr>PowerPoint Presentation</vt:lpstr>
      <vt:lpstr>Agenda</vt:lpstr>
      <vt:lpstr>PowerPoint Presentation</vt:lpstr>
      <vt:lpstr>The currently Lady Loan process, benefits, and recruitment cycle </vt:lpstr>
      <vt:lpstr>PowerPoint Presentation</vt:lpstr>
      <vt:lpstr>Key questions for discussion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/>
  <cp:lastModifiedBy>Matt Knight</cp:lastModifiedBy>
  <cp:revision>126</cp:revision>
  <dcterms:created xsi:type="dcterms:W3CDTF">2020-12-18T16:16:32Z</dcterms:created>
  <dcterms:modified xsi:type="dcterms:W3CDTF">2021-01-11T22:56:44Z</dcterms:modified>
</cp:coreProperties>
</file>