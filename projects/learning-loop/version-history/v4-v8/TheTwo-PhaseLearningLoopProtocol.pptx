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3677"/>
            <a:ext cx="6429375" cy="226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TWO-PHASE</a:t>
            </a:r>
            <a:pPr algn="l" indent="0" marL="0">
              <a:lnSpc>
                <a:spcPts val="5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5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LOOP</a:t>
            </a:r>
            <a:pPr algn="l" indent="0" marL="0">
              <a:lnSpc>
                <a:spcPts val="5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5900"/>
              </a:lnSpc>
              <a:buNone/>
            </a:pPr>
            <a:r>
              <a:rPr lang="en-US" sz="497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1000125" y="3122516"/>
            <a:ext cx="64293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Framework for AI Quality Assurance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Continuous Improvement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1000125" y="4191177"/>
            <a:ext cx="3850481" cy="3786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94/100 to 98/100: The Protocol in Action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05498"/>
            <a:ext cx="494347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Problem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694157"/>
            <a:ext cx="4943475" cy="77152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outputs often lack consistent quality control and a structured path for measurable improvement, leading to unpredictable results.</a:t>
            </a:r>
            <a:endParaRPr lang="en-US" sz="1269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79995"/>
            <a:ext cx="24003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994320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Quality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71500" y="3210418"/>
            <a:ext cx="2400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vary significantly across tasks without a standard baseline.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2679995"/>
            <a:ext cx="24003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14675" y="2994320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Self-Evaluation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3114675" y="3210418"/>
            <a:ext cx="2400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 mandatory mechanism to check work before delivery.</a:t>
            </a:r>
            <a:endParaRPr lang="en-US" sz="83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73311"/>
            <a:ext cx="24003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1500" y="3987636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Untracked Improvement</a:t>
            </a:r>
            <a:endParaRPr lang="en-US" sz="987" dirty="0"/>
          </a:p>
        </p:txBody>
      </p:sp>
      <p:sp>
        <p:nvSpPr>
          <p:cNvPr id="13" name="Text 7"/>
          <p:cNvSpPr/>
          <p:nvPr/>
        </p:nvSpPr>
        <p:spPr>
          <a:xfrm>
            <a:off x="571500" y="4203734"/>
            <a:ext cx="2400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data on whether iterations are actually adding value.</a:t>
            </a:r>
            <a:endParaRPr lang="en-US" sz="83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675" y="3673311"/>
            <a:ext cx="24003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114675" y="3987636"/>
            <a:ext cx="24003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"Good Enough" Ambiguity</a:t>
            </a:r>
            <a:endParaRPr lang="en-US" sz="987" dirty="0"/>
          </a:p>
        </p:txBody>
      </p:sp>
      <p:sp>
        <p:nvSpPr>
          <p:cNvPr id="16" name="Text 9"/>
          <p:cNvSpPr/>
          <p:nvPr/>
        </p:nvSpPr>
        <p:spPr>
          <a:xfrm>
            <a:off x="3114675" y="4203734"/>
            <a:ext cx="2400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determining when an output is ready to ship.</a:t>
            </a:r>
            <a:endParaRPr lang="en-US" sz="834" dirty="0"/>
          </a:p>
        </p:txBody>
      </p:sp>
      <p:sp>
        <p:nvSpPr>
          <p:cNvPr id="17" name="Text 10"/>
          <p:cNvSpPr/>
          <p:nvPr/>
        </p:nvSpPr>
        <p:spPr>
          <a:xfrm>
            <a:off x="571500" y="4736306"/>
            <a:ext cx="130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83" dirty="0"/>
          </a:p>
        </p:txBody>
      </p:sp>
      <p:sp>
        <p:nvSpPr>
          <p:cNvPr id="18" name="Shape 1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4F4F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33917"/>
            <a:ext cx="9144000" cy="54113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-133917"/>
            <a:ext cx="3657600" cy="541133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2"/>
          <p:cNvSpPr/>
          <p:nvPr/>
        </p:nvSpPr>
        <p:spPr>
          <a:xfrm>
            <a:off x="3650456" y="-133917"/>
            <a:ext cx="7144" cy="5411335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4" y="1600535"/>
            <a:ext cx="2926063" cy="1942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86225" y="437583"/>
            <a:ext cx="44862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Two-Phase Architecture</a:t>
            </a:r>
            <a:endParaRPr lang="en-US" sz="2862" dirty="0"/>
          </a:p>
        </p:txBody>
      </p:sp>
      <p:sp>
        <p:nvSpPr>
          <p:cNvPr id="8" name="Text 4"/>
          <p:cNvSpPr/>
          <p:nvPr/>
        </p:nvSpPr>
        <p:spPr>
          <a:xfrm>
            <a:off x="4086225" y="1603409"/>
            <a:ext cx="44862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protocol operates in two distinct, sequential phases to ensure both baseline quality and continuous improvement.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343400" y="2389222"/>
            <a:ext cx="678656" cy="16252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0" name="Text 6"/>
          <p:cNvSpPr/>
          <p:nvPr/>
        </p:nvSpPr>
        <p:spPr>
          <a:xfrm>
            <a:off x="4343400" y="2389222"/>
            <a:ext cx="678656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4343400" y="2623179"/>
            <a:ext cx="4229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BASELINE QUALITY GATE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4343400" y="2901786"/>
            <a:ext cx="42291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as a mandatory quality check. Ensures every major deliverable meets an 80/100 threshold before delivery.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4343400" y="3547570"/>
            <a:ext cx="1382316" cy="1625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4" name="Text 10"/>
          <p:cNvSpPr/>
          <p:nvPr/>
        </p:nvSpPr>
        <p:spPr>
          <a:xfrm>
            <a:off x="4343400" y="3547570"/>
            <a:ext cx="1382316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/ USER-TRIGGERED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4343400" y="3781527"/>
            <a:ext cx="4229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ITERATIVE IMPROVEMENT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4343400" y="4060134"/>
            <a:ext cx="42291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Activated on user request. Provides a structured framework for aggressive enhancement with measured KPIs.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8440341" y="4870224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62915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Baseline Quality Gate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665889"/>
            <a:ext cx="4629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4-QUESTION PROCESS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944495"/>
            <a:ext cx="22431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2101658"/>
            <a:ext cx="22431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344545"/>
            <a:ext cx="224313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quality 1-100.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2957513" y="1944495"/>
            <a:ext cx="22431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957513" y="2101658"/>
            <a:ext cx="22431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957513" y="2344545"/>
            <a:ext cx="224313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what's missing.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2707425"/>
            <a:ext cx="22431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71500" y="2864588"/>
            <a:ext cx="22431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FIX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3107475"/>
            <a:ext cx="224313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actions to close gaps.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957513" y="2707425"/>
            <a:ext cx="22431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957513" y="2864588"/>
            <a:ext cx="22431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957513" y="3107475"/>
            <a:ext cx="224313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&lt; 80, fix. If ≥ 80, deliver.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71500" y="3398918"/>
            <a:ext cx="4629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 SCORING DIMENSIONS (20 PTS EACH)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571500" y="3606087"/>
            <a:ext cx="4629150" cy="46613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606087"/>
            <a:ext cx="28575" cy="4661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720387"/>
            <a:ext cx="987623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720387"/>
            <a:ext cx="987623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1730573" y="3720387"/>
            <a:ext cx="555427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30573" y="3720387"/>
            <a:ext cx="555427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2343150" y="3720387"/>
            <a:ext cx="723305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43150" y="3720387"/>
            <a:ext cx="723305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3123605" y="3720387"/>
            <a:ext cx="519708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23605" y="3720387"/>
            <a:ext cx="519708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3700463" y="3720387"/>
            <a:ext cx="891183" cy="23753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00463" y="3720387"/>
            <a:ext cx="891183" cy="23753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Actionability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71500" y="4907756"/>
            <a:ext cx="1357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54864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4" y="1915948"/>
            <a:ext cx="2926063" cy="1311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4862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Engine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594452"/>
            <a:ext cx="44862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ENHANCEMENT WITH MEASURED KPIS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2124875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928688" y="2124875"/>
            <a:ext cx="41290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Assessment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928688" y="2367762"/>
            <a:ext cx="41290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on 4 dimensions (Clarity, Completeness, Impact, Elegance) and identify top 3 weaknesses.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942109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928688" y="2942109"/>
            <a:ext cx="41290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Execution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928688" y="3184996"/>
            <a:ext cx="41290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aggressive, meaningful changes. Don't be timid—fix the core issues.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759343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928688" y="3759343"/>
            <a:ext cx="41290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KPIs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928688" y="4002230"/>
            <a:ext cx="41290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Absolute Gain, % Improvement, and check for Diminishing Returns.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4736306"/>
            <a:ext cx="130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4"/>
          <p:cNvSpPr/>
          <p:nvPr/>
        </p:nvSpPr>
        <p:spPr>
          <a:xfrm>
            <a:off x="5915025" y="571500"/>
            <a:ext cx="2800350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714375"/>
            <a:ext cx="2514600" cy="18573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915025" y="3000375"/>
            <a:ext cx="2800350" cy="156090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9338" y="3214688"/>
            <a:ext cx="2371725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FRAMEWORK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6350794" y="3598664"/>
            <a:ext cx="5072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7990284" y="3606701"/>
            <a:ext cx="5107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&gt;10% Gain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6350794" y="3843338"/>
            <a:ext cx="5411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7950994" y="3851374"/>
            <a:ext cx="5500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5-10% Gain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6350794" y="4088011"/>
            <a:ext cx="3500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It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8034933" y="4096048"/>
            <a:ext cx="46613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&lt;5% Gain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1032272" cy="251817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1032272" cy="25181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951905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applied the protocol to its own documentation.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043447"/>
            <a:ext cx="7143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Demonstrating recursive improvement by running the Two-Phase Learning Loop on the protocol itself.</a:t>
            </a:r>
            <a:endParaRPr lang="en-US" sz="1704" dirty="0"/>
          </a:p>
        </p:txBody>
      </p:sp>
      <p:sp>
        <p:nvSpPr>
          <p:cNvPr id="7" name="Shape 4"/>
          <p:cNvSpPr/>
          <p:nvPr/>
        </p:nvSpPr>
        <p:spPr>
          <a:xfrm>
            <a:off x="571500" y="2769208"/>
            <a:ext cx="8001000" cy="11662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769208"/>
            <a:ext cx="8001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840645"/>
            <a:ext cx="39147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RESULT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3047814"/>
            <a:ext cx="39147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pPr algn="l" indent="0" marL="0">
              <a:lnSpc>
                <a:spcPts val="4500"/>
              </a:lnSpc>
              <a:buNone/>
            </a:pPr>
            <a:r>
              <a:rPr lang="en-US" sz="2016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4145" dirty="0"/>
          </a:p>
        </p:txBody>
      </p:sp>
      <p:sp>
        <p:nvSpPr>
          <p:cNvPr id="11" name="Text 8"/>
          <p:cNvSpPr/>
          <p:nvPr/>
        </p:nvSpPr>
        <p:spPr>
          <a:xfrm>
            <a:off x="571500" y="3662176"/>
            <a:ext cx="39147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Exceptional Score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657725" y="2840645"/>
            <a:ext cx="39147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657725" y="3047814"/>
            <a:ext cx="3914775" cy="35718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3 Gaps: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Missing installation guide,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safety rules.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657725" y="3462151"/>
            <a:ext cx="3914775" cy="178594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Taken: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Triggered Phase 2 to pursue perfection.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8440341" y="4736306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BASELINE ASSESSMENT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8713"/>
            <a:ext cx="6429375" cy="4800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28713"/>
            <a:ext cx="28575" cy="48002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28713"/>
            <a:ext cx="6429375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V1 document scored 91/100 in Phase 2, passing the baseline but revealing three specific areas for improvement.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2037364"/>
            <a:ext cx="3714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BASELINE SCORE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2301683"/>
            <a:ext cx="371475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218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6218" dirty="0"/>
          </a:p>
        </p:txBody>
      </p:sp>
      <p:sp>
        <p:nvSpPr>
          <p:cNvPr id="9" name="Text 6"/>
          <p:cNvSpPr/>
          <p:nvPr/>
        </p:nvSpPr>
        <p:spPr>
          <a:xfrm>
            <a:off x="571500" y="3230370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100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700072"/>
            <a:ext cx="3696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2168128" y="3671497"/>
            <a:ext cx="1893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2500313" y="3700072"/>
            <a:ext cx="8018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096941" y="3671497"/>
            <a:ext cx="1893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71500" y="4094764"/>
            <a:ext cx="3839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2159198" y="4066189"/>
            <a:ext cx="1982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500313" y="4094764"/>
            <a:ext cx="5125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Elegance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096941" y="4066189"/>
            <a:ext cx="1893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857750" y="2037364"/>
            <a:ext cx="3714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WEAKNESSES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857750" y="2301683"/>
            <a:ext cx="2661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2" dirty="0"/>
          </a:p>
        </p:txBody>
      </p:sp>
      <p:sp>
        <p:nvSpPr>
          <p:cNvPr id="20" name="Text 17"/>
          <p:cNvSpPr/>
          <p:nvPr/>
        </p:nvSpPr>
        <p:spPr>
          <a:xfrm>
            <a:off x="5266730" y="2301683"/>
            <a:ext cx="330577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Installation Guide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266730" y="2510637"/>
            <a:ext cx="330577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explicit instructions for other AIs on how to install the protocol.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857750" y="3044968"/>
            <a:ext cx="3107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5311378" y="3044968"/>
            <a:ext cx="32611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Safety Rules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5311378" y="3253922"/>
            <a:ext cx="326112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warnings were scattered across sections rather than consolidated.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857750" y="3788252"/>
            <a:ext cx="3161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2" dirty="0"/>
          </a:p>
        </p:txBody>
      </p:sp>
      <p:sp>
        <p:nvSpPr>
          <p:cNvPr id="26" name="Text 23"/>
          <p:cNvSpPr/>
          <p:nvPr/>
        </p:nvSpPr>
        <p:spPr>
          <a:xfrm>
            <a:off x="5316736" y="3788252"/>
            <a:ext cx="30057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Abstract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316736" y="3997207"/>
            <a:ext cx="300573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Lacked a high-level summary for immediate orientation.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8447484" y="473630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Iteration: Changes Made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571500" y="1154413"/>
            <a:ext cx="5715000" cy="4800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54413"/>
            <a:ext cx="28575" cy="480027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54413"/>
            <a:ext cx="5715000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targeted improvements were implemented to directly address weaknesses from the baseline assessment.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2020202"/>
            <a:ext cx="25241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571500" y="2563127"/>
            <a:ext cx="252411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Start &amp; Installation Guide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046000"/>
            <a:ext cx="25241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concise, platform-specific install steps for easy adoption.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309928" y="2020202"/>
            <a:ext cx="25241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3309928" y="2563127"/>
            <a:ext cx="252411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Rules &amp; Safety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309928" y="2840282"/>
            <a:ext cx="25241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 key operational rules and safety notes into a single reference.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48356" y="2020202"/>
            <a:ext cx="252414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6048356" y="2563127"/>
            <a:ext cx="25241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Statement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048356" y="2840282"/>
            <a:ext cx="25241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a one-sentence purpose at the document start for immediate orientation.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571500" y="3548909"/>
            <a:ext cx="8001000" cy="326827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Text 14"/>
          <p:cNvSpPr/>
          <p:nvPr/>
        </p:nvSpPr>
        <p:spPr>
          <a:xfrm>
            <a:off x="714375" y="3643564"/>
            <a:ext cx="4375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294805" y="3634634"/>
            <a:ext cx="27271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weaknesses were fully addressed.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8440341" y="4879181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POST-ITERATION ASSESSMENT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8713"/>
            <a:ext cx="6429375" cy="4800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28713"/>
            <a:ext cx="28575" cy="480027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28713"/>
            <a:ext cx="6429375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V2 document achieved a 98/100 score with a 7.7% improvement, validating the effectiveness of the iteration.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2037364"/>
            <a:ext cx="32004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2301683"/>
            <a:ext cx="3200400" cy="1157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0"/>
              </a:lnSpc>
              <a:buNone/>
            </a:pPr>
            <a:r>
              <a:rPr lang="en-US" sz="9327" b="1" spc="-4" kern="0" dirty="0">
                <a:solidFill>
                  <a:srgbClr val="007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327" dirty="0"/>
          </a:p>
        </p:txBody>
      </p:sp>
      <p:sp>
        <p:nvSpPr>
          <p:cNvPr id="9" name="Text 6"/>
          <p:cNvSpPr/>
          <p:nvPr/>
        </p:nvSpPr>
        <p:spPr>
          <a:xfrm>
            <a:off x="571500" y="3530408"/>
            <a:ext cx="32004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100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343400" y="2037364"/>
            <a:ext cx="4800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KPIS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343400" y="2301683"/>
            <a:ext cx="4800600" cy="89832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2301683"/>
            <a:ext cx="28575" cy="898327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57713" y="2515995"/>
            <a:ext cx="13144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4557713" y="2864253"/>
            <a:ext cx="1314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ABSOLUTE GAIN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086475" y="2515995"/>
            <a:ext cx="13144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+7.7%</a:t>
            </a:r>
            <a:endParaRPr lang="en-US" sz="1808" dirty="0"/>
          </a:p>
        </p:txBody>
      </p:sp>
      <p:sp>
        <p:nvSpPr>
          <p:cNvPr id="16" name="Text 13"/>
          <p:cNvSpPr/>
          <p:nvPr/>
        </p:nvSpPr>
        <p:spPr>
          <a:xfrm>
            <a:off x="6086475" y="2864253"/>
            <a:ext cx="1314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615238" y="2515995"/>
            <a:ext cx="13144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808" dirty="0"/>
          </a:p>
        </p:txBody>
      </p:sp>
      <p:sp>
        <p:nvSpPr>
          <p:cNvPr id="18" name="Text 15"/>
          <p:cNvSpPr/>
          <p:nvPr/>
        </p:nvSpPr>
        <p:spPr>
          <a:xfrm>
            <a:off x="7615238" y="2864253"/>
            <a:ext cx="13144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DIMINISHING RETURNS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343400" y="3557197"/>
            <a:ext cx="4800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BREAKDOWN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343400" y="3862592"/>
            <a:ext cx="4196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043613" y="3821516"/>
            <a:ext cx="6286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(+5)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815138" y="3862592"/>
            <a:ext cx="9054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8558213" y="3821516"/>
            <a:ext cx="5857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(+13)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343400" y="4291217"/>
            <a:ext cx="432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6129338" y="4250141"/>
            <a:ext cx="5429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(+8)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815138" y="4291217"/>
            <a:ext cx="5804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Elegance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8620720" y="4250141"/>
            <a:ext cx="52328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4C7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(+5)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8440341" y="4736306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43475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Summary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297288"/>
            <a:ext cx="957597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1529097" y="1297288"/>
            <a:ext cx="429351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958448" y="1297288"/>
            <a:ext cx="485859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444307" y="1297288"/>
            <a:ext cx="293759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738065" y="1297288"/>
            <a:ext cx="401110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139176" y="1297288"/>
            <a:ext cx="514099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653275" y="1297288"/>
            <a:ext cx="844609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CHANGE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497884" y="1297288"/>
            <a:ext cx="1017091" cy="235744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71500" y="1533032"/>
            <a:ext cx="957597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(Base)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529097" y="1533032"/>
            <a:ext cx="429351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958448" y="1533032"/>
            <a:ext cx="485859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2444307" y="1533032"/>
            <a:ext cx="293759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738065" y="1533032"/>
            <a:ext cx="401110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139176" y="1533032"/>
            <a:ext cx="514099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653275" y="1533032"/>
            <a:ext cx="844609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497884" y="1533032"/>
            <a:ext cx="1017091" cy="45184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1984874"/>
            <a:ext cx="957597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(Final)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529097" y="1984874"/>
            <a:ext cx="429351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1958448" y="1984874"/>
            <a:ext cx="485859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2444307" y="1984874"/>
            <a:ext cx="293759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2738065" y="1984874"/>
            <a:ext cx="401110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3139176" y="1984874"/>
            <a:ext cx="514099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3653275" y="1984874"/>
            <a:ext cx="844609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+7.7%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497884" y="1984874"/>
            <a:ext cx="1017091" cy="450056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SHIP IT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571500" y="2652815"/>
            <a:ext cx="4943475" cy="1198671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2652815"/>
            <a:ext cx="42863" cy="119867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30" name="Text 27"/>
          <p:cNvSpPr/>
          <p:nvPr/>
        </p:nvSpPr>
        <p:spPr>
          <a:xfrm>
            <a:off x="714375" y="2795690"/>
            <a:ext cx="46577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VERDICT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714375" y="2988571"/>
            <a:ext cx="46577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iteration delivered a 7.7% improvement, reaching the 98/100 threshold. Further iterations would yield diminishing returns.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571500" y="4736306"/>
            <a:ext cx="110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4" name="Shape 31"/>
          <p:cNvSpPr/>
          <p:nvPr/>
        </p:nvSpPr>
        <p:spPr>
          <a:xfrm>
            <a:off x="5943600" y="0"/>
            <a:ext cx="7144" cy="51435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2"/>
          <p:cNvSpPr/>
          <p:nvPr/>
        </p:nvSpPr>
        <p:spPr>
          <a:xfrm>
            <a:off x="6057900" y="814388"/>
            <a:ext cx="2971800" cy="17145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900113"/>
            <a:ext cx="2800350" cy="154305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057900" y="2614613"/>
            <a:ext cx="2971800" cy="171450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2700338"/>
            <a:ext cx="280035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spc="-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6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18757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1611613"/>
            <a:ext cx="230921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QUALITY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961657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acts as a strict gate. No major deliverable is shipped unless it meets the 80/100 threshold.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618757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22069" y="1611613"/>
            <a:ext cx="23842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GROWTH</a:t>
            </a:r>
            <a:endParaRPr lang="en-US" sz="1397" dirty="0"/>
          </a:p>
        </p:txBody>
      </p:sp>
      <p:sp>
        <p:nvSpPr>
          <p:cNvPr id="9" name="Text 4"/>
          <p:cNvSpPr/>
          <p:nvPr/>
        </p:nvSpPr>
        <p:spPr>
          <a:xfrm>
            <a:off x="4786313" y="1961657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eliminates guesswork. Every iteration is scored with KPIs to track absolute and percentage gains.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9897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7256" y="3391830"/>
            <a:ext cx="184130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STOPPING</a:t>
            </a:r>
            <a:endParaRPr lang="en-US" sz="1397" dirty="0"/>
          </a:p>
        </p:txBody>
      </p:sp>
      <p:sp>
        <p:nvSpPr>
          <p:cNvPr id="12" name="Text 6"/>
          <p:cNvSpPr/>
          <p:nvPr/>
        </p:nvSpPr>
        <p:spPr>
          <a:xfrm>
            <a:off x="571500" y="3741874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protocol flags diminishing returns (&lt; 5%), preventing endless cycles of low-value polishing.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398974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22069" y="3391830"/>
            <a:ext cx="183951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SELF-APPLICABLE</a:t>
            </a:r>
            <a:endParaRPr lang="en-US" sz="1397" dirty="0"/>
          </a:p>
        </p:txBody>
      </p:sp>
      <p:sp>
        <p:nvSpPr>
          <p:cNvPr id="15" name="Text 8"/>
          <p:cNvSpPr/>
          <p:nvPr/>
        </p:nvSpPr>
        <p:spPr>
          <a:xfrm>
            <a:off x="4786313" y="3741874"/>
            <a:ext cx="32146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protocol is recursive. It successfully improved its own documentation by 7.7% in a single loop.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8486775" y="4736306"/>
            <a:ext cx="857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512759"/>
            <a:ext cx="7286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1285875" y="793152"/>
            <a:ext cx="72866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spc="-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Systematize Excellence.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1285875" y="1578964"/>
            <a:ext cx="64293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Two-Phase Learning Loop Protocol to ensure consistent, high-quality AI outputs.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1285875" y="2681948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285875" y="2960554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285875" y="3239160"/>
            <a:ext cx="35004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V2 protocol document (PDF or Markdown).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072063" y="2681948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5072063" y="2960554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072063" y="3239160"/>
            <a:ext cx="35004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into your AI's system prompt or custom instructions.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285875" y="3999244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1285875" y="4277851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Phase 1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285875" y="4556457"/>
            <a:ext cx="35004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quality gate mandatory for all major deliverables.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072063" y="3999244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072063" y="4277851"/>
            <a:ext cx="35004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Phase 2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72063" y="4556457"/>
            <a:ext cx="35004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 the iterative engine when you need to pursue perfection.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2026-03-03T23:56:09Z</dcterms:created>
  <dcterms:modified xsi:type="dcterms:W3CDTF">2026-03-03T23:56:09Z</dcterms:modified>
</cp:coreProperties>
</file>