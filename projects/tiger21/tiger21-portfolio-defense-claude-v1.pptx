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978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0" y="1087785"/>
            <a:ext cx="1143000" cy="28575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95212" y="1573560"/>
            <a:ext cx="2353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 Latimer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77568" y="2335560"/>
            <a:ext cx="178871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Aft>
                <a:spcPts val="1800"/>
              </a:spcAft>
              <a:buNone/>
            </a:pPr>
            <a:r>
              <a:rPr lang="en-US" sz="18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Defense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286250" y="3036540"/>
            <a:ext cx="571500" cy="9525"/>
          </a:xfrm>
          <a:prstGeom prst="rect">
            <a:avLst/>
          </a:prstGeom>
          <a:solidFill>
            <a:srgbClr val="A0A0A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02880" y="3427065"/>
            <a:ext cx="193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Tiger 21 · Group 3 · Calgary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46302" y="3868936"/>
            <a:ext cx="105124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20, 2026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7180" y="4652070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as a Force for Good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304800"/>
            <a:ext cx="88605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28600" y="56763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Trail's End Farm, 1974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1000" y="2187029"/>
            <a:ext cx="487520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was seventeen. Welding alone in the garage.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1000" y="2701379"/>
            <a:ext cx="4875208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3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spark landed somewhere I didn't see. By the time I smelled smoke, the rafters were burning.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1000" y="3474690"/>
            <a:ext cx="4875208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3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watched my father's Pontiac taillight glow red through the flames as it melted.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541615" y="1742182"/>
            <a:ext cx="3221385" cy="2760166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560665" y="1742182"/>
            <a:ext cx="0" cy="2760166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5858778" y="2046982"/>
            <a:ext cx="2625158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720"/>
              </a:lnSpc>
              <a:buNone/>
            </a:pPr>
            <a:r>
              <a:rPr lang="en-US" sz="48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858778" y="3205163"/>
            <a:ext cx="262515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OLD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980783" y="3696593"/>
            <a:ext cx="381000" cy="9525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858778" y="4010918"/>
            <a:ext cx="262515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Alberta, Canada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91611" y="543223"/>
            <a:ext cx="136077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Aft>
                <a:spcPts val="1800"/>
              </a:spcAft>
              <a:buNone/>
            </a:pPr>
            <a:r>
              <a:rPr lang="en-US" sz="13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weeks later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239522" y="1164134"/>
            <a:ext cx="4664806" cy="1287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70"/>
              </a:lnSpc>
              <a:spcAft>
                <a:spcPts val="2400"/>
              </a:spcAft>
              <a:buNone/>
            </a:pPr>
            <a:r>
              <a:rPr lang="en-US" sz="390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 trucks rolled down</a:t>
            </a:r>
            <a:endParaRPr lang="en-US" sz="3900" dirty="0"/>
          </a:p>
          <a:p>
            <a:pPr marL="0" indent="0" algn="ctr">
              <a:lnSpc>
                <a:spcPts val="5070"/>
              </a:lnSpc>
              <a:spcAft>
                <a:spcPts val="2400"/>
              </a:spcAft>
              <a:buNone/>
            </a:pPr>
            <a:r>
              <a:rPr lang="en-US" sz="390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driveway.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3450013" y="3366195"/>
            <a:ext cx="224382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spcAft>
                <a:spcPts val="1800"/>
              </a:spcAft>
              <a:buNone/>
            </a:pPr>
            <a:r>
              <a:rPr lang="en-US" sz="2100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 called them.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583966" y="4120455"/>
            <a:ext cx="3976068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Mennonite neighbors arrived to haul hay bales.</a:t>
            </a:r>
            <a:endParaRPr lang="en-US" sz="1350" dirty="0"/>
          </a:p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just showed up.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30480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Learned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1715393"/>
            <a:ext cx="2641550" cy="1826865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81000" y="1729680"/>
            <a:ext cx="2641550" cy="0"/>
          </a:xfrm>
          <a:prstGeom prst="line">
            <a:avLst/>
          </a:prstGeom>
          <a:noFill/>
          <a:ln w="285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647700" y="2010668"/>
            <a:ext cx="215031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spcAft>
                <a:spcPts val="1200"/>
              </a:spcAft>
              <a:buNone/>
            </a:pPr>
            <a:r>
              <a:rPr lang="en-US" sz="24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invoice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7700" y="2589758"/>
            <a:ext cx="21503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didn't send a bill. They didn't track hours. They just did the work.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3251150" y="1715393"/>
            <a:ext cx="2641550" cy="1826865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51150" y="1729680"/>
            <a:ext cx="2641550" cy="0"/>
          </a:xfrm>
          <a:prstGeom prst="line">
            <a:avLst/>
          </a:prstGeom>
          <a:noFill/>
          <a:ln w="285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3517850" y="2010668"/>
            <a:ext cx="215031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spcAft>
                <a:spcPts val="1200"/>
              </a:spcAft>
              <a:buNone/>
            </a:pPr>
            <a:r>
              <a:rPr lang="en-US" sz="24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publicity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517850" y="2589758"/>
            <a:ext cx="21503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announcement. No photo op. No press release about their generosity.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6121301" y="1829693"/>
            <a:ext cx="2641550" cy="1598265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121301" y="1843980"/>
            <a:ext cx="2641550" cy="0"/>
          </a:xfrm>
          <a:prstGeom prst="line">
            <a:avLst/>
          </a:prstGeom>
          <a:noFill/>
          <a:ln w="285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6388001" y="2124968"/>
            <a:ext cx="215031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spcAft>
                <a:spcPts val="1200"/>
              </a:spcAft>
              <a:buNone/>
            </a:pPr>
            <a:r>
              <a:rPr lang="en-US" sz="24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expectation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388001" y="2704058"/>
            <a:ext cx="21503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expected in return. Not even a thank you.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297180" y="3999458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"I'd never seen that before."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304800"/>
            <a:ext cx="88605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OF SIGHT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28600" y="567630"/>
            <a:ext cx="472173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Other Side of the Counter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1000" y="1716137"/>
            <a:ext cx="4209999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"But for a couple of decisions, I could be on the other side of that counter."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2676079"/>
            <a:ext cx="571500" cy="1905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000" y="2923729"/>
            <a:ext cx="4209999" cy="82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7"/>
              </a:lnSpc>
              <a:buNone/>
            </a:pPr>
            <a:r>
              <a:rPr lang="en-US" sz="127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walk into a pawn shop or payday lender and share their world with you instantly. They're vulnerable. Transparent. Genuine.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381000" y="3977878"/>
            <a:ext cx="4209999" cy="55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7"/>
              </a:lnSpc>
              <a:buNone/>
            </a:pPr>
            <a:r>
              <a:rPr lang="en-US" sz="12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story is always the same: they're short for something.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4889450" y="1858863"/>
            <a:ext cx="3873550" cy="2526506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908500" y="1858863"/>
            <a:ext cx="0" cy="2526506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5194250" y="2125563"/>
            <a:ext cx="336809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94250" y="2529334"/>
            <a:ext cx="3368091" cy="82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7"/>
              </a:lnSpc>
              <a:buNone/>
            </a:pPr>
            <a:r>
              <a:rPr lang="en-US" sz="12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have empathy for that moment, you can see opportunities to make a difference that others will never see.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5194250" y="3545384"/>
            <a:ext cx="381000" cy="9525"/>
          </a:xfrm>
          <a:prstGeom prst="rect">
            <a:avLst/>
          </a:prstGeom>
          <a:solidFill>
            <a:srgbClr val="A0A0A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94250" y="3745409"/>
            <a:ext cx="336809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my edge. This is what 40 years of frontline experience provides.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30480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Built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1488877"/>
            <a:ext cx="2590800" cy="2371427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81000" y="1503164"/>
            <a:ext cx="2590800" cy="0"/>
          </a:xfrm>
          <a:prstGeom prst="line">
            <a:avLst/>
          </a:prstGeom>
          <a:noFill/>
          <a:ln w="285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609600" y="1746052"/>
            <a:ext cx="217627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1995–2005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600" y="2046982"/>
            <a:ext cx="2176272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spcAft>
                <a:spcPts val="1200"/>
              </a:spcAft>
              <a:buNone/>
            </a:pPr>
            <a:r>
              <a:rPr lang="en-US" sz="210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101 Insta Loan Stores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09600" y="2945904"/>
            <a:ext cx="2176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Culture first, systems second. Serving the left out, left behind, working poor.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3276600" y="1488877"/>
            <a:ext cx="2590800" cy="2371427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76600" y="1503164"/>
            <a:ext cx="2590800" cy="0"/>
          </a:xfrm>
          <a:prstGeom prst="line">
            <a:avLst/>
          </a:prstGeom>
          <a:noFill/>
          <a:ln w="285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3505200" y="1746052"/>
            <a:ext cx="217627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2005–2015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05200" y="2046982"/>
            <a:ext cx="2176272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spcAft>
                <a:spcPts val="1200"/>
              </a:spcAft>
              <a:buNone/>
            </a:pPr>
            <a:r>
              <a:rPr lang="en-US" sz="210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 CashCo + 18 Cash Canada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505200" y="2945904"/>
            <a:ext cx="2176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~500 employees at peak. Built on Peter Drucker's principle: culture eats strategy.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6172200" y="1675507"/>
            <a:ext cx="2590800" cy="1998166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172200" y="1689795"/>
            <a:ext cx="2590800" cy="0"/>
          </a:xfrm>
          <a:prstGeom prst="line">
            <a:avLst/>
          </a:prstGeom>
          <a:noFill/>
          <a:ln w="285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6400800" y="1932682"/>
            <a:ext cx="217627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2020–TODAY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0" y="2233613"/>
            <a:ext cx="217627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spcAft>
                <a:spcPts val="1200"/>
              </a:spcAft>
              <a:buNone/>
            </a:pPr>
            <a:r>
              <a:rPr lang="en-US" sz="210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Pawn Princess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400800" y="2759273"/>
            <a:ext cx="2176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locations. The "poor man's bank." Laboratory of life. 5–10 more planned for 2026.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297180" y="4279404"/>
            <a:ext cx="8549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A0A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"I'm good up to about 500 employees. I know where my limits are."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2884" y="413593"/>
            <a:ext cx="113823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1800"/>
              </a:spcAft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PATTERN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580233" y="981224"/>
            <a:ext cx="5983534" cy="1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80"/>
              </a:lnSpc>
              <a:spcAft>
                <a:spcPts val="2400"/>
              </a:spcAft>
              <a:buNone/>
            </a:pPr>
            <a:r>
              <a:rPr lang="en-US" sz="360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I've had three failures that</a:t>
            </a:r>
            <a:endParaRPr lang="en-US" sz="3600" dirty="0"/>
          </a:p>
          <a:p>
            <a:pPr marL="0" indent="0" algn="ctr">
              <a:lnSpc>
                <a:spcPts val="4680"/>
              </a:lnSpc>
              <a:spcAft>
                <a:spcPts val="2400"/>
              </a:spcAft>
              <a:buNone/>
            </a:pPr>
            <a:r>
              <a:rPr lang="en-US" sz="360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taught me more than 200 stores.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171575" y="3084165"/>
            <a:ext cx="68008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one proves the same thesis: when you pursue profit only—without purpose—culture dies, and the business dies with it.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78474" y="4227165"/>
            <a:ext cx="25869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"Culture eats strategy for breakfast."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278474" y="4543276"/>
            <a:ext cx="258690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Peter Drucker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66700"/>
            <a:ext cx="88605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#1 · EGO FROM ABOVE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28600" y="52953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 Canada + Fortress Capital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2173932"/>
            <a:ext cx="4640062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Sold 18 stores for </a:t>
            </a:r>
            <a:r>
              <a:rPr lang="en-US" sz="1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$25M USD</a:t>
            </a: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Carried </a:t>
            </a:r>
            <a:r>
              <a:rPr lang="en-US" sz="1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$10M</a:t>
            </a: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preferred position with Fortress. Sat on the board.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2825204"/>
            <a:ext cx="4640062" cy="776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Fortress brought in cost-cutters. Within two years, they'd gutted the culture that made the stores work. Cut staff. Changed underwriting. Killed the "surprise and delight."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000" y="3735437"/>
            <a:ext cx="4640062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sent me a text message. My $10M was gone.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34880" y="1931789"/>
            <a:ext cx="3528120" cy="2304752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253930" y="1931789"/>
            <a:ext cx="0" cy="2304752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5501580" y="2160389"/>
            <a:ext cx="30934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i="1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"Private equity doesn't protect purpose."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501580" y="2569964"/>
            <a:ext cx="571500" cy="9525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501580" y="2731889"/>
            <a:ext cx="30934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call. No conversation.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501580" y="3070920"/>
            <a:ext cx="3093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didn't hurdle."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5501580" y="3499545"/>
            <a:ext cx="381000" cy="9525"/>
          </a:xfrm>
          <a:prstGeom prst="rect">
            <a:avLst/>
          </a:prstGeom>
          <a:solidFill>
            <a:srgbClr val="A0A0A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501580" y="3661470"/>
            <a:ext cx="309347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Lesson: Ego-driven cost-cutting destroys organizational culture.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66700"/>
            <a:ext cx="88605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#2 · PROFIT ONLY FROM INSIDE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28600" y="52953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CashCo CEO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2044452"/>
            <a:ext cx="4640062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Hired a professional CEO to scale from </a:t>
            </a:r>
            <a:r>
              <a:rPr lang="en-US" sz="1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$60M</a:t>
            </a: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</a:t>
            </a:r>
            <a:r>
              <a:rPr lang="en-US" sz="1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$150M</a:t>
            </a: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Put in a board. Proper governance. Everything the business schools teach.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2695724"/>
            <a:ext cx="4640062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 years later, it came back to me at $25M, losing $5M annually. Bank foreclosing.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000" y="3346996"/>
            <a:ext cx="4640062" cy="776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CEO lacked urgency. Prioritized process over speed. Made decisions by data without understanding what the data meant in this world.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34880" y="1972717"/>
            <a:ext cx="3528120" cy="2222897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253930" y="1972717"/>
            <a:ext cx="0" cy="2222897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5501580" y="2201317"/>
            <a:ext cx="30934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i="1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"Process without purpose kills speed."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501580" y="2610892"/>
            <a:ext cx="571500" cy="9525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501580" y="2772817"/>
            <a:ext cx="3093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management that doesn't understand frontline reality can't protect culture.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5501580" y="3458617"/>
            <a:ext cx="381000" cy="9525"/>
          </a:xfrm>
          <a:prstGeom prst="rect">
            <a:avLst/>
          </a:prstGeom>
          <a:solidFill>
            <a:srgbClr val="A0A0A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01580" y="3620542"/>
            <a:ext cx="309347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Lesson: Profit-only thinking from inside destroys what made it work.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66700"/>
            <a:ext cx="88605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#3 · SYSTEM FAILURE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28600" y="52953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Corp Certification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2173932"/>
            <a:ext cx="4640062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Spent </a:t>
            </a:r>
            <a:r>
              <a:rPr lang="en-US" sz="1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years</a:t>
            </a: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1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$400–500K</a:t>
            </a: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pursuing B Corp certification for CashCo. Did everything they asked.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2825204"/>
            <a:ext cx="4640062" cy="776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Rejected. Not because of our practices. Because of our industry classification. They decided lending to the working poor couldn't be ethical—regardless of how we did it.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000" y="3735437"/>
            <a:ext cx="4640062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gatekeepers judged the category, not the behavior.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34880" y="1802160"/>
            <a:ext cx="3528120" cy="2564011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253930" y="1802160"/>
            <a:ext cx="0" cy="2564011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5501580" y="2030760"/>
            <a:ext cx="3093476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i="1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existing systems don't work for purpose-driven businesses in 'dirty' industries."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501580" y="2954685"/>
            <a:ext cx="571500" cy="9525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501580" y="3116610"/>
            <a:ext cx="3093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when I realized: I need to build my own system.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5501580" y="3802410"/>
            <a:ext cx="381000" cy="9525"/>
          </a:xfrm>
          <a:prstGeom prst="rect">
            <a:avLst/>
          </a:prstGeom>
          <a:solidFill>
            <a:srgbClr val="A0A0A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01580" y="3964335"/>
            <a:ext cx="30934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Lesson: Traditional frameworks fail to protect purpose.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6670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625054"/>
            <a:ext cx="1924050" cy="2101007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81000" y="1639342"/>
            <a:ext cx="1924050" cy="0"/>
          </a:xfrm>
          <a:prstGeom prst="line">
            <a:avLst/>
          </a:prstGeom>
          <a:noFill/>
          <a:ln w="285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71500" y="1844129"/>
            <a:ext cx="157391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OPERATIONS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71500" y="2293590"/>
            <a:ext cx="157391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spcAft>
                <a:spcPts val="900"/>
              </a:spcAft>
              <a:buNone/>
            </a:pPr>
            <a:r>
              <a:rPr lang="en-US" sz="165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CashCo Financial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71500" y="2701230"/>
            <a:ext cx="157391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~$12M outstanding. Stabilized. Rebuilding.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1500" y="3215580"/>
            <a:ext cx="157391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Bef>
                <a:spcPts val="900"/>
              </a:spcBef>
              <a:buNone/>
            </a:pPr>
            <a:r>
              <a:rPr lang="en-US" sz="18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[TBD]%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33650" y="1718370"/>
            <a:ext cx="1924050" cy="1914376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533650" y="1732657"/>
            <a:ext cx="1924050" cy="0"/>
          </a:xfrm>
          <a:prstGeom prst="line">
            <a:avLst/>
          </a:prstGeom>
          <a:noFill/>
          <a:ln w="285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2724150" y="1937445"/>
            <a:ext cx="157391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PLATFORM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24150" y="2200275"/>
            <a:ext cx="157391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spcAft>
                <a:spcPts val="900"/>
              </a:spcAft>
              <a:buNone/>
            </a:pPr>
            <a:r>
              <a:rPr lang="en-US" sz="165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Pawn Princess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2724150" y="2607915"/>
            <a:ext cx="157391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locations. 5–10 more in 2026.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24150" y="3122265"/>
            <a:ext cx="157391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Bef>
                <a:spcPts val="900"/>
              </a:spcBef>
              <a:buNone/>
            </a:pPr>
            <a:r>
              <a:rPr lang="en-US" sz="18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[TBD]%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86300" y="1571774"/>
            <a:ext cx="1924050" cy="2207716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86300" y="1586061"/>
            <a:ext cx="1924050" cy="0"/>
          </a:xfrm>
          <a:prstGeom prst="line">
            <a:avLst/>
          </a:prstGeom>
          <a:noFill/>
          <a:ln w="285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4876800" y="1790849"/>
            <a:ext cx="157391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ASSETS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76800" y="2053679"/>
            <a:ext cx="1573911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spcAft>
                <a:spcPts val="900"/>
              </a:spcAft>
              <a:buNone/>
            </a:pPr>
            <a:r>
              <a:rPr lang="en-US" sz="165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Holding Properties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876800" y="2754660"/>
            <a:ext cx="157391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Impact-focused real estate.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76800" y="3269010"/>
            <a:ext cx="157391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Bef>
                <a:spcPts val="900"/>
              </a:spcBef>
              <a:buNone/>
            </a:pPr>
            <a:r>
              <a:rPr lang="en-US" sz="18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[TBD]%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38950" y="1718370"/>
            <a:ext cx="1924050" cy="1914376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838950" y="1732657"/>
            <a:ext cx="1924050" cy="0"/>
          </a:xfrm>
          <a:prstGeom prst="line">
            <a:avLst/>
          </a:prstGeom>
          <a:noFill/>
          <a:ln w="285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7029450" y="1937445"/>
            <a:ext cx="157391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029450" y="2200275"/>
            <a:ext cx="157391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spcAft>
                <a:spcPts val="900"/>
              </a:spcAft>
              <a:buNone/>
            </a:pPr>
            <a:r>
              <a:rPr lang="en-US" sz="165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Seba Hub + Other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7029450" y="2607915"/>
            <a:ext cx="157391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community projects.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029450" y="3122265"/>
            <a:ext cx="157391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Bef>
                <a:spcPts val="900"/>
              </a:spcBef>
              <a:buNone/>
            </a:pPr>
            <a:r>
              <a:rPr lang="en-US" sz="18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[TBD]%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97180" y="4160490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[Allocation percentages to be provided]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66700"/>
            <a:ext cx="88605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CONCEPT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28600" y="52953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Maven Village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960513"/>
            <a:ext cx="4640062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3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subscription service providing toilet paper and essentials to financially vulnerable Canadians.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81000" y="2695724"/>
            <a:ext cx="4640062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charity. Infrastructure for dignity. A "tow truck for your financial life."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000" y="3442246"/>
            <a:ext cx="571500" cy="1905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1000" y="3689896"/>
            <a:ext cx="4640062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392 clients</a:t>
            </a: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currently in the Maven Village. Led by Samantha Meunier—"Big Mama of the Maven Village."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34880" y="1870918"/>
            <a:ext cx="3528120" cy="2426494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253930" y="1870918"/>
            <a:ext cx="0" cy="2426494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5501580" y="2099518"/>
            <a:ext cx="30934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MAVEN MOMENT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501580" y="2438549"/>
            <a:ext cx="309347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i="1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"Nicole left an abusive situation with two garbage bags and a four-year-old."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01580" y="3078510"/>
            <a:ext cx="381000" cy="9525"/>
          </a:xfrm>
          <a:prstGeom prst="rect">
            <a:avLst/>
          </a:prstGeom>
          <a:solidFill>
            <a:srgbClr val="A0A0A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01580" y="3240435"/>
            <a:ext cx="309347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months later: stable housing, full pantry, son in school. Buying her first Christmas tree.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501580" y="3895576"/>
            <a:ext cx="30934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story in leave-behind →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66700"/>
            <a:ext cx="88605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I'M TESTING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28600" y="529530"/>
            <a:ext cx="47120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Blue Seal: Democratized Purpose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905744"/>
            <a:ext cx="4138803" cy="82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7"/>
              </a:lnSpc>
              <a:buNone/>
            </a:pPr>
            <a:r>
              <a:rPr lang="en-US" sz="12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"democratized B Corp" where </a:t>
            </a:r>
            <a:r>
              <a:rPr lang="en-US" sz="1275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and customers vote</a:t>
            </a:r>
            <a:r>
              <a:rPr lang="en-US" sz="12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whether corporate purpose is authentic.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381000" y="2864644"/>
            <a:ext cx="4138803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gatekeepers. No industry exclusions. No consultants deciding who's ethical.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000" y="3554016"/>
            <a:ext cx="571500" cy="1905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1000" y="3744516"/>
            <a:ext cx="4138803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 must be verified by the people who experience it daily.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05350" y="1453604"/>
            <a:ext cx="4057650" cy="729555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19638" y="1453604"/>
            <a:ext cx="0" cy="729555"/>
          </a:xfrm>
          <a:prstGeom prst="line">
            <a:avLst/>
          </a:prstGeom>
          <a:noFill/>
          <a:ln w="285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4886325" y="1606004"/>
            <a:ext cx="379876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Entry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86325" y="1830735"/>
            <a:ext cx="37987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$1,000/year · Self-proclaimed to start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4705350" y="2297460"/>
            <a:ext cx="4057650" cy="729555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719638" y="2297460"/>
            <a:ext cx="0" cy="729555"/>
          </a:xfrm>
          <a:prstGeom prst="line">
            <a:avLst/>
          </a:prstGeom>
          <a:noFill/>
          <a:ln w="285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4886325" y="2449860"/>
            <a:ext cx="379876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Entry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86325" y="2674590"/>
            <a:ext cx="37987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$100/year · Same progression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4705350" y="3141315"/>
            <a:ext cx="4057650" cy="729555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19638" y="3141315"/>
            <a:ext cx="0" cy="729555"/>
          </a:xfrm>
          <a:prstGeom prst="line">
            <a:avLst/>
          </a:prstGeom>
          <a:noFill/>
          <a:ln w="285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4886325" y="3293715"/>
            <a:ext cx="379876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Levels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86325" y="3518446"/>
            <a:ext cx="37987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→ Better → Best (Lion)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4705350" y="3985171"/>
            <a:ext cx="4057650" cy="729555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19638" y="3985171"/>
            <a:ext cx="0" cy="729555"/>
          </a:xfrm>
          <a:prstGeom prst="line">
            <a:avLst/>
          </a:prstGeom>
          <a:noFill/>
          <a:ln w="285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4886325" y="4137571"/>
            <a:ext cx="379876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86325" y="4362301"/>
            <a:ext cx="37987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QR-coded badges · Community feedback</a:t>
            </a:r>
            <a:endParaRPr lang="en-US" sz="11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66700"/>
            <a:ext cx="88605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WISDOM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28600" y="52953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Questions for the Group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521321"/>
            <a:ext cx="2641550" cy="2519958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1540371"/>
            <a:ext cx="2641550" cy="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609600" y="1788021"/>
            <a:ext cx="222803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40"/>
              </a:lnSpc>
              <a:spcAft>
                <a:spcPts val="1200"/>
              </a:spcAft>
              <a:buNone/>
            </a:pPr>
            <a:r>
              <a:rPr lang="en-US" sz="36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09600" y="2580382"/>
            <a:ext cx="2228037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breaks first when this scales?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609600" y="3250704"/>
            <a:ext cx="381000" cy="9525"/>
          </a:xfrm>
          <a:prstGeom prst="rect">
            <a:avLst/>
          </a:prstGeom>
          <a:solidFill>
            <a:srgbClr val="A0A0A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600" y="3412629"/>
            <a:ext cx="222803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you see the structural weakness?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51150" y="1521321"/>
            <a:ext cx="2641550" cy="2519958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51150" y="1540371"/>
            <a:ext cx="2641550" cy="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3479750" y="1788021"/>
            <a:ext cx="222803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40"/>
              </a:lnSpc>
              <a:spcAft>
                <a:spcPts val="1200"/>
              </a:spcAft>
              <a:buNone/>
            </a:pPr>
            <a:r>
              <a:rPr lang="en-US" sz="36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479750" y="2580382"/>
            <a:ext cx="2228037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safeguards would you add?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3479750" y="3250704"/>
            <a:ext cx="381000" cy="9525"/>
          </a:xfrm>
          <a:prstGeom prst="rect">
            <a:avLst/>
          </a:prstGeom>
          <a:solidFill>
            <a:srgbClr val="A0A0A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79750" y="3412629"/>
            <a:ext cx="222803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I prevent democratized giving from becoming chaos?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21301" y="1650802"/>
            <a:ext cx="2641550" cy="2260997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121301" y="1669852"/>
            <a:ext cx="2641550" cy="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6349901" y="1917502"/>
            <a:ext cx="222803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40"/>
              </a:lnSpc>
              <a:spcAft>
                <a:spcPts val="1200"/>
              </a:spcAft>
              <a:buNone/>
            </a:pPr>
            <a:r>
              <a:rPr lang="en-US" sz="36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349901" y="2709863"/>
            <a:ext cx="2228037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75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risk am I not seeing?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6349901" y="3121223"/>
            <a:ext cx="381000" cy="9525"/>
          </a:xfrm>
          <a:prstGeom prst="rect">
            <a:avLst/>
          </a:prstGeom>
          <a:solidFill>
            <a:srgbClr val="A0A0A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49901" y="3283148"/>
            <a:ext cx="222803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the blind spot from 40 years inside this world?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97180" y="4460379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insights on the Cloud Butterflies sheet. I'll collect them.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35079" y="786854"/>
            <a:ext cx="487384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Aft>
                <a:spcPts val="1800"/>
              </a:spcAft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 was seventeen, my neighbors' trucks rolled down our driveway.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192008" y="1381125"/>
            <a:ext cx="475983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Aft>
                <a:spcPts val="2400"/>
              </a:spcAft>
              <a:buNone/>
            </a:pPr>
            <a:r>
              <a:rPr lang="en-US" sz="13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called them. No invoice. No publicity. No expectation.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000500" y="2078236"/>
            <a:ext cx="1143000" cy="1905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08853" y="2554486"/>
            <a:ext cx="552614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spcAft>
                <a:spcPts val="2400"/>
              </a:spcAft>
              <a:buNone/>
            </a:pPr>
            <a:r>
              <a:rPr lang="en-US" sz="3000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That's the world I'm trying to build.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392693" y="3545086"/>
            <a:ext cx="435846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not sure if it can survive contact with capital markets.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311264" y="4089797"/>
            <a:ext cx="25213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what I want to find out.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1121</Words>
  <Application>Microsoft Office PowerPoint</Application>
  <PresentationFormat>On-screen Show (16:9)</PresentationFormat>
  <Paragraphs>149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Business as a Force for Good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 Latimer - Tiger 21 Portfolio Defense</dc:title>
  <dc:subject>PptxGenJS Presentation</dc:subject>
  <dc:creator>Tim Latimer</dc:creator>
  <cp:lastModifiedBy>Tim Latimer</cp:lastModifiedBy>
  <cp:revision>1</cp:revision>
  <dcterms:created xsi:type="dcterms:W3CDTF">2026-01-02T08:01:53Z</dcterms:created>
  <dcterms:modified xsi:type="dcterms:W3CDTF">2026-01-11T20:37:16Z</dcterms:modified>
</cp:coreProperties>
</file>