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3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24.png"/><Relationship Id="rId23" Type="http://schemas.openxmlformats.org/officeDocument/2006/relationships/image" Target="../media/image44.png"/><Relationship Id="rId24" Type="http://schemas.openxmlformats.org/officeDocument/2006/relationships/image" Target="../media/image45.png"/><Relationship Id="rId25" Type="http://schemas.openxmlformats.org/officeDocument/2006/relationships/image" Target="../media/image46.png"/><Relationship Id="rId26" Type="http://schemas.openxmlformats.org/officeDocument/2006/relationships/image" Target="../media/image47.png"/><Relationship Id="rId27" Type="http://schemas.openxmlformats.org/officeDocument/2006/relationships/image" Target="../media/image48.png"/><Relationship Id="rId28" Type="http://schemas.openxmlformats.org/officeDocument/2006/relationships/image" Target="../media/image49.png"/><Relationship Id="rId29" Type="http://schemas.openxmlformats.org/officeDocument/2006/relationships/image" Target="../media/image50.png"/><Relationship Id="rId30" Type="http://schemas.openxmlformats.org/officeDocument/2006/relationships/image" Target="../media/image5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52.png"/><Relationship Id="rId4" Type="http://schemas.openxmlformats.org/officeDocument/2006/relationships/image" Target="../media/image12.png"/><Relationship Id="rId5" Type="http://schemas.openxmlformats.org/officeDocument/2006/relationships/image" Target="../media/image53.png"/><Relationship Id="rId6" Type="http://schemas.openxmlformats.org/officeDocument/2006/relationships/image" Target="../media/image14.png"/><Relationship Id="rId7" Type="http://schemas.openxmlformats.org/officeDocument/2006/relationships/image" Target="../media/image54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55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56.png"/><Relationship Id="rId14" Type="http://schemas.openxmlformats.org/officeDocument/2006/relationships/image" Target="../media/image35.png"/><Relationship Id="rId15" Type="http://schemas.openxmlformats.org/officeDocument/2006/relationships/image" Target="../media/image57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Relationship Id="rId21" Type="http://schemas.openxmlformats.org/officeDocument/2006/relationships/image" Target="../media/image60.png"/><Relationship Id="rId22" Type="http://schemas.openxmlformats.org/officeDocument/2006/relationships/image" Target="../media/image61.png"/><Relationship Id="rId23" Type="http://schemas.openxmlformats.org/officeDocument/2006/relationships/image" Target="../media/image62.png"/><Relationship Id="rId24" Type="http://schemas.openxmlformats.org/officeDocument/2006/relationships/image" Target="../media/image63.png"/><Relationship Id="rId25" Type="http://schemas.openxmlformats.org/officeDocument/2006/relationships/image" Target="../media/image64.png"/><Relationship Id="rId26" Type="http://schemas.openxmlformats.org/officeDocument/2006/relationships/image" Target="../media/image65.png"/><Relationship Id="rId27" Type="http://schemas.openxmlformats.org/officeDocument/2006/relationships/image" Target="../media/image66.png"/><Relationship Id="rId28" Type="http://schemas.openxmlformats.org/officeDocument/2006/relationships/image" Target="../media/image67.png"/><Relationship Id="rId29" Type="http://schemas.openxmlformats.org/officeDocument/2006/relationships/image" Target="../media/image68.png"/><Relationship Id="rId30" Type="http://schemas.openxmlformats.org/officeDocument/2006/relationships/image" Target="../media/image69.png"/><Relationship Id="rId31" Type="http://schemas.openxmlformats.org/officeDocument/2006/relationships/image" Target="../media/image70.png"/><Relationship Id="rId32" Type="http://schemas.openxmlformats.org/officeDocument/2006/relationships/image" Target="../media/image7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24.png"/><Relationship Id="rId14" Type="http://schemas.openxmlformats.org/officeDocument/2006/relationships/image" Target="../media/image79.png"/><Relationship Id="rId15" Type="http://schemas.openxmlformats.org/officeDocument/2006/relationships/image" Target="../media/image39.png"/><Relationship Id="rId16" Type="http://schemas.openxmlformats.org/officeDocument/2006/relationships/image" Target="../media/image80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83.png"/><Relationship Id="rId20" Type="http://schemas.openxmlformats.org/officeDocument/2006/relationships/image" Target="../media/image84.png"/><Relationship Id="rId21" Type="http://schemas.openxmlformats.org/officeDocument/2006/relationships/image" Target="../media/image85.png"/><Relationship Id="rId22" Type="http://schemas.openxmlformats.org/officeDocument/2006/relationships/image" Target="../media/image46.png"/><Relationship Id="rId23" Type="http://schemas.openxmlformats.org/officeDocument/2006/relationships/image" Target="../media/image47.png"/><Relationship Id="rId24" Type="http://schemas.openxmlformats.org/officeDocument/2006/relationships/image" Target="../media/image48.png"/><Relationship Id="rId25" Type="http://schemas.openxmlformats.org/officeDocument/2006/relationships/image" Target="../media/image49.png"/><Relationship Id="rId26" Type="http://schemas.openxmlformats.org/officeDocument/2006/relationships/image" Target="../media/image50.png"/><Relationship Id="rId27" Type="http://schemas.openxmlformats.org/officeDocument/2006/relationships/image" Target="../media/image8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8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88.png"/><Relationship Id="rId8" Type="http://schemas.openxmlformats.org/officeDocument/2006/relationships/image" Target="../media/image39.png"/><Relationship Id="rId9" Type="http://schemas.openxmlformats.org/officeDocument/2006/relationships/image" Target="../media/image77.png"/><Relationship Id="rId10" Type="http://schemas.openxmlformats.org/officeDocument/2006/relationships/image" Target="../media/image42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png"/><Relationship Id="rId18" Type="http://schemas.openxmlformats.org/officeDocument/2006/relationships/image" Target="../media/image96.png"/><Relationship Id="rId19" Type="http://schemas.openxmlformats.org/officeDocument/2006/relationships/image" Target="../media/image97.png"/><Relationship Id="rId20" Type="http://schemas.openxmlformats.org/officeDocument/2006/relationships/image" Target="../media/image98.png"/><Relationship Id="rId21" Type="http://schemas.openxmlformats.org/officeDocument/2006/relationships/image" Target="../media/image99.png"/><Relationship Id="rId22" Type="http://schemas.openxmlformats.org/officeDocument/2006/relationships/image" Target="../media/image100.png"/><Relationship Id="rId23" Type="http://schemas.openxmlformats.org/officeDocument/2006/relationships/image" Target="../media/image101.png"/><Relationship Id="rId24" Type="http://schemas.openxmlformats.org/officeDocument/2006/relationships/image" Target="../media/image102.png"/><Relationship Id="rId25" Type="http://schemas.openxmlformats.org/officeDocument/2006/relationships/image" Target="../media/image10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13" Type="http://schemas.openxmlformats.org/officeDocument/2006/relationships/image" Target="../media/image114.png"/><Relationship Id="rId14" Type="http://schemas.openxmlformats.org/officeDocument/2006/relationships/image" Target="../media/image115.png"/><Relationship Id="rId15" Type="http://schemas.openxmlformats.org/officeDocument/2006/relationships/image" Target="../media/image116.png"/><Relationship Id="rId16" Type="http://schemas.openxmlformats.org/officeDocument/2006/relationships/image" Target="../media/image117.png"/><Relationship Id="rId17" Type="http://schemas.openxmlformats.org/officeDocument/2006/relationships/image" Target="../media/image118.png"/><Relationship Id="rId18" Type="http://schemas.openxmlformats.org/officeDocument/2006/relationships/image" Target="../media/image119.png"/><Relationship Id="rId19" Type="http://schemas.openxmlformats.org/officeDocument/2006/relationships/image" Target="../media/image120.png"/><Relationship Id="rId20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1695" cy="7105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90" y="380999"/>
            <a:ext cx="11429714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4544" b="1">
                <a:solidFill>
                  <a:srgbClr val="FFFFFF"/>
                </a:solidFill>
              </a:rPr>
              <a:t>BIG MAMA'S GENIUS VILLAGE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1295399"/>
            <a:ext cx="1142971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2600"/>
              </a:spcAft>
            </a:pPr>
            <a:r>
              <a:rPr sz="1913" b="1">
                <a:solidFill>
                  <a:srgbClr val="FFD54F"/>
                </a:solidFill>
              </a:rPr>
              <a:t>FOR EVERY SEASON OF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6238" y="2800350"/>
            <a:ext cx="2095447" cy="2286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"/>
            </a:srgbClr>
          </a:solidFill>
          <a:ln w="3302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57288" y="2990849"/>
            <a:ext cx="123821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975"/>
              </a:spcAft>
            </a:pPr>
            <a:r>
              <a:rPr sz="2152" b="0">
                <a:solidFill>
                  <a:srgbClr val="4CAF50"/>
                </a:solidFill>
              </a:rPr>
              <a:t>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9644" y="3648074"/>
            <a:ext cx="6286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Youth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981449"/>
            <a:ext cx="171445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Guidance, safety,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17" y="4429125"/>
            <a:ext cx="40956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</a:rPr>
              <a:t>BM04.1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2180" y="2800350"/>
            <a:ext cx="2095447" cy="2286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"/>
            </a:srgbClr>
          </a:solidFill>
          <a:ln w="3302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3231" y="2990849"/>
            <a:ext cx="123821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975"/>
              </a:spcAft>
            </a:pPr>
            <a:r>
              <a:rPr sz="2152" b="0">
                <a:solidFill>
                  <a:srgbClr val="2196F3"/>
                </a:solidFill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676" y="3648074"/>
            <a:ext cx="1714457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Emerging Adults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676" y="4238624"/>
            <a:ext cx="171445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Truth, money, independence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0835" y="4686300"/>
            <a:ext cx="43813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</a:rPr>
              <a:t>BM04.2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8123" y="2800350"/>
            <a:ext cx="2095447" cy="2286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"/>
            </a:srgbClr>
          </a:solidFill>
          <a:ln w="3302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29174" y="2990849"/>
            <a:ext cx="123821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975"/>
              </a:spcAft>
            </a:pPr>
            <a:r>
              <a:rPr sz="2152" b="0">
                <a:solidFill>
                  <a:srgbClr val="FF9800"/>
                </a:solidFill>
              </a:rPr>
              <a:t>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718" y="3648074"/>
            <a:ext cx="16287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Family Builders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619" y="3981449"/>
            <a:ext cx="171445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Finances, wellbeing, children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6778" y="4429125"/>
            <a:ext cx="43813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</a:rPr>
              <a:t>BM04.3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4066" y="2800350"/>
            <a:ext cx="2095447" cy="2286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"/>
            </a:srgbClr>
          </a:solidFill>
          <a:ln w="3302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5117" y="2990849"/>
            <a:ext cx="123821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975"/>
              </a:spcAft>
            </a:pPr>
            <a:r>
              <a:rPr sz="2152" b="0">
                <a:solidFill>
                  <a:srgbClr val="9C27B0"/>
                </a:solidFill>
              </a:rPr>
              <a:t>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8859" y="3648074"/>
            <a:ext cx="148586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Empty Nesters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561" y="3981449"/>
            <a:ext cx="171445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Connection, mentoring,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2720" y="4429125"/>
            <a:ext cx="4476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</a:rPr>
              <a:t>BM04.4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20009" y="2800350"/>
            <a:ext cx="2095447" cy="2286000"/>
          </a:xfrm>
          <a:prstGeom prst="roundRect">
            <a:avLst>
              <a:gd name="adj" fmla="val 14545"/>
            </a:avLst>
          </a:prstGeom>
          <a:solidFill>
            <a:srgbClr val="FFFFFF">
              <a:alpha val="10000"/>
            </a:srgbClr>
          </a:solidFill>
          <a:ln w="3302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1059" y="2990849"/>
            <a:ext cx="123821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975"/>
              </a:spcAft>
            </a:pPr>
            <a:r>
              <a:rPr sz="2152" b="0">
                <a:solidFill>
                  <a:srgbClr val="F44336"/>
                </a:solidFill>
              </a:rPr>
              <a:t>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5317" y="3648074"/>
            <a:ext cx="7143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</a:rPr>
              <a:t>Elders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2425" y="3981449"/>
            <a:ext cx="139061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Respect, wisdom, joy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8663" y="4229100"/>
            <a:ext cx="43813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</a:rPr>
              <a:t>BM04.5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23961" y="5753099"/>
            <a:ext cx="9143771" cy="971550"/>
          </a:xfrm>
          <a:prstGeom prst="roundRect">
            <a:avLst>
              <a:gd name="adj" fmla="val 15686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23961" y="5753099"/>
            <a:ext cx="9143771" cy="971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1950"/>
              </a:spcBef>
              <a:spcAft>
                <a:spcPts val="0"/>
              </a:spcAft>
            </a:pPr>
            <a:r>
              <a:rPr sz="1435" b="1">
                <a:solidFill>
                  <a:srgbClr val="FFD54F"/>
                </a:solidFill>
              </a:rPr>
              <a:t> No matter your age or stage, the Village gives you </a:t>
            </a:r>
            <a:r>
              <a:rPr sz="1435" b="1">
                <a:solidFill>
                  <a:srgbClr val="FFD54F"/>
                </a:solidFill>
              </a:rPr>
              <a:t>safety</a:t>
            </a:r>
            <a:r>
              <a:rPr sz="1435" b="1">
                <a:solidFill>
                  <a:srgbClr val="FFD54F"/>
                </a:solidFill>
              </a:rPr>
              <a:t>, </a:t>
            </a:r>
            <a:r>
              <a:rPr sz="1435" b="1">
                <a:solidFill>
                  <a:srgbClr val="FFD54F"/>
                </a:solidFill>
              </a:rPr>
              <a:t>clarity</a:t>
            </a:r>
            <a:r>
              <a:rPr sz="1435" b="1">
                <a:solidFill>
                  <a:srgbClr val="FFD54F"/>
                </a:solidFill>
              </a:rPr>
              <a:t>, and </a:t>
            </a:r>
            <a:r>
              <a:rPr sz="1435" b="1">
                <a:solidFill>
                  <a:srgbClr val="FFD54F"/>
                </a:solidFill>
              </a:rPr>
              <a:t>JOY</a:t>
            </a:r>
            <a:r>
              <a:rPr sz="1435" b="1">
                <a:solidFill>
                  <a:srgbClr val="FFD54F"/>
                </a:solidFill>
              </a:rPr>
              <a:t>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2"/>
            </a:gs>
            <a:gs pos="100000">
              <a:srgbClr val="1A1A1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971550"/>
            <a:ext cx="5571985" cy="1371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2600"/>
              </a:spcAft>
            </a:pPr>
            <a:r>
              <a:rPr sz="4305" b="1">
                <a:solidFill>
                  <a:srgbClr val="FFFFFF"/>
                </a:solidFill>
              </a:rPr>
              <a:t>THEY'RE STEALING YOUR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3009900"/>
            <a:ext cx="55719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YOUR EVERY </a:t>
            </a:r>
            <a:r>
              <a:rPr sz="1435" b="1">
                <a:solidFill>
                  <a:srgbClr val="FF6666"/>
                </a:solidFill>
              </a:rPr>
              <a:t>CLICK</a:t>
            </a:r>
            <a:r>
              <a:rPr sz="1435" b="1">
                <a:solidFill>
                  <a:srgbClr val="FFFFFF"/>
                </a:solidFill>
              </a:rPr>
              <a:t>: SOLD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666733" y="3047999"/>
            <a:ext cx="171445" cy="266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3600450"/>
            <a:ext cx="55719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YOUR EVERY </a:t>
            </a:r>
            <a:r>
              <a:rPr sz="1435" b="1">
                <a:solidFill>
                  <a:srgbClr val="FF6666"/>
                </a:solidFill>
              </a:rPr>
              <a:t>DOLLAR</a:t>
            </a:r>
            <a:r>
              <a:rPr sz="1435" b="1">
                <a:solidFill>
                  <a:srgbClr val="FFFFFF"/>
                </a:solidFill>
              </a:rPr>
              <a:t>: TRACKED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666733" y="3638550"/>
            <a:ext cx="171445" cy="2666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4171950"/>
            <a:ext cx="55719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YOUR EVERY </a:t>
            </a:r>
            <a:r>
              <a:rPr sz="1435" b="1">
                <a:solidFill>
                  <a:srgbClr val="FF6666"/>
                </a:solidFill>
              </a:rPr>
              <a:t>EMOTION</a:t>
            </a:r>
            <a:r>
              <a:rPr sz="1435" b="1">
                <a:solidFill>
                  <a:srgbClr val="FFFFFF"/>
                </a:solidFill>
              </a:rPr>
              <a:t>: MANIPULATED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666733" y="4210049"/>
            <a:ext cx="266693" cy="2666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4762500"/>
            <a:ext cx="55719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YOUR </a:t>
            </a:r>
            <a:r>
              <a:rPr sz="1435" b="1">
                <a:solidFill>
                  <a:srgbClr val="FF6666"/>
                </a:solidFill>
              </a:rPr>
              <a:t>TRUST</a:t>
            </a:r>
            <a:r>
              <a:rPr sz="1435" b="1">
                <a:solidFill>
                  <a:srgbClr val="FFFFFF"/>
                </a:solidFill>
              </a:rPr>
              <a:t>: SHATTERED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4800600"/>
            <a:ext cx="28" cy="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3333"/>
                </a:solidFill>
              </a:rPr>
              <a:t>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5524499"/>
            <a:ext cx="866753" cy="352424"/>
          </a:xfrm>
          <a:prstGeom prst="roundRect">
            <a:avLst>
              <a:gd name="adj" fmla="val 27027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33" y="5524499"/>
            <a:ext cx="866753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</a:rPr>
              <a:t> Youth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809604" y="5629275"/>
            <a:ext cx="95247" cy="152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676358" y="5524499"/>
            <a:ext cx="942951" cy="352424"/>
          </a:xfrm>
          <a:prstGeom prst="roundRect">
            <a:avLst>
              <a:gd name="adj" fmla="val 27027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6358" y="5524499"/>
            <a:ext cx="942951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</a:rPr>
              <a:t> Adults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1819229" y="5629275"/>
            <a:ext cx="133346" cy="152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752656" y="5524499"/>
            <a:ext cx="1123921" cy="352424"/>
          </a:xfrm>
          <a:prstGeom prst="roundRect">
            <a:avLst>
              <a:gd name="adj" fmla="val 27027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2656" y="5524499"/>
            <a:ext cx="1123921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</a:rPr>
              <a:t> Families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2895527" y="5629275"/>
            <a:ext cx="190495" cy="1524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019449" y="5524499"/>
            <a:ext cx="981050" cy="352424"/>
          </a:xfrm>
          <a:prstGeom prst="roundRect">
            <a:avLst>
              <a:gd name="adj" fmla="val 27027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19449" y="5524499"/>
            <a:ext cx="981050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</a:rPr>
              <a:t> Elders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4162320" y="5629275"/>
            <a:ext cx="190495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6733" y="6219825"/>
            <a:ext cx="259073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FFFFFF"/>
                </a:solidFill>
              </a:rPr>
              <a:t> BIG TECH IS WATCHING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666733" y="6267449"/>
            <a:ext cx="200019" cy="1714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619709" y="0"/>
            <a:ext cx="5571985" cy="68580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>
            <a:off x="6619709" y="0"/>
            <a:ext cx="5571985" cy="6858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619709" y="0"/>
            <a:ext cx="5571985" cy="6858000"/>
          </a:xfrm>
          <a:prstGeom prst="rect">
            <a:avLst/>
          </a:prstGeom>
          <a:gradFill rotWithShape="1">
            <a:gsLst>
              <a:gs pos="0">
                <a:srgbClr val="FF0000">
                  <a:alpha val="5000"/>
                </a:srgbClr>
              </a:gs>
              <a:gs pos="100000">
                <a:srgbClr val="FF0000">
                  <a:alpha val="0"/>
                </a:srgbClr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3949AB"/>
            </a:gs>
            <a:gs pos="100000">
              <a:srgbClr val="5C6BC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7105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90" y="380999"/>
            <a:ext cx="11429714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1950"/>
              </a:spcAft>
            </a:pPr>
            <a:r>
              <a:rPr sz="3827" b="1">
                <a:solidFill>
                  <a:srgbClr val="FFFFFF"/>
                </a:solidFill>
              </a:rPr>
              <a:t>BIG MAMA FLIPS THE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90" y="1276350"/>
            <a:ext cx="5524361" cy="12192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46060" y="1803400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09" y="16002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525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752456" y="1733550"/>
            <a:ext cx="304792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1090" y="1466849"/>
            <a:ext cx="331461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5252"/>
                </a:solidFill>
              </a:rPr>
              <a:t>REAL-TIME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1090" y="1857375"/>
            <a:ext cx="33146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digital bodyguard for every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090" y="2133599"/>
            <a:ext cx="45718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Youth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381090" y="2162174"/>
            <a:ext cx="76198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33526" y="2133599"/>
            <a:ext cx="51433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Adults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933526" y="2162174"/>
            <a:ext cx="104772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43111" y="2133599"/>
            <a:ext cx="54291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Elders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543111" y="2162174"/>
            <a:ext cx="142871" cy="1143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0990" y="2686050"/>
            <a:ext cx="5524361" cy="12192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146060" y="3213100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109" y="30099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752456" y="3143250"/>
            <a:ext cx="304792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81090" y="2876549"/>
            <a:ext cx="373370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D54F"/>
                </a:solidFill>
              </a:rPr>
              <a:t>JOY COACHING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090" y="3267075"/>
            <a:ext cx="37337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emotional compass through every life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090" y="3543300"/>
            <a:ext cx="64768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Growing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1381090" y="3571875"/>
            <a:ext cx="114297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24021" y="3543300"/>
            <a:ext cx="561960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Family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124021" y="3571875"/>
            <a:ext cx="133346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781230" y="3543300"/>
            <a:ext cx="581010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Golden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230" y="3571875"/>
            <a:ext cx="12" cy="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0990" y="4095749"/>
            <a:ext cx="5524361" cy="12192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-146060" y="4622799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9109" y="44196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752456" y="4552949"/>
            <a:ext cx="304792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81090" y="4286250"/>
            <a:ext cx="348606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4CAF50"/>
                </a:solidFill>
              </a:rPr>
              <a:t>BULLSHIT DETECTOR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1090" y="4676775"/>
            <a:ext cx="34860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truth filter from first click to golden years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1090" y="4952999"/>
            <a:ext cx="70483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Learning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1381090" y="4981574"/>
            <a:ext cx="142871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181170" y="4952999"/>
            <a:ext cx="65720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Working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2181170" y="4981574"/>
            <a:ext cx="114297" cy="1143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24101" y="4952999"/>
            <a:ext cx="60005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Retired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2924101" y="4981574"/>
            <a:ext cx="133346" cy="1143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80990" y="5505450"/>
            <a:ext cx="5524361" cy="12192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-146060" y="6032500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109" y="58293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714357" y="5962650"/>
            <a:ext cx="380990" cy="304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81090" y="5695949"/>
            <a:ext cx="271455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2196F3"/>
                </a:solidFill>
              </a:rPr>
              <a:t>COLLECTIVE POWER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1090" y="6086475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village strength across all ages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1090" y="6362700"/>
            <a:ext cx="70483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Together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1381090" y="6391275"/>
            <a:ext cx="142871" cy="1143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181170" y="6362700"/>
            <a:ext cx="61910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Forever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2181170" y="6391275"/>
            <a:ext cx="142871" cy="1143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8715157" y="2333624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>
            <a:alphaModFix amt="10000000000"/>
          </a:blip>
          <a:stretch>
            <a:fillRect/>
          </a:stretch>
        </p:blipFill>
        <p:spPr>
          <a:xfrm>
            <a:off x="8962800" y="2524125"/>
            <a:ext cx="180970" cy="285750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10048623" y="3667124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8">
            <a:alphaModFix amt="10000000000"/>
          </a:blip>
          <a:stretch>
            <a:fillRect/>
          </a:stretch>
        </p:blipFill>
        <p:spPr>
          <a:xfrm>
            <a:off x="10201019" y="3857625"/>
            <a:ext cx="361940" cy="28575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8715157" y="500062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9">
            <a:alphaModFix amt="10000000000"/>
          </a:blip>
          <a:stretch>
            <a:fillRect/>
          </a:stretch>
        </p:blipFill>
        <p:spPr>
          <a:xfrm>
            <a:off x="8867553" y="5191125"/>
            <a:ext cx="361940" cy="285750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7381690" y="3667124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0">
            <a:alphaModFix amt="10000000000"/>
          </a:blip>
          <a:stretch>
            <a:fillRect/>
          </a:stretch>
        </p:blipFill>
        <p:spPr>
          <a:xfrm>
            <a:off x="7553136" y="3857625"/>
            <a:ext cx="323841" cy="28575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7381690" y="2333624"/>
            <a:ext cx="3333666" cy="33337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1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715057" y="2667000"/>
            <a:ext cx="2666933" cy="2667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54F">
                  <a:alpha val="30000"/>
                </a:srgbClr>
              </a:gs>
              <a:gs pos="100000">
                <a:srgbClr val="FF9800">
                  <a:alpha val="3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1">
            <a:alphaModFix amt="10000000000"/>
          </a:blip>
          <a:stretch>
            <a:fillRect/>
          </a:stretch>
        </p:blipFill>
        <p:spPr>
          <a:xfrm>
            <a:off x="8715157" y="3486150"/>
            <a:ext cx="666733" cy="66675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286542" y="4248150"/>
            <a:ext cx="15144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VILLAGE POWER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2">
            <a:alphaModFix amt="10000000000"/>
          </a:blip>
          <a:stretch>
            <a:fillRect/>
          </a:stretch>
        </p:blipFill>
        <p:spPr>
          <a:xfrm>
            <a:off x="7095947" y="6534150"/>
            <a:ext cx="266693" cy="2286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457888" y="6477000"/>
            <a:ext cx="435281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D54F"/>
                </a:solidFill>
              </a:rPr>
              <a:t>TOGETHER, WE'RE UNSTOPPABLE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47A1"/>
            </a:gs>
            <a:gs pos="50000">
              <a:srgbClr val="1565C0"/>
            </a:gs>
            <a:gs pos="100000">
              <a:srgbClr val="1976D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87439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90" y="380999"/>
            <a:ext cx="6505412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FOR MEN: CONTROL. TRUTH. POWER.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90" y="12763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84159" y="18414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1010" y="16382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733406" y="1790700"/>
            <a:ext cx="266693" cy="266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4892" y="1428750"/>
            <a:ext cx="251453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D54F"/>
                </a:solidFill>
              </a:rPr>
              <a:t>BULLSHIT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892" y="1781174"/>
            <a:ext cx="25145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Cut through the noise at any 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892" y="2028825"/>
            <a:ext cx="251453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892" y="2247899"/>
            <a:ext cx="4476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Youth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304892" y="2276474"/>
            <a:ext cx="76198" cy="114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754" y="2247899"/>
            <a:ext cx="50481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Adults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828754" y="2276474"/>
            <a:ext cx="104772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09764" y="2247899"/>
            <a:ext cx="53338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Elders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409764" y="2276474"/>
            <a:ext cx="142871" cy="1143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0990" y="27241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-184159" y="32892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1010" y="30861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733406" y="3238500"/>
            <a:ext cx="266693" cy="2666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04892" y="2876549"/>
            <a:ext cx="357178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D54F"/>
                </a:solidFill>
              </a:rPr>
              <a:t>BANKING WATCHDOG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892" y="3228975"/>
            <a:ext cx="35717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Protect your wealth from first job to retirement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4892" y="3476624"/>
            <a:ext cx="357178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4892" y="3695699"/>
            <a:ext cx="61910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Starting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1304892" y="3724274"/>
            <a:ext cx="114297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00199" y="3695699"/>
            <a:ext cx="63815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Building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000199" y="3724274"/>
            <a:ext cx="114297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14557" y="3695699"/>
            <a:ext cx="781030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Preserving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2714557" y="3724274"/>
            <a:ext cx="133346" cy="1143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80990" y="41719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-184159" y="47370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1010" y="45339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733406" y="4686300"/>
            <a:ext cx="266693" cy="2666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04892" y="4324349"/>
            <a:ext cx="322889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D54F"/>
                </a:solidFill>
              </a:rPr>
              <a:t>PASSWORD &amp; SPOOF GUARD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4892" y="4676775"/>
            <a:ext cx="32288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Secure your identity across generations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4892" y="4924424"/>
            <a:ext cx="322889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4892" y="5143500"/>
            <a:ext cx="55243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Digital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1304892" y="5172075"/>
            <a:ext cx="142871" cy="1143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933526" y="5143500"/>
            <a:ext cx="51433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Mobile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1933526" y="5172075"/>
            <a:ext cx="85722" cy="1143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524061" y="5143500"/>
            <a:ext cx="54291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Secure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>
            <a:off x="2524061" y="5172075"/>
            <a:ext cx="114297" cy="1143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380990" y="56197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-184159" y="61848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81010" y="59816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>
            <a:alphaModFix amt="10000000000"/>
          </a:blip>
          <a:stretch>
            <a:fillRect/>
          </a:stretch>
        </p:blipFill>
        <p:spPr>
          <a:xfrm>
            <a:off x="704832" y="6134100"/>
            <a:ext cx="333366" cy="26669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04892" y="5772150"/>
            <a:ext cx="321936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D54F"/>
                </a:solidFill>
              </a:rPr>
              <a:t>MENTORSHIP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4892" y="6124574"/>
            <a:ext cx="32193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Learn from the best, be the best for others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04892" y="6372225"/>
            <a:ext cx="321936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04892" y="6591300"/>
            <a:ext cx="69530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Learning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1304892" y="6619875"/>
            <a:ext cx="142871" cy="1143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76398" y="6591300"/>
            <a:ext cx="61910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Leading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7">
            <a:alphaModFix amt="80000"/>
          </a:blip>
          <a:stretch>
            <a:fillRect/>
          </a:stretch>
        </p:blipFill>
        <p:spPr>
          <a:xfrm>
            <a:off x="2076398" y="6619875"/>
            <a:ext cx="114297" cy="1143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762180" y="6591300"/>
            <a:ext cx="62863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Guiding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8">
            <a:alphaModFix amt="80000"/>
          </a:blip>
          <a:stretch>
            <a:fillRect/>
          </a:stretch>
        </p:blipFill>
        <p:spPr>
          <a:xfrm>
            <a:off x="2762180" y="6619875"/>
            <a:ext cx="133346" cy="114300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380990" y="7067549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-184159" y="7632698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1010" y="74295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9">
            <a:alphaModFix amt="10000000000"/>
          </a:blip>
          <a:stretch>
            <a:fillRect/>
          </a:stretch>
        </p:blipFill>
        <p:spPr>
          <a:xfrm>
            <a:off x="761980" y="7581899"/>
            <a:ext cx="200019" cy="26669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304892" y="7219950"/>
            <a:ext cx="341938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D54F"/>
                </a:solidFill>
              </a:rPr>
              <a:t>PROXIMITY GENIUS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04892" y="7572375"/>
            <a:ext cx="34193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Connect with your tribe, whatever your stage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4892" y="7820024"/>
            <a:ext cx="341938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04892" y="8039099"/>
            <a:ext cx="85722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Community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0">
            <a:alphaModFix amt="80000"/>
          </a:blip>
          <a:stretch>
            <a:fillRect/>
          </a:stretch>
        </p:blipFill>
        <p:spPr>
          <a:xfrm>
            <a:off x="1304892" y="8067674"/>
            <a:ext cx="142871" cy="1143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238319" y="8039099"/>
            <a:ext cx="64768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Support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1">
            <a:alphaModFix amt="80000"/>
          </a:blip>
          <a:stretch>
            <a:fillRect/>
          </a:stretch>
        </p:blipFill>
        <p:spPr>
          <a:xfrm>
            <a:off x="2238319" y="8067674"/>
            <a:ext cx="142871" cy="1143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971725" y="8039099"/>
            <a:ext cx="84770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Connection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2">
            <a:alphaModFix amt="80000"/>
          </a:blip>
          <a:stretch>
            <a:fillRect/>
          </a:stretch>
        </p:blipFill>
        <p:spPr>
          <a:xfrm>
            <a:off x="2971725" y="8067674"/>
            <a:ext cx="142871" cy="114300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8191295" y="2914650"/>
            <a:ext cx="1714457" cy="1714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9800"/>
              </a:gs>
              <a:gs pos="100000">
                <a:srgbClr val="FFD54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5612" y="3409950"/>
            <a:ext cx="35" cy="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D47A1"/>
                </a:solidFill>
              </a:rP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5612" y="3886200"/>
            <a:ext cx="107629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D47A1"/>
                </a:solidFill>
              </a:rPr>
              <a:t>CONTROL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43571" y="4819650"/>
            <a:ext cx="1523961" cy="1523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76D2"/>
              </a:gs>
              <a:gs pos="100000">
                <a:srgbClr val="42A5F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3">
            <a:alphaModFix amt="10000000000"/>
          </a:blip>
          <a:stretch>
            <a:fillRect/>
          </a:stretch>
        </p:blipFill>
        <p:spPr>
          <a:xfrm>
            <a:off x="7534086" y="5219700"/>
            <a:ext cx="476238" cy="38099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534086" y="5695949"/>
            <a:ext cx="74293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TRUTH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29514" y="4819650"/>
            <a:ext cx="1333466" cy="1333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D47A1"/>
              </a:gs>
              <a:gs pos="100000">
                <a:srgbClr val="1565C0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4">
            <a:alphaModFix amt="10000000000"/>
          </a:blip>
          <a:stretch>
            <a:fillRect/>
          </a:stretch>
        </p:blipFill>
        <p:spPr>
          <a:xfrm>
            <a:off x="9667633" y="5124449"/>
            <a:ext cx="333366" cy="380999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667633" y="5600700"/>
            <a:ext cx="85722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POWER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48063" y="70389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5">
            <a:alphaModFix amt="10000000000"/>
          </a:blip>
          <a:stretch>
            <a:fillRect/>
          </a:stretch>
        </p:blipFill>
        <p:spPr>
          <a:xfrm>
            <a:off x="4609984" y="7162800"/>
            <a:ext cx="142871" cy="2286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4438539" y="7591424"/>
            <a:ext cx="48576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YOUTH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133846" y="70389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6">
            <a:alphaModFix amt="10000000000"/>
          </a:blip>
          <a:stretch>
            <a:fillRect/>
          </a:stretch>
        </p:blipFill>
        <p:spPr>
          <a:xfrm>
            <a:off x="5276718" y="7162800"/>
            <a:ext cx="200019" cy="2286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124321" y="7591424"/>
            <a:ext cx="51433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YOUNG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819629" y="70389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7">
            <a:alphaModFix amt="10000000000"/>
          </a:blip>
          <a:stretch>
            <a:fillRect/>
          </a:stretch>
        </p:blipFill>
        <p:spPr>
          <a:xfrm>
            <a:off x="5962500" y="7162800"/>
            <a:ext cx="200019" cy="2286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829154" y="7591424"/>
            <a:ext cx="4667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ADULT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553036" y="70389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8">
            <a:alphaModFix amt="10000000000"/>
          </a:blip>
          <a:stretch>
            <a:fillRect/>
          </a:stretch>
        </p:blipFill>
        <p:spPr>
          <a:xfrm>
            <a:off x="6648283" y="7162800"/>
            <a:ext cx="285742" cy="2286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486362" y="7591424"/>
            <a:ext cx="59053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MATURE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76918" y="70389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9">
            <a:alphaModFix amt="10000000000"/>
          </a:blip>
          <a:stretch>
            <a:fillRect/>
          </a:stretch>
        </p:blipFill>
        <p:spPr>
          <a:xfrm>
            <a:off x="7381690" y="7162800"/>
            <a:ext cx="257168" cy="2286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276918" y="7591424"/>
            <a:ext cx="4667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ELDER</a:t>
            </a: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30">
            <a:alphaModFix amt="10000000000"/>
          </a:blip>
          <a:stretch>
            <a:fillRect/>
          </a:stretch>
        </p:blipFill>
        <p:spPr>
          <a:xfrm>
            <a:off x="6734006" y="8172450"/>
            <a:ext cx="238119" cy="2286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7067373" y="8115300"/>
            <a:ext cx="474333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D54F"/>
                </a:solidFill>
              </a:rPr>
              <a:t>REAL MEN PROTECT WHAT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E35B1"/>
            </a:gs>
            <a:gs pos="50000">
              <a:srgbClr val="7E57C2"/>
            </a:gs>
            <a:gs pos="100000">
              <a:srgbClr val="9575C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10191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90" y="380999"/>
            <a:ext cx="6972125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FOR WOMEN: SAFETY. TRUST.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90" y="12763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84159" y="18414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1010" y="16382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DB6A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733406" y="1790700"/>
            <a:ext cx="266693" cy="266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4892" y="1428750"/>
            <a:ext cx="36670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80CBC4"/>
                </a:solidFill>
              </a:rPr>
              <a:t>SAFETY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892" y="1781174"/>
            <a:ext cx="36670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Always watching, always protecting at every 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892" y="2028825"/>
            <a:ext cx="366703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892" y="2247899"/>
            <a:ext cx="4476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Youth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304892" y="2276474"/>
            <a:ext cx="76198" cy="114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754" y="2247899"/>
            <a:ext cx="41908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Adult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828754" y="2276474"/>
            <a:ext cx="76198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24041" y="2247899"/>
            <a:ext cx="47623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Elder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324041" y="2276474"/>
            <a:ext cx="142871" cy="1143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0990" y="27241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-184159" y="32892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1010" y="30861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DB6A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733406" y="3238500"/>
            <a:ext cx="266693" cy="2666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04892" y="2876549"/>
            <a:ext cx="34003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80CBC4"/>
                </a:solidFill>
              </a:rPr>
              <a:t>EMOTIONAL MOOD 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892" y="3228975"/>
            <a:ext cx="3400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inner balance through all seasons of 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4892" y="3476624"/>
            <a:ext cx="340033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4892" y="3695699"/>
            <a:ext cx="63815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Growing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1304892" y="3724274"/>
            <a:ext cx="114297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19249" y="3695699"/>
            <a:ext cx="55243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Family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019249" y="3724274"/>
            <a:ext cx="133346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47883" y="3695699"/>
            <a:ext cx="57148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Golden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47883" y="3724274"/>
            <a:ext cx="12" cy="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0990" y="41719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-184159" y="47370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1010" y="45339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DB6A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704832" y="4686300"/>
            <a:ext cx="333366" cy="2666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04892" y="4324349"/>
            <a:ext cx="379085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80CBC4"/>
                </a:solidFill>
              </a:rPr>
              <a:t>VILLAGE 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4892" y="4676775"/>
            <a:ext cx="37908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Positive connections for women of all generations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4892" y="4924424"/>
            <a:ext cx="379085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4892" y="5143500"/>
            <a:ext cx="64768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Support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304892" y="5172075"/>
            <a:ext cx="142871" cy="1143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028774" y="5143500"/>
            <a:ext cx="85722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Community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2028774" y="5172075"/>
            <a:ext cx="142871" cy="1143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971725" y="5143500"/>
            <a:ext cx="84770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Connection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2971725" y="5172075"/>
            <a:ext cx="142871" cy="1143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380990" y="56197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-184159" y="61848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81010" y="59816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DB6A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733406" y="6134100"/>
            <a:ext cx="266693" cy="26669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04892" y="5772150"/>
            <a:ext cx="434329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80CBC4"/>
                </a:solidFill>
              </a:rPr>
              <a:t>BANKING WATCHDOG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4892" y="6124574"/>
            <a:ext cx="43432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Protect your family from young children to aging parents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04892" y="6372225"/>
            <a:ext cx="434329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04892" y="6591300"/>
            <a:ext cx="62863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Children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4892" y="6619875"/>
            <a:ext cx="11" cy="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09724" y="6591300"/>
            <a:ext cx="79055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Household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009724" y="6619875"/>
            <a:ext cx="133346" cy="1143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876478" y="6591300"/>
            <a:ext cx="55243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Future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>
            <a:off x="2876478" y="6619875"/>
            <a:ext cx="133346" cy="114300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380990" y="7067549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-184159" y="7632698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1010" y="74295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DB6A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5">
            <a:alphaModFix amt="10000000000"/>
          </a:blip>
          <a:stretch>
            <a:fillRect/>
          </a:stretch>
        </p:blipFill>
        <p:spPr>
          <a:xfrm>
            <a:off x="733406" y="7581899"/>
            <a:ext cx="266693" cy="26669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304892" y="7219950"/>
            <a:ext cx="272408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80CBC4"/>
                </a:solidFill>
              </a:rPr>
              <a:t>BULLSHIT DETECTOR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04892" y="7572375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See through deception at any stage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4892" y="7820024"/>
            <a:ext cx="272408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04892" y="8039099"/>
            <a:ext cx="69530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Learning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1304892" y="8067674"/>
            <a:ext cx="142871" cy="1143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076398" y="8039099"/>
            <a:ext cx="64768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Working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7">
            <a:alphaModFix amt="80000"/>
          </a:blip>
          <a:stretch>
            <a:fillRect/>
          </a:stretch>
        </p:blipFill>
        <p:spPr>
          <a:xfrm>
            <a:off x="2076398" y="8067674"/>
            <a:ext cx="114297" cy="1143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790755" y="8039099"/>
            <a:ext cx="5905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Retired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8">
            <a:alphaModFix amt="80000"/>
          </a:blip>
          <a:stretch>
            <a:fillRect/>
          </a:stretch>
        </p:blipFill>
        <p:spPr>
          <a:xfrm>
            <a:off x="2790755" y="8067674"/>
            <a:ext cx="133346" cy="114300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380990" y="8515350"/>
            <a:ext cx="5524361" cy="1295399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 Same Side Corner Rectangle 69"/>
          <p:cNvSpPr/>
          <p:nvPr/>
        </p:nvSpPr>
        <p:spPr>
          <a:xfrm rot="16200000">
            <a:off x="-184159" y="9080499"/>
            <a:ext cx="1295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81010" y="88772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DB6A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9">
            <a:alphaModFix amt="10000000000"/>
          </a:blip>
          <a:stretch>
            <a:fillRect/>
          </a:stretch>
        </p:blipFill>
        <p:spPr>
          <a:xfrm>
            <a:off x="733406" y="9029700"/>
            <a:ext cx="266693" cy="26669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304892" y="8667750"/>
            <a:ext cx="259073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80CBC4"/>
                </a:solidFill>
              </a:rPr>
              <a:t>SEASON OF LIFE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4892" y="9020174"/>
            <a:ext cx="25907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Wisdom for your unique journey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04892" y="9267825"/>
            <a:ext cx="25907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04892" y="9486900"/>
            <a:ext cx="53338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Spring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0">
            <a:alphaModFix amt="80000"/>
          </a:blip>
          <a:stretch>
            <a:fillRect/>
          </a:stretch>
        </p:blipFill>
        <p:spPr>
          <a:xfrm>
            <a:off x="1304892" y="9515475"/>
            <a:ext cx="114297" cy="1143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914477" y="9486900"/>
            <a:ext cx="66673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Summer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1">
            <a:alphaModFix amt="80000"/>
          </a:blip>
          <a:stretch>
            <a:fillRect/>
          </a:stretch>
        </p:blipFill>
        <p:spPr>
          <a:xfrm>
            <a:off x="1914477" y="9515475"/>
            <a:ext cx="133346" cy="1143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657408" y="9486900"/>
            <a:ext cx="62863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Autumn</a:t>
            </a:r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2">
            <a:alphaModFix amt="80000"/>
          </a:blip>
          <a:stretch>
            <a:fillRect/>
          </a:stretch>
        </p:blipFill>
        <p:spPr>
          <a:xfrm>
            <a:off x="2657408" y="9515475"/>
            <a:ext cx="114297" cy="1143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371765" y="9486900"/>
            <a:ext cx="53338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Winter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23">
            <a:alphaModFix amt="80000"/>
          </a:blip>
          <a:stretch>
            <a:fillRect/>
          </a:stretch>
        </p:blipFill>
        <p:spPr>
          <a:xfrm>
            <a:off x="3371765" y="9515475"/>
            <a:ext cx="104772" cy="114300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8191295" y="3638550"/>
            <a:ext cx="1714457" cy="1714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DB6AC"/>
              </a:gs>
              <a:gs pos="100000">
                <a:srgbClr val="80CBC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4">
            <a:alphaModFix amt="10000000000"/>
          </a:blip>
          <a:stretch>
            <a:fillRect/>
          </a:stretch>
        </p:blipFill>
        <p:spPr>
          <a:xfrm>
            <a:off x="8629434" y="4133849"/>
            <a:ext cx="380990" cy="380999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629434" y="4610099"/>
            <a:ext cx="83817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5E35B1"/>
                </a:solidFill>
              </a:rPr>
              <a:t>SAFETY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143571" y="5543550"/>
            <a:ext cx="1523961" cy="1523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75CD"/>
              </a:gs>
              <a:gs pos="100000">
                <a:srgbClr val="B39D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5">
            <a:alphaModFix amt="10000000000"/>
          </a:blip>
          <a:stretch>
            <a:fillRect/>
          </a:stretch>
        </p:blipFill>
        <p:spPr>
          <a:xfrm>
            <a:off x="7553136" y="5943600"/>
            <a:ext cx="476238" cy="38099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553136" y="6419850"/>
            <a:ext cx="71435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TRUST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429514" y="5543550"/>
            <a:ext cx="1333466" cy="1333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E57C2"/>
              </a:gs>
              <a:gs pos="100000">
                <a:srgbClr val="9575C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6">
            <a:alphaModFix amt="10000000000"/>
          </a:blip>
          <a:stretch>
            <a:fillRect/>
          </a:stretch>
        </p:blipFill>
        <p:spPr>
          <a:xfrm>
            <a:off x="9562860" y="5848350"/>
            <a:ext cx="476238" cy="380999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562860" y="6324599"/>
            <a:ext cx="105724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448063" y="8486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27">
            <a:alphaModFix amt="10000000000"/>
          </a:blip>
          <a:stretch>
            <a:fillRect/>
          </a:stretch>
        </p:blipFill>
        <p:spPr>
          <a:xfrm>
            <a:off x="4609984" y="8610600"/>
            <a:ext cx="142871" cy="22860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438539" y="9039225"/>
            <a:ext cx="48576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YOUTH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133846" y="8486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28">
            <a:alphaModFix amt="10000000000"/>
          </a:blip>
          <a:stretch>
            <a:fillRect/>
          </a:stretch>
        </p:blipFill>
        <p:spPr>
          <a:xfrm>
            <a:off x="5276718" y="8610600"/>
            <a:ext cx="200019" cy="2286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5124321" y="9039225"/>
            <a:ext cx="51433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YOUNG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819629" y="8486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9">
            <a:alphaModFix amt="10000000000"/>
          </a:blip>
          <a:stretch>
            <a:fillRect/>
          </a:stretch>
        </p:blipFill>
        <p:spPr>
          <a:xfrm>
            <a:off x="5991075" y="8610600"/>
            <a:ext cx="142871" cy="2286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829154" y="9039225"/>
            <a:ext cx="4667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ADULT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553036" y="8486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30">
            <a:alphaModFix amt="10000000000"/>
          </a:blip>
          <a:stretch>
            <a:fillRect/>
          </a:stretch>
        </p:blipFill>
        <p:spPr>
          <a:xfrm>
            <a:off x="6648283" y="8610600"/>
            <a:ext cx="285742" cy="2286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6486362" y="9039225"/>
            <a:ext cx="59053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MATURE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276918" y="8486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31">
            <a:alphaModFix amt="10000000000"/>
          </a:blip>
          <a:stretch>
            <a:fillRect/>
          </a:stretch>
        </p:blipFill>
        <p:spPr>
          <a:xfrm>
            <a:off x="7381690" y="8610600"/>
            <a:ext cx="257168" cy="2286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7276918" y="9039225"/>
            <a:ext cx="4667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ELDER</a:t>
            </a:r>
          </a:p>
        </p:txBody>
      </p:sp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32">
            <a:alphaModFix amt="10000000000"/>
          </a:blip>
          <a:stretch>
            <a:fillRect/>
          </a:stretch>
        </p:blipFill>
        <p:spPr>
          <a:xfrm>
            <a:off x="5000499" y="9620249"/>
            <a:ext cx="238119" cy="2286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333866" y="9563099"/>
            <a:ext cx="647683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0CBC4"/>
                </a:solidFill>
              </a:rPr>
              <a:t>STRONG WOMEN BUILD STRONGER COMMUNITIES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33691E"/>
            </a:gs>
            <a:gs pos="50000">
              <a:srgbClr val="558B2F"/>
            </a:gs>
            <a:gs pos="100000">
              <a:srgbClr val="689F38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76771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90" y="380999"/>
            <a:ext cx="4476638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THE VILLAGE GIVES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90" y="1276350"/>
            <a:ext cx="5524361" cy="1476375"/>
          </a:xfrm>
          <a:prstGeom prst="roundRect">
            <a:avLst>
              <a:gd name="adj" fmla="val 2064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274647" y="1931987"/>
            <a:ext cx="14763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09" y="17335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752456" y="1885950"/>
            <a:ext cx="304792" cy="266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1090" y="1466849"/>
            <a:ext cx="334319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D54F"/>
                </a:solidFill>
              </a:rPr>
              <a:t> </a:t>
            </a:r>
            <a:r>
              <a:rPr sz="1674" b="1">
                <a:solidFill>
                  <a:srgbClr val="FFD54F"/>
                </a:solidFill>
              </a:rPr>
              <a:t>10%</a:t>
            </a:r>
            <a:r>
              <a:rPr sz="1315" b="1">
                <a:solidFill>
                  <a:srgbClr val="FFD54F"/>
                </a:solidFill>
              </a:rPr>
              <a:t> PROFITS RETURNED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1090" y="1914525"/>
            <a:ext cx="33431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share, annually - for villagers of all 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090" y="2171700"/>
            <a:ext cx="334319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95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BM41.1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1090" y="2390774"/>
            <a:ext cx="4476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Youth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381090" y="2419349"/>
            <a:ext cx="76198" cy="114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04952" y="2390774"/>
            <a:ext cx="50481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Adults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904952" y="2419349"/>
            <a:ext cx="104772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85962" y="2390774"/>
            <a:ext cx="53338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Elders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485962" y="2419349"/>
            <a:ext cx="142871" cy="1143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0990" y="2943225"/>
            <a:ext cx="5524361" cy="1390650"/>
          </a:xfrm>
          <a:prstGeom prst="roundRect">
            <a:avLst>
              <a:gd name="adj" fmla="val 2191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-231785" y="3556000"/>
            <a:ext cx="13906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109" y="33528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742931" y="3505199"/>
            <a:ext cx="333366" cy="2666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81090" y="3133724"/>
            <a:ext cx="420994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D54F"/>
                </a:solidFill>
              </a:rPr>
              <a:t>VILLAGE COUNCIL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090" y="3495675"/>
            <a:ext cx="42099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voice, your choice - wisdom from every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1090" y="3752849"/>
            <a:ext cx="420994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95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BM41.2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090" y="3971925"/>
            <a:ext cx="39051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Fair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1381090" y="4000500"/>
            <a:ext cx="142871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47803" y="3971925"/>
            <a:ext cx="83817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Democratic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803" y="4000500"/>
            <a:ext cx="14" cy="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2180" y="3971925"/>
            <a:ext cx="89532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Empowering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762180" y="4000500"/>
            <a:ext cx="114297" cy="1143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80990" y="4524374"/>
            <a:ext cx="5524361" cy="1390650"/>
          </a:xfrm>
          <a:prstGeom prst="roundRect">
            <a:avLst>
              <a:gd name="adj" fmla="val 2191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-231785" y="5137149"/>
            <a:ext cx="13906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109" y="49339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742931" y="5086350"/>
            <a:ext cx="333366" cy="2666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81090" y="4714875"/>
            <a:ext cx="426709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D54F"/>
                </a:solidFill>
              </a:rPr>
              <a:t>SPONSOR-A-NEIGHBOR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1090" y="5076825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kindness, multiplied - connecting youth and elders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1090" y="5334000"/>
            <a:ext cx="426709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195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BM41.3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1090" y="5553074"/>
            <a:ext cx="53338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Caring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1381090" y="5581649"/>
            <a:ext cx="114297" cy="1143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990675" y="5553074"/>
            <a:ext cx="85722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Connecting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1990675" y="5581649"/>
            <a:ext cx="142871" cy="1143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914577" y="5553074"/>
            <a:ext cx="79055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Sustaining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2914577" y="5581649"/>
            <a:ext cx="142871" cy="1143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380990" y="6105525"/>
            <a:ext cx="5524361" cy="1190625"/>
          </a:xfrm>
          <a:prstGeom prst="roundRect">
            <a:avLst>
              <a:gd name="adj" fmla="val 256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-131772" y="6618287"/>
            <a:ext cx="11906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9109" y="64198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790555" y="6572250"/>
            <a:ext cx="238119" cy="26669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81090" y="6296024"/>
            <a:ext cx="401944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FFD54F"/>
                </a:solidFill>
              </a:rPr>
              <a:t>COLLECTIVE STRENGTH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1090" y="6657975"/>
            <a:ext cx="40194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Your power, amplified - when all ages stand together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81090" y="6934200"/>
            <a:ext cx="75245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Protection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1381090" y="6962775"/>
            <a:ext cx="114297" cy="1143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209744" y="6934200"/>
            <a:ext cx="48576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Unity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2209744" y="6962775"/>
            <a:ext cx="142871" cy="1143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771705" y="6934200"/>
            <a:ext cx="103819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Empowerment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2771705" y="6962775"/>
            <a:ext cx="133346" cy="11430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667533" y="238125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7">
            <a:alphaModFix amt="10000000000"/>
          </a:blip>
          <a:stretch>
            <a:fillRect/>
          </a:stretch>
        </p:blipFill>
        <p:spPr>
          <a:xfrm>
            <a:off x="8962800" y="2619374"/>
            <a:ext cx="180970" cy="28575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0191495" y="39052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8">
            <a:alphaModFix amt="10000000000"/>
          </a:blip>
          <a:stretch>
            <a:fillRect/>
          </a:stretch>
        </p:blipFill>
        <p:spPr>
          <a:xfrm>
            <a:off x="10391515" y="4143375"/>
            <a:ext cx="361940" cy="28575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8667533" y="542925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9">
            <a:alphaModFix amt="10000000000"/>
          </a:blip>
          <a:stretch>
            <a:fillRect/>
          </a:stretch>
        </p:blipFill>
        <p:spPr>
          <a:xfrm>
            <a:off x="8867553" y="5667374"/>
            <a:ext cx="361940" cy="28575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7143571" y="39052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0">
            <a:alphaModFix amt="10000000000"/>
          </a:blip>
          <a:stretch>
            <a:fillRect/>
          </a:stretch>
        </p:blipFill>
        <p:spPr>
          <a:xfrm>
            <a:off x="7343591" y="4143375"/>
            <a:ext cx="361940" cy="285750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8191295" y="3429000"/>
            <a:ext cx="1714457" cy="1714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54F"/>
              </a:gs>
              <a:gs pos="100000">
                <a:srgbClr val="FF9800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1">
            <a:alphaModFix amt="10000000000"/>
          </a:blip>
          <a:stretch>
            <a:fillRect/>
          </a:stretch>
        </p:blipFill>
        <p:spPr>
          <a:xfrm>
            <a:off x="8753256" y="3857625"/>
            <a:ext cx="600059" cy="47624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19909" y="4429125"/>
            <a:ext cx="84770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3691E"/>
                </a:solidFill>
              </a:rPr>
              <a:t>VILLAGE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48063" y="5972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2">
            <a:alphaModFix amt="10000000000"/>
          </a:blip>
          <a:stretch>
            <a:fillRect/>
          </a:stretch>
        </p:blipFill>
        <p:spPr>
          <a:xfrm>
            <a:off x="4609984" y="6095999"/>
            <a:ext cx="142871" cy="2286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438539" y="6524624"/>
            <a:ext cx="48576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YOUTH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133846" y="5972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3">
            <a:alphaModFix amt="10000000000"/>
          </a:blip>
          <a:stretch>
            <a:fillRect/>
          </a:stretch>
        </p:blipFill>
        <p:spPr>
          <a:xfrm>
            <a:off x="5276718" y="6095999"/>
            <a:ext cx="200019" cy="2286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124321" y="6524624"/>
            <a:ext cx="51433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YOUNG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19629" y="5972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4">
            <a:alphaModFix amt="10000000000"/>
          </a:blip>
          <a:stretch>
            <a:fillRect/>
          </a:stretch>
        </p:blipFill>
        <p:spPr>
          <a:xfrm>
            <a:off x="5962500" y="6095999"/>
            <a:ext cx="200019" cy="2286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829154" y="6524624"/>
            <a:ext cx="4667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ADULT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53036" y="5972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5">
            <a:alphaModFix amt="10000000000"/>
          </a:blip>
          <a:stretch>
            <a:fillRect/>
          </a:stretch>
        </p:blipFill>
        <p:spPr>
          <a:xfrm>
            <a:off x="6648283" y="6095999"/>
            <a:ext cx="285742" cy="2286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486362" y="6524624"/>
            <a:ext cx="59053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MATURE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276918" y="5972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6">
            <a:alphaModFix amt="10000000000"/>
          </a:blip>
          <a:stretch>
            <a:fillRect/>
          </a:stretch>
        </p:blipFill>
        <p:spPr>
          <a:xfrm>
            <a:off x="7381690" y="6095999"/>
            <a:ext cx="257168" cy="2286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276918" y="6524624"/>
            <a:ext cx="4667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ELDER</a:t>
            </a:r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7">
            <a:alphaModFix amt="10000000000"/>
          </a:blip>
          <a:stretch>
            <a:fillRect/>
          </a:stretch>
        </p:blipFill>
        <p:spPr>
          <a:xfrm>
            <a:off x="6400639" y="7105650"/>
            <a:ext cx="238119" cy="2286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734006" y="7048500"/>
            <a:ext cx="507669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D54F"/>
                </a:solidFill>
              </a:rPr>
              <a:t>WHAT GOES AROUND, COMES AROUND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B71C1C"/>
            </a:gs>
            <a:gs pos="50000">
              <a:srgbClr val="E53935"/>
            </a:gs>
            <a:gs pos="100000">
              <a:srgbClr val="EF535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90" y="380999"/>
            <a:ext cx="8048423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FFFFFF"/>
                </a:solidFill>
              </a:rPr>
              <a:t>WHY NOW? BECAUSE EVERY SECOND 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90" y="1276350"/>
            <a:ext cx="5524361" cy="12192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46060" y="1803400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09" y="16002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1976D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771505" y="1752599"/>
            <a:ext cx="266693" cy="266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1090" y="1466849"/>
            <a:ext cx="426709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42A5F5"/>
                </a:solidFill>
              </a:rPr>
              <a:t>BIG DATA STEALS FROM YOU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1090" y="1857375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No matter your 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090" y="2133599"/>
            <a:ext cx="4476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Youth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381090" y="2162174"/>
            <a:ext cx="76198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04952" y="2133599"/>
            <a:ext cx="50481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Adults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904952" y="2162174"/>
            <a:ext cx="104772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5962" y="2133599"/>
            <a:ext cx="53338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Elders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485962" y="2162174"/>
            <a:ext cx="142871" cy="1143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0990" y="2686050"/>
            <a:ext cx="5524361" cy="1562100"/>
          </a:xfrm>
          <a:prstGeom prst="roundRect">
            <a:avLst>
              <a:gd name="adj" fmla="val 1951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317510" y="3384550"/>
            <a:ext cx="15621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109" y="31813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1976D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771505" y="3333749"/>
            <a:ext cx="266693" cy="2666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81090" y="2876549"/>
            <a:ext cx="4333766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42A5F5"/>
                </a:solidFill>
              </a:rPr>
              <a:t>BIG MAMA PUTS YOUR DATA TO WORK FOR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090" y="3609975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For every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090" y="3886200"/>
            <a:ext cx="57148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Protect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1381090" y="3914775"/>
            <a:ext cx="114297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028774" y="3886200"/>
            <a:ext cx="71435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Empower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028774" y="3914775"/>
            <a:ext cx="114297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819329" y="3886200"/>
            <a:ext cx="66673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FFFFFF"/>
                </a:solidFill>
              </a:rPr>
              <a:t> Connect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2819329" y="3914775"/>
            <a:ext cx="142871" cy="1143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42931" y="4533900"/>
            <a:ext cx="1847803" cy="485775"/>
          </a:xfrm>
          <a:prstGeom prst="roundRect">
            <a:avLst>
              <a:gd name="adj" fmla="val 117647"/>
            </a:avLst>
          </a:prstGeom>
          <a:solidFill>
            <a:srgbClr val="1976D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933426" y="4686300"/>
            <a:ext cx="190495" cy="1904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19169" y="4648200"/>
            <a:ext cx="118107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PROTECTION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33606" y="4533900"/>
            <a:ext cx="1647783" cy="485775"/>
          </a:xfrm>
          <a:prstGeom prst="roundRect">
            <a:avLst>
              <a:gd name="adj" fmla="val 117647"/>
            </a:avLst>
          </a:prstGeom>
          <a:solidFill>
            <a:srgbClr val="1976D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2924101" y="4686300"/>
            <a:ext cx="190495" cy="1904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209844" y="4648200"/>
            <a:ext cx="98105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COACHING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4261" y="4533900"/>
            <a:ext cx="1019149" cy="485775"/>
          </a:xfrm>
          <a:prstGeom prst="roundRect">
            <a:avLst>
              <a:gd name="adj" fmla="val 117647"/>
            </a:avLst>
          </a:prstGeom>
          <a:solidFill>
            <a:srgbClr val="1976D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4714757" y="4686300"/>
            <a:ext cx="190495" cy="19049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00499" y="4648200"/>
            <a:ext cx="35241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JOY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5842" y="5162550"/>
            <a:ext cx="1714457" cy="485775"/>
          </a:xfrm>
          <a:prstGeom prst="roundRect">
            <a:avLst>
              <a:gd name="adj" fmla="val 117647"/>
            </a:avLst>
          </a:prstGeom>
          <a:solidFill>
            <a:srgbClr val="1976D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1476338" y="5314950"/>
            <a:ext cx="219069" cy="19049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790655" y="5276850"/>
            <a:ext cx="101914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DIVIDENDS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43171" y="5162550"/>
            <a:ext cx="1857328" cy="485775"/>
          </a:xfrm>
          <a:prstGeom prst="roundRect">
            <a:avLst>
              <a:gd name="adj" fmla="val 117647"/>
            </a:avLst>
          </a:prstGeom>
          <a:solidFill>
            <a:srgbClr val="1976D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>
            <a:alphaModFix amt="10000000000"/>
          </a:blip>
          <a:stretch>
            <a:fillRect/>
          </a:stretch>
        </p:blipFill>
        <p:spPr>
          <a:xfrm>
            <a:off x="3333666" y="5314950"/>
            <a:ext cx="238119" cy="1904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67033" y="5276850"/>
            <a:ext cx="114297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15157" y="17907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>
            <a:alphaModFix amt="10000000000"/>
          </a:blip>
          <a:stretch>
            <a:fillRect/>
          </a:stretch>
        </p:blipFill>
        <p:spPr>
          <a:xfrm>
            <a:off x="8962800" y="1981199"/>
            <a:ext cx="180970" cy="28575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0048623" y="31242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>
            <a:alphaModFix amt="10000000000"/>
          </a:blip>
          <a:stretch>
            <a:fillRect/>
          </a:stretch>
        </p:blipFill>
        <p:spPr>
          <a:xfrm>
            <a:off x="10201019" y="3314700"/>
            <a:ext cx="361940" cy="28575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8715157" y="44577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8">
            <a:alphaModFix amt="10000000000"/>
          </a:blip>
          <a:stretch>
            <a:fillRect/>
          </a:stretch>
        </p:blipFill>
        <p:spPr>
          <a:xfrm>
            <a:off x="8867553" y="4648200"/>
            <a:ext cx="361940" cy="28575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7381690" y="31242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9">
            <a:alphaModFix amt="10000000000"/>
          </a:blip>
          <a:stretch>
            <a:fillRect/>
          </a:stretch>
        </p:blipFill>
        <p:spPr>
          <a:xfrm>
            <a:off x="7553136" y="3314700"/>
            <a:ext cx="323841" cy="28575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477038" y="2895600"/>
            <a:ext cx="1142971" cy="1143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976D2"/>
              </a:gs>
              <a:gs pos="100000">
                <a:srgbClr val="42A5F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0">
            <a:alphaModFix amt="10000000000"/>
          </a:blip>
          <a:stretch>
            <a:fillRect/>
          </a:stretch>
        </p:blipFill>
        <p:spPr>
          <a:xfrm>
            <a:off x="8800879" y="3181350"/>
            <a:ext cx="504812" cy="57150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4448063" y="3943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1">
            <a:alphaModFix amt="10000000000"/>
          </a:blip>
          <a:stretch>
            <a:fillRect/>
          </a:stretch>
        </p:blipFill>
        <p:spPr>
          <a:xfrm>
            <a:off x="4609984" y="4067174"/>
            <a:ext cx="142871" cy="2286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438539" y="4495799"/>
            <a:ext cx="48576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YOUTH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33846" y="3943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2">
            <a:alphaModFix amt="10000000000"/>
          </a:blip>
          <a:stretch>
            <a:fillRect/>
          </a:stretch>
        </p:blipFill>
        <p:spPr>
          <a:xfrm>
            <a:off x="5276718" y="4067174"/>
            <a:ext cx="200019" cy="2286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124321" y="4495799"/>
            <a:ext cx="51433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YOUNG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19629" y="3943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3">
            <a:alphaModFix amt="10000000000"/>
          </a:blip>
          <a:stretch>
            <a:fillRect/>
          </a:stretch>
        </p:blipFill>
        <p:spPr>
          <a:xfrm>
            <a:off x="5962500" y="4067174"/>
            <a:ext cx="200019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29154" y="4495799"/>
            <a:ext cx="4667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ADULT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53036" y="3943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4">
            <a:alphaModFix amt="10000000000"/>
          </a:blip>
          <a:stretch>
            <a:fillRect/>
          </a:stretch>
        </p:blipFill>
        <p:spPr>
          <a:xfrm>
            <a:off x="6648283" y="4067174"/>
            <a:ext cx="285742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486362" y="4495799"/>
            <a:ext cx="59053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MATURE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76918" y="3943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5">
            <a:alphaModFix amt="10000000000"/>
          </a:blip>
          <a:stretch>
            <a:fillRect/>
          </a:stretch>
        </p:blipFill>
        <p:spPr>
          <a:xfrm>
            <a:off x="7381690" y="4067174"/>
            <a:ext cx="257168" cy="2286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276918" y="4495799"/>
            <a:ext cx="46671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ELDER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2476" y="4533900"/>
            <a:ext cx="10286742" cy="1114425"/>
          </a:xfrm>
          <a:prstGeom prst="roundRect">
            <a:avLst>
              <a:gd name="adj" fmla="val 20512"/>
            </a:avLst>
          </a:prstGeom>
          <a:solidFill>
            <a:srgbClr val="000000">
              <a:alpha val="30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57268" y="4743450"/>
            <a:ext cx="9677158" cy="6953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</a:rPr>
              <a:t> JOIN THE VILLAGE. </a:t>
            </a:r>
            <a:r>
              <a:rPr sz="1674" b="1">
                <a:solidFill>
                  <a:srgbClr val="FFD54F"/>
                </a:solidFill>
              </a:rPr>
              <a:t>TAKE BACK YOUR DATA.</a:t>
            </a:r>
            <a:r>
              <a:rPr sz="1674" b="1">
                <a:solidFill>
                  <a:srgbClr val="FFFFFF"/>
                </a:solidFill>
              </a:rPr>
              <a:t> </a:t>
            </a:r>
            <a:r>
              <a:rPr sz="1674" b="1">
                <a:solidFill>
                  <a:srgbClr val="FFD54F"/>
                </a:solidFill>
              </a:rPr>
              <a:t>TAKE BACK YOUR LIFE.</a:t>
            </a:r>
            <a:r>
              <a:rPr sz="1674" b="1">
                <a:solidFill>
                  <a:srgbClr val="FFFFFF"/>
                </a:solidFill>
              </a:rPr>
              <a:t> NOW.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50000">
              <a:srgbClr val="3949AB"/>
            </a:gs>
            <a:gs pos="100000">
              <a:srgbClr val="5C6BC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81914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90" y="380999"/>
            <a:ext cx="11429714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1950"/>
              </a:spcAft>
            </a:pPr>
            <a:r>
              <a:rPr sz="3827" b="1">
                <a:solidFill>
                  <a:srgbClr val="FFFFFF"/>
                </a:solidFill>
              </a:rPr>
              <a:t>JOIN THE VILLAGE. NO BULLSHIT.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90" y="1276350"/>
            <a:ext cx="5571985" cy="3009900"/>
          </a:xfrm>
          <a:prstGeom prst="roundRect">
            <a:avLst>
              <a:gd name="adj" fmla="val 1012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041410" y="2698750"/>
            <a:ext cx="30099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514475"/>
            <a:ext cx="5048123" cy="6000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975"/>
              </a:spcAft>
            </a:pPr>
            <a:r>
              <a:rPr sz="2511" b="1">
                <a:solidFill>
                  <a:srgbClr val="FFD54F"/>
                </a:solidFill>
              </a:rPr>
              <a:t>$9.95/month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257425"/>
            <a:ext cx="50481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FFFFFF"/>
                </a:solidFill>
              </a:rPr>
              <a:t>That's it. No hidden fees. No games.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6765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771505" y="2781300"/>
            <a:ext cx="17144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2752725"/>
            <a:ext cx="44480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Full protection for your entire family, no matter their 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1718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761980" y="3276599"/>
            <a:ext cx="190495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2020" y="3248024"/>
            <a:ext cx="33908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10% of profits returned to villagers annually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6671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771505" y="3771900"/>
            <a:ext cx="17144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62020" y="37433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Your choice of FIVE ironclad guarantees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0990" y="5715000"/>
            <a:ext cx="2743131" cy="571500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144770" y="5951220"/>
            <a:ext cx="571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3861" y="58293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647683" y="5924549"/>
            <a:ext cx="95247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2000" y="5905500"/>
            <a:ext cx="165730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$100 Security Guarantee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9369" y="5715000"/>
            <a:ext cx="2743131" cy="571500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983149" y="5951220"/>
            <a:ext cx="571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52716" y="58293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3447963" y="5924549"/>
            <a:ext cx="152396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90855" y="5905500"/>
            <a:ext cx="167635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JOY or Your Money 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0990" y="6381749"/>
            <a:ext cx="2743131" cy="571500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144770" y="6617969"/>
            <a:ext cx="571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3861" y="649604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619109" y="6591300"/>
            <a:ext cx="152396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2000" y="6572250"/>
            <a:ext cx="120011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No-Hassle Cancel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19369" y="6381749"/>
            <a:ext cx="2743131" cy="571500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2983149" y="6617969"/>
            <a:ext cx="571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52716" y="649604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9C27B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3428914" y="6591300"/>
            <a:ext cx="190495" cy="152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90855" y="6572250"/>
            <a:ext cx="135251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Fraud-Free Promise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0990" y="7048500"/>
            <a:ext cx="5571985" cy="571500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144770" y="7284720"/>
            <a:ext cx="571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23861" y="71628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F4433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600059" y="7258050"/>
            <a:ext cx="190495" cy="152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2000" y="7238999"/>
            <a:ext cx="289552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Double-JOY Guarantee — Try with a friend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8719" y="1276350"/>
            <a:ext cx="5571985" cy="3181350"/>
          </a:xfrm>
          <a:prstGeom prst="roundRect">
            <a:avLst>
              <a:gd name="adj" fmla="val 9580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401139" y="1162050"/>
            <a:ext cx="495287" cy="266699"/>
          </a:xfrm>
          <a:prstGeom prst="roundRect">
            <a:avLst>
              <a:gd name="adj" fmla="val 142857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1139" y="1162050"/>
            <a:ext cx="4952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9214" y="1466849"/>
            <a:ext cx="239071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237E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A237E"/>
                </a:solidFill>
              </a:rPr>
              <a:t> Big Mama's Savings KPI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6429214" y="1504950"/>
            <a:ext cx="171445" cy="1714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429214" y="1971675"/>
            <a:ext cx="5190995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10"/>
              </a:lnSpc>
              <a:spcBef>
                <a:spcPts val="975"/>
              </a:spcBef>
              <a:spcAft>
                <a:spcPts val="975"/>
              </a:spcAft>
            </a:pPr>
            <a:r>
              <a:rPr sz="2152" b="1">
                <a:solidFill>
                  <a:srgbClr val="4CAF50"/>
                </a:solidFill>
              </a:rPr>
              <a:t>$237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29214" y="2628900"/>
            <a:ext cx="5190995" cy="114300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429214" y="3914775"/>
            <a:ext cx="5190995" cy="352424"/>
          </a:xfrm>
          <a:prstGeom prst="roundRect">
            <a:avLst>
              <a:gd name="adj" fmla="val 43243"/>
            </a:avLst>
          </a:prstGeom>
          <a:solidFill>
            <a:srgbClr val="3949A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9214" y="3914775"/>
            <a:ext cx="519099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650"/>
              </a:spcBef>
              <a:spcAft>
                <a:spcPts val="0"/>
              </a:spcAft>
            </a:pPr>
            <a:r>
              <a:rPr sz="837" b="0">
                <a:solidFill>
                  <a:srgbClr val="3949AB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949AB"/>
                </a:solidFill>
              </a:rPr>
              <a:t> Our best guess. You tell us if we're right.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7619809" y="4019549"/>
            <a:ext cx="133346" cy="13334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7915077" y="4648200"/>
            <a:ext cx="2219269" cy="2428875"/>
          </a:xfrm>
          <a:prstGeom prst="roundRect">
            <a:avLst>
              <a:gd name="adj" fmla="val 137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05592" y="4838699"/>
            <a:ext cx="1428714" cy="1428750"/>
          </a:xfrm>
          <a:prstGeom prst="rect">
            <a:avLst/>
          </a:prstGeom>
          <a:solidFill>
            <a:srgbClr val="F5F5F5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8772305" y="5267324"/>
            <a:ext cx="504812" cy="5715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105572" y="6410324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237E"/>
                </a:solidFill>
              </a:rPr>
              <a:t>Scan to join the Village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3216" y="6686550"/>
            <a:ext cx="134299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</a:rPr>
              <a:t>Risk-free for 90 days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8719" y="7267574"/>
            <a:ext cx="5571985" cy="542925"/>
          </a:xfrm>
          <a:prstGeom prst="roundRect">
            <a:avLst>
              <a:gd name="adj" fmla="val 28070"/>
            </a:avLst>
          </a:prstGeom>
          <a:gradFill rotWithShape="1">
            <a:gsLst>
              <a:gs pos="0">
                <a:srgbClr val="1A237E"/>
              </a:gs>
              <a:gs pos="100000">
                <a:srgbClr val="3949A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8719" y="7267574"/>
            <a:ext cx="5571985" cy="5429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130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JOIN THE VILLAGE NOW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62380" y="7238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>
            <a:alphaModFix amt="10000000000"/>
          </a:blip>
          <a:stretch>
            <a:fillRect/>
          </a:stretch>
        </p:blipFill>
        <p:spPr>
          <a:xfrm>
            <a:off x="4895727" y="7334249"/>
            <a:ext cx="123821" cy="190499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5333866" y="7238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6">
            <a:alphaModFix amt="10000000000"/>
          </a:blip>
          <a:stretch>
            <a:fillRect/>
          </a:stretch>
        </p:blipFill>
        <p:spPr>
          <a:xfrm>
            <a:off x="5438639" y="7334249"/>
            <a:ext cx="171445" cy="190499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5905352" y="7238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7">
            <a:alphaModFix amt="10000000000"/>
          </a:blip>
          <a:stretch>
            <a:fillRect/>
          </a:stretch>
        </p:blipFill>
        <p:spPr>
          <a:xfrm>
            <a:off x="6010124" y="7334249"/>
            <a:ext cx="171445" cy="190499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6476838" y="7238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>
            <a:alphaModFix amt="10000000000"/>
          </a:blip>
          <a:stretch>
            <a:fillRect/>
          </a:stretch>
        </p:blipFill>
        <p:spPr>
          <a:xfrm>
            <a:off x="6553036" y="7334249"/>
            <a:ext cx="238119" cy="190499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7048323" y="72389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9">
            <a:alphaModFix amt="10000000000"/>
          </a:blip>
          <a:stretch>
            <a:fillRect/>
          </a:stretch>
        </p:blipFill>
        <p:spPr>
          <a:xfrm>
            <a:off x="7134046" y="7334249"/>
            <a:ext cx="219069" cy="190499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0">
            <a:alphaModFix amt="10000000000"/>
          </a:blip>
          <a:stretch>
            <a:fillRect/>
          </a:stretch>
        </p:blipFill>
        <p:spPr>
          <a:xfrm>
            <a:off x="3495587" y="7791449"/>
            <a:ext cx="180970" cy="17145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3771805" y="7743825"/>
            <a:ext cx="49147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D54F"/>
                </a:solidFill>
              </a:rPr>
              <a:t>TRUST ISN'T GIVEN. IT'S EARNED. IN THE VILLAGE.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