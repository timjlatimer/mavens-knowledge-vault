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60" r:id="rId2"/>
  </p:sldIdLst>
  <p:sldSz cx="9144000" cy="6858000" type="letter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7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266092-7DE2-414C-91E0-F978EAD8AEA5}" v="19" dt="2021-12-09T20:49:37.8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6926"/>
    <p:restoredTop sz="94694"/>
  </p:normalViewPr>
  <p:slideViewPr>
    <p:cSldViewPr snapToGrid="0">
      <p:cViewPr varScale="1">
        <p:scale>
          <a:sx n="93" d="100"/>
          <a:sy n="93" d="100"/>
        </p:scale>
        <p:origin x="216" y="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 Knight" userId="873f54e5-19e6-436b-ba12-20fd1b1ad36f" providerId="ADAL" clId="{A9266092-7DE2-414C-91E0-F978EAD8AEA5}"/>
    <pc:docChg chg="custSel modSld">
      <pc:chgData name="Matt Knight" userId="873f54e5-19e6-436b-ba12-20fd1b1ad36f" providerId="ADAL" clId="{A9266092-7DE2-414C-91E0-F978EAD8AEA5}" dt="2021-12-09T20:53:31.653" v="979" actId="313"/>
      <pc:docMkLst>
        <pc:docMk/>
      </pc:docMkLst>
      <pc:sldChg chg="modSp mod">
        <pc:chgData name="Matt Knight" userId="873f54e5-19e6-436b-ba12-20fd1b1ad36f" providerId="ADAL" clId="{A9266092-7DE2-414C-91E0-F978EAD8AEA5}" dt="2021-12-09T20:53:31.653" v="979" actId="313"/>
        <pc:sldMkLst>
          <pc:docMk/>
          <pc:sldMk cId="1634452705" sldId="260"/>
        </pc:sldMkLst>
        <pc:spChg chg="mod">
          <ac:chgData name="Matt Knight" userId="873f54e5-19e6-436b-ba12-20fd1b1ad36f" providerId="ADAL" clId="{A9266092-7DE2-414C-91E0-F978EAD8AEA5}" dt="2021-12-09T20:42:55.508" v="2" actId="20577"/>
          <ac:spMkLst>
            <pc:docMk/>
            <pc:sldMk cId="1634452705" sldId="260"/>
            <ac:spMk id="11" creationId="{A6531B59-9A6B-9E47-A505-DB2CCB1254A2}"/>
          </ac:spMkLst>
        </pc:spChg>
        <pc:graphicFrameChg chg="mod modGraphic">
          <ac:chgData name="Matt Knight" userId="873f54e5-19e6-436b-ba12-20fd1b1ad36f" providerId="ADAL" clId="{A9266092-7DE2-414C-91E0-F978EAD8AEA5}" dt="2021-12-09T20:53:31.653" v="979" actId="313"/>
          <ac:graphicFrameMkLst>
            <pc:docMk/>
            <pc:sldMk cId="1634452705" sldId="260"/>
            <ac:graphicFrameMk id="16" creationId="{FA7662A4-71EF-2844-A606-79323DDA7ECA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3AC46F-655C-194A-B8E1-89DE38D3510B}" type="datetimeFigureOut">
              <a:rPr lang="en-US" smtClean="0"/>
              <a:t>12/9/21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503464-1874-2748-8126-C521FA571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217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03464-1874-2748-8126-C521FA57167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64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12/9/21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232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12/9/21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945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12/9/21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643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12/9/21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228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12/9/21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406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12/9/21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997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12/9/21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730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12/9/21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047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12/9/21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461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12/9/21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17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12/9/21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106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12/9/21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594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0251D1D4-6636-B747-956E-CA164F62BA97}"/>
              </a:ext>
            </a:extLst>
          </p:cNvPr>
          <p:cNvSpPr txBox="1"/>
          <p:nvPr/>
        </p:nvSpPr>
        <p:spPr>
          <a:xfrm>
            <a:off x="350453" y="249748"/>
            <a:ext cx="385048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rgbClr val="00A79D"/>
                </a:solidFill>
                <a:latin typeface="Arial Black"/>
              </a:rPr>
              <a:t>Michael Wendland Onboard</a:t>
            </a:r>
            <a:endParaRPr lang="en-US" b="1" dirty="0">
              <a:solidFill>
                <a:srgbClr val="00A79D"/>
              </a:solidFill>
              <a:latin typeface="Arial Black"/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531B59-9A6B-9E47-A505-DB2CCB1254A2}"/>
              </a:ext>
            </a:extLst>
          </p:cNvPr>
          <p:cNvSpPr txBox="1"/>
          <p:nvPr/>
        </p:nvSpPr>
        <p:spPr>
          <a:xfrm>
            <a:off x="5939571" y="249747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b="1" dirty="0">
                <a:solidFill>
                  <a:srgbClr val="00A79D"/>
                </a:solidFill>
                <a:latin typeface="Arial Black"/>
              </a:rPr>
              <a:t>CosignSimple v0</a:t>
            </a:r>
          </a:p>
        </p:txBody>
      </p:sp>
      <p:graphicFrame>
        <p:nvGraphicFramePr>
          <p:cNvPr id="16" name="Table 4">
            <a:extLst>
              <a:ext uri="{FF2B5EF4-FFF2-40B4-BE49-F238E27FC236}">
                <a16:creationId xmlns:a16="http://schemas.microsoft.com/office/drawing/2014/main" id="{FA7662A4-71EF-2844-A606-79323DDA7E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0530696"/>
              </p:ext>
            </p:extLst>
          </p:nvPr>
        </p:nvGraphicFramePr>
        <p:xfrm>
          <a:off x="431533" y="619079"/>
          <a:ext cx="8280933" cy="6037454"/>
        </p:xfrm>
        <a:graphic>
          <a:graphicData uri="http://schemas.openxmlformats.org/drawingml/2006/table">
            <a:tbl>
              <a:tblPr bandRow="1">
                <a:tableStyleId>{BC89EF96-8CEA-46FF-86C4-4CE0E7609802}</a:tableStyleId>
              </a:tblPr>
              <a:tblGrid>
                <a:gridCol w="1704054">
                  <a:extLst>
                    <a:ext uri="{9D8B030D-6E8A-4147-A177-3AD203B41FA5}">
                      <a16:colId xmlns:a16="http://schemas.microsoft.com/office/drawing/2014/main" val="857039900"/>
                    </a:ext>
                  </a:extLst>
                </a:gridCol>
                <a:gridCol w="4391891">
                  <a:extLst>
                    <a:ext uri="{9D8B030D-6E8A-4147-A177-3AD203B41FA5}">
                      <a16:colId xmlns:a16="http://schemas.microsoft.com/office/drawing/2014/main" val="1869071651"/>
                    </a:ext>
                  </a:extLst>
                </a:gridCol>
                <a:gridCol w="2184988">
                  <a:extLst>
                    <a:ext uri="{9D8B030D-6E8A-4147-A177-3AD203B41FA5}">
                      <a16:colId xmlns:a16="http://schemas.microsoft.com/office/drawing/2014/main" val="1412404008"/>
                    </a:ext>
                  </a:extLst>
                </a:gridCol>
              </a:tblGrid>
              <a:tr h="279515">
                <a:tc>
                  <a:txBody>
                    <a:bodyPr/>
                    <a:lstStyle/>
                    <a:p>
                      <a:r>
                        <a:rPr lang="en-US" sz="1000" b="1" u="sng" dirty="0">
                          <a:latin typeface="Arial"/>
                        </a:rPr>
                        <a:t>Phase</a:t>
                      </a:r>
                    </a:p>
                  </a:txBody>
                  <a:tcPr>
                    <a:lnL w="12700" cap="flat" cmpd="sng" algn="ctr">
                      <a:solidFill>
                        <a:srgbClr val="00A7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7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7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7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u="sng" dirty="0">
                          <a:latin typeface="Arial"/>
                        </a:rPr>
                        <a:t>Role</a:t>
                      </a:r>
                    </a:p>
                  </a:txBody>
                  <a:tcPr>
                    <a:lnL w="12700" cap="flat" cmpd="sng" algn="ctr">
                      <a:solidFill>
                        <a:srgbClr val="00A7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7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7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7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u="sng" dirty="0">
                          <a:latin typeface="Arial"/>
                        </a:rPr>
                        <a:t>Metrics</a:t>
                      </a:r>
                    </a:p>
                  </a:txBody>
                  <a:tcPr>
                    <a:lnL w="12700" cap="flat" cmpd="sng" algn="ctr">
                      <a:solidFill>
                        <a:srgbClr val="00A7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7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7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7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4790231"/>
                  </a:ext>
                </a:extLst>
              </a:tr>
              <a:tr h="21360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Walk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 months (Feb-Apr)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~1/day per week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$3,000/month retainer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+Commission on new clients</a:t>
                      </a:r>
                    </a:p>
                  </a:txBody>
                  <a:tcPr>
                    <a:lnL w="12700" cap="flat" cmpd="sng" algn="ctr">
                      <a:solidFill>
                        <a:srgbClr val="00A7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7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7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7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VP Sales &amp; Product </a:t>
                      </a:r>
                    </a:p>
                    <a:p>
                      <a:pPr marL="285750" lvl="0" indent="-285750">
                        <a:buFontTx/>
                        <a:buChar char="-"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Awareness: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Promote CSS brand and service across the industry.</a:t>
                      </a:r>
                    </a:p>
                    <a:p>
                      <a:pPr marL="285750" lvl="0" indent="-285750">
                        <a:buFontTx/>
                        <a:buChar char="-"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Sales Strategy: 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Develop sales plans and strategies with key prospects and accounts and grow client base</a:t>
                      </a:r>
                    </a:p>
                    <a:p>
                      <a:pPr marL="285750" lvl="0" indent="-285750">
                        <a:buFontTx/>
                        <a:buChar char="-"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Lead Management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Create sales pipeline model, leverage tools including CRM, manage the process including tracking, managing, and maintaining leads, customer data</a:t>
                      </a:r>
                    </a:p>
                    <a:p>
                      <a:pPr marL="285750" lvl="0" indent="-285750">
                        <a:buFontTx/>
                        <a:buChar char="-"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Continuous Improvement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Identify improvements and gaps in our products and services and support in segments to enhance and further develop CosignSimple</a:t>
                      </a:r>
                      <a:endParaRPr lang="en-CA" sz="120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A7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7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7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7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</a:rPr>
                        <a:t>10 prospects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</a:rPr>
                        <a:t>1-2 new clients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</a:rPr>
                        <a:t>$2M/month in Cosigning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</a:rPr>
                        <a:t>CRM System</a:t>
                      </a:r>
                    </a:p>
                  </a:txBody>
                  <a:tcPr>
                    <a:lnL w="12700" cap="flat" cmpd="sng" algn="ctr">
                      <a:solidFill>
                        <a:srgbClr val="00A7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7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7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7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3207405"/>
                  </a:ext>
                </a:extLst>
              </a:tr>
              <a:tr h="1658271">
                <a:tc>
                  <a:txBody>
                    <a:bodyPr/>
                    <a:lstStyle/>
                    <a:p>
                      <a:r>
                        <a:rPr lang="en-US" sz="1400" b="1" kern="1200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</a:rPr>
                        <a:t>Crawl</a:t>
                      </a:r>
                    </a:p>
                    <a:p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</a:rPr>
                        <a:t>3-6 months (May-July/Oct)</a:t>
                      </a:r>
                    </a:p>
                    <a:p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</a:rPr>
                        <a:t>0.5 FTE </a:t>
                      </a:r>
                    </a:p>
                    <a:p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</a:rPr>
                        <a:t>$7,500/month retainer</a:t>
                      </a:r>
                    </a:p>
                    <a:p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</a:rPr>
                        <a:t>+Commission on new client</a:t>
                      </a:r>
                      <a:endParaRPr lang="en-US" sz="1400" b="1" kern="1200" dirty="0">
                        <a:solidFill>
                          <a:schemeClr val="tx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00A7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7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7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7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400" b="1" dirty="0">
                          <a:latin typeface="Arial"/>
                        </a:rPr>
                        <a:t>Co-Founder &amp; CEO</a:t>
                      </a:r>
                      <a:endParaRPr lang="en-US" sz="1400" b="0" dirty="0">
                        <a:latin typeface="Arial"/>
                      </a:endParaRPr>
                    </a:p>
                    <a:p>
                      <a:r>
                        <a:rPr lang="en-US" sz="1200" b="0" dirty="0">
                          <a:latin typeface="Arial"/>
                        </a:rPr>
                        <a:t>Same as above, expanded to include: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200" b="1" dirty="0">
                          <a:latin typeface="Arial"/>
                        </a:rPr>
                        <a:t>Growth Strategy: </a:t>
                      </a:r>
                      <a:r>
                        <a:rPr lang="en-US" sz="1200" b="0" dirty="0">
                          <a:latin typeface="Arial"/>
                        </a:rPr>
                        <a:t>How to best grow, key hires, gaps in processes/product/team</a:t>
                      </a:r>
                      <a:r>
                        <a:rPr lang="en-US" sz="1200" b="1" dirty="0">
                          <a:latin typeface="Arial"/>
                        </a:rPr>
                        <a:t>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200" b="1" dirty="0">
                          <a:latin typeface="Arial"/>
                        </a:rPr>
                        <a:t>US Expansion: </a:t>
                      </a:r>
                      <a:r>
                        <a:rPr lang="en-US" sz="1200" b="0" dirty="0">
                          <a:latin typeface="Arial"/>
                        </a:rPr>
                        <a:t>Soft launch in US in march. How to scale growth, </a:t>
                      </a:r>
                      <a:r>
                        <a:rPr lang="en-US" sz="1200" b="0" dirty="0" err="1">
                          <a:latin typeface="Arial"/>
                        </a:rPr>
                        <a:t>etc</a:t>
                      </a:r>
                      <a:r>
                        <a:rPr lang="en-US" sz="1200" b="0" dirty="0">
                          <a:latin typeface="Arial"/>
                        </a:rPr>
                        <a:t> </a:t>
                      </a:r>
                      <a:endParaRPr lang="en-US" sz="1200" b="1" dirty="0">
                        <a:latin typeface="Arial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200" b="1" dirty="0">
                          <a:latin typeface="Arial"/>
                        </a:rPr>
                        <a:t>Tech Stack: </a:t>
                      </a:r>
                      <a:r>
                        <a:rPr lang="en-US" sz="1200" b="0" dirty="0">
                          <a:latin typeface="Arial"/>
                        </a:rPr>
                        <a:t>Build out tech stack, internal and external </a:t>
                      </a:r>
                      <a:endParaRPr lang="en-US" sz="1200" b="1" dirty="0"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00A7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7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7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7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dirty="0">
                          <a:latin typeface="Arial"/>
                        </a:rPr>
                        <a:t>6-8 New Customers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latin typeface="Arial"/>
                        </a:rPr>
                        <a:t>Cosign Lead Engine DE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latin typeface="Arial"/>
                        </a:rPr>
                        <a:t>US launch (with Lady Loans US)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</a:rPr>
                        <a:t>Tech Stack Plan </a:t>
                      </a:r>
                    </a:p>
                  </a:txBody>
                  <a:tcPr>
                    <a:lnL w="12700" cap="flat" cmpd="sng" algn="ctr">
                      <a:solidFill>
                        <a:srgbClr val="00A7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7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7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7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9434621"/>
                  </a:ext>
                </a:extLst>
              </a:tr>
              <a:tr h="1643139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/>
                        </a:rPr>
                        <a:t>Run</a:t>
                      </a:r>
                    </a:p>
                    <a:p>
                      <a:r>
                        <a:rPr lang="en-US" sz="1400" b="0" dirty="0">
                          <a:latin typeface="Arial"/>
                        </a:rPr>
                        <a:t>Full Employee</a:t>
                      </a:r>
                    </a:p>
                    <a:p>
                      <a:r>
                        <a:rPr lang="en-US" sz="1400" b="0" dirty="0">
                          <a:latin typeface="Arial"/>
                        </a:rPr>
                        <a:t>Competitive Salary</a:t>
                      </a:r>
                    </a:p>
                    <a:p>
                      <a:r>
                        <a:rPr lang="en-US" sz="1400" b="0" dirty="0">
                          <a:latin typeface="Arial"/>
                        </a:rPr>
                        <a:t>10-20% equity based on performance on 2-year cliff </a:t>
                      </a:r>
                    </a:p>
                  </a:txBody>
                  <a:tcPr>
                    <a:lnL w="12700" cap="flat" cmpd="sng" algn="ctr">
                      <a:solidFill>
                        <a:srgbClr val="00A7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7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7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7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 sz="1400" b="0" dirty="0"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00A7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7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7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7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r>
                        <a:rPr lang="en-US" sz="1400" b="1" dirty="0">
                          <a:latin typeface="Arial"/>
                        </a:rPr>
                        <a:t>2022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dirty="0">
                          <a:latin typeface="Arial"/>
                        </a:rPr>
                        <a:t>6-8 Non Cashco Customers (i.e. Auto, Line of Credit)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latin typeface="Arial"/>
                        </a:rPr>
                        <a:t>Evaluate Concern Team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latin typeface="Arial"/>
                        </a:rPr>
                        <a:t>Cosign Lead Engine DE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latin typeface="Arial"/>
                        </a:rPr>
                        <a:t>US launch (with Lady Loans US)</a:t>
                      </a:r>
                    </a:p>
                    <a:p>
                      <a:endParaRPr lang="en-US" sz="1400" b="1" dirty="0">
                        <a:latin typeface="Arial"/>
                      </a:endParaRPr>
                    </a:p>
                    <a:p>
                      <a:r>
                        <a:rPr lang="en-US" sz="1400" b="1" dirty="0">
                          <a:latin typeface="Arial"/>
                        </a:rPr>
                        <a:t>2023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dirty="0">
                          <a:latin typeface="Arial"/>
                        </a:rPr>
                        <a:t>10-15 Non Cashco Customers expanding into additional sectors (i.e. Home Mortgage) </a:t>
                      </a:r>
                    </a:p>
                  </a:txBody>
                  <a:tcPr>
                    <a:lnL w="12700" cap="flat" cmpd="sng" algn="ctr">
                      <a:solidFill>
                        <a:srgbClr val="00A7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7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7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7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7189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4452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143</TotalTime>
  <Words>233</Words>
  <Application>Microsoft Macintosh PowerPoint</Application>
  <PresentationFormat>Letter Paper (8.5x11 in)</PresentationFormat>
  <Paragraphs>38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Black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Matt Knight</cp:lastModifiedBy>
  <cp:revision>7</cp:revision>
  <cp:lastPrinted>2021-07-20T21:20:57Z</cp:lastPrinted>
  <dcterms:created xsi:type="dcterms:W3CDTF">2020-12-18T16:16:32Z</dcterms:created>
  <dcterms:modified xsi:type="dcterms:W3CDTF">2021-12-09T20:53:39Z</dcterms:modified>
</cp:coreProperties>
</file>